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answer. The rest of the deck shows how we know.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people only remember one slide, it's this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C5F2D"/>
        </a:solidFill>
        <a:effectLst/>
      </p:bgPr>
    </p:bg>
    <p:spTree>
      <p:nvGrpSpPr>
        <p:cNvPr id="1" name=""/>
        <p:cNvGrpSpPr/>
        <p:nvPr/>
      </p:nvGrpSpPr>
      <p:grpSpPr/>
      <p:sp>
        <p:nvSpPr>
          <p:cNvPr id="2" name="TextBox 1"/>
          <p:cNvSpPr txBox="1"/>
          <p:nvPr/>
        </p:nvSpPr>
        <p:spPr>
          <a:xfrm>
            <a:off x="640080" y="2103120"/>
            <a:ext cx="10058400" cy="320040"/>
          </a:xfrm>
          <a:prstGeom prst="rect">
            <a:avLst/>
          </a:prstGeom>
          <a:noFill/>
        </p:spPr>
        <p:txBody>
          <a:bodyPr wrap="square" anchor="t" lIns="0" rIns="0" tIns="0" bIns="0">
            <a:spAutoFit/>
          </a:bodyPr>
          <a:lstStyle/>
          <a:p>
            <a:pPr algn="l">
              <a:lnSpc>
                <a:spcPct val="110000"/>
              </a:lnSpc>
            </a:pPr>
            <a:r>
              <a:rPr sz="1300" b="1" i="0">
                <a:solidFill>
                  <a:srgbClr val="97BC62"/>
                </a:solidFill>
                <a:latin typeface="Calibri"/>
              </a:rPr>
              <a:t>UX RESEARCH READOUT · LEDGERLINE</a:t>
            </a:r>
          </a:p>
        </p:txBody>
      </p:sp>
      <p:sp>
        <p:nvSpPr>
          <p:cNvPr id="3" name="TextBox 2"/>
          <p:cNvSpPr txBox="1"/>
          <p:nvPr/>
        </p:nvSpPr>
        <p:spPr>
          <a:xfrm>
            <a:off x="640080" y="2514600"/>
            <a:ext cx="10972800" cy="914400"/>
          </a:xfrm>
          <a:prstGeom prst="rect">
            <a:avLst/>
          </a:prstGeom>
          <a:noFill/>
        </p:spPr>
        <p:txBody>
          <a:bodyPr wrap="square" anchor="t" lIns="0" rIns="0" tIns="0" bIns="0">
            <a:spAutoFit/>
          </a:bodyPr>
          <a:lstStyle/>
          <a:p>
            <a:pPr algn="l">
              <a:lnSpc>
                <a:spcPct val="110000"/>
              </a:lnSpc>
            </a:pPr>
            <a:r>
              <a:rPr sz="4800" b="1" i="0">
                <a:solidFill>
                  <a:srgbClr val="FFFFFF"/>
                </a:solidFill>
                <a:latin typeface="Cambria"/>
              </a:rPr>
              <a:t>Export isn't the problem. Import is.</a:t>
            </a:r>
          </a:p>
        </p:txBody>
      </p:sp>
      <p:sp>
        <p:nvSpPr>
          <p:cNvPr id="4" name="TextBox 3"/>
          <p:cNvSpPr txBox="1"/>
          <p:nvPr/>
        </p:nvSpPr>
        <p:spPr>
          <a:xfrm>
            <a:off x="640080" y="3611880"/>
            <a:ext cx="10058400" cy="1097280"/>
          </a:xfrm>
          <a:prstGeom prst="rect">
            <a:avLst/>
          </a:prstGeom>
          <a:noFill/>
        </p:spPr>
        <p:txBody>
          <a:bodyPr wrap="square" anchor="t" lIns="0" rIns="0" tIns="0" bIns="0">
            <a:spAutoFit/>
          </a:bodyPr>
          <a:lstStyle/>
          <a:p>
            <a:pPr algn="l">
              <a:lnSpc>
                <a:spcPct val="110000"/>
              </a:lnSpc>
            </a:pPr>
            <a:r>
              <a:rPr sz="2200" b="0" i="0">
                <a:solidFill>
                  <a:srgbClr val="FFFFFF"/>
                </a:solidFill>
                <a:latin typeface="Calibri"/>
              </a:rPr>
              <a:t>Why new customers give up on export, and what to do about it</a:t>
            </a:r>
          </a:p>
          <a:p>
            <a:pPr algn="l">
              <a:lnSpc>
                <a:spcPct val="110000"/>
              </a:lnSpc>
              <a:spcBef>
                <a:spcPts val="1100"/>
              </a:spcBef>
            </a:pPr>
            <a:r>
              <a:rPr sz="1600" b="0" i="0">
                <a:solidFill>
                  <a:srgbClr val="97BC62"/>
                </a:solidFill>
                <a:latin typeface="Calibri"/>
              </a:rPr>
              <a:t>October 14, 2026 · Priya Nair, UX Research · For the Reporting team</a:t>
            </a:r>
          </a:p>
        </p:txBody>
      </p:sp>
      <p:sp>
        <p:nvSpPr>
          <p:cNvPr id="5" name="TextBox 4"/>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97BC62"/>
                </a:solidFill>
                <a:latin typeface="Calibri"/>
              </a:rPr>
              <a:t>Fictional example · made with Magpie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THE SHORT VERSION</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What we learned, in short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2</a:t>
            </a:r>
          </a:p>
        </p:txBody>
      </p:sp>
      <p:sp>
        <p:nvSpPr>
          <p:cNvPr id="6" name="TextBox 5"/>
          <p:cNvSpPr txBox="1"/>
          <p:nvPr/>
        </p:nvSpPr>
        <p:spPr>
          <a:xfrm>
            <a:off x="640080" y="1828800"/>
            <a:ext cx="4206240" cy="3291840"/>
          </a:xfrm>
          <a:prstGeom prst="rect">
            <a:avLst/>
          </a:prstGeom>
          <a:noFill/>
        </p:spPr>
        <p:txBody>
          <a:bodyPr wrap="square" anchor="t" lIns="0" rIns="0" tIns="0" bIns="0">
            <a:spAutoFit/>
          </a:bodyPr>
          <a:lstStyle/>
          <a:p>
            <a:pPr algn="l">
              <a:lnSpc>
                <a:spcPct val="115000"/>
              </a:lnSpc>
            </a:pPr>
            <a:r>
              <a:rPr sz="2600" b="1" i="0">
                <a:solidFill>
                  <a:srgbClr val="2C5F2D"/>
                </a:solidFill>
                <a:latin typeface="Cambria"/>
              </a:rPr>
              <a:t>We set out to learn why new customers give up on export.</a:t>
            </a:r>
          </a:p>
          <a:p>
            <a:pPr algn="l">
              <a:lnSpc>
                <a:spcPct val="115000"/>
              </a:lnSpc>
              <a:spcBef>
                <a:spcPts val="1300"/>
              </a:spcBef>
            </a:pPr>
            <a:r>
              <a:rPr sz="1800" b="0" i="0">
                <a:solidFill>
                  <a:srgbClr val="5B6A60"/>
                </a:solidFill>
                <a:latin typeface="Calibri"/>
              </a:rPr>
              <a:t>The answer points earlier in the journey than we expected.</a:t>
            </a:r>
          </a:p>
        </p:txBody>
      </p:sp>
      <p:sp>
        <p:nvSpPr>
          <p:cNvPr id="7" name="Rounded Rectangle 6"/>
          <p:cNvSpPr/>
          <p:nvPr/>
        </p:nvSpPr>
        <p:spPr>
          <a:xfrm>
            <a:off x="5257800" y="1783080"/>
            <a:ext cx="6309360" cy="1207008"/>
          </a:xfrm>
          <a:prstGeom prst="roundRect">
            <a:avLst>
              <a:gd name="adj" fmla="val 8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0" y="1965960"/>
            <a:ext cx="5760720" cy="365760"/>
          </a:xfrm>
          <a:prstGeom prst="rect">
            <a:avLst/>
          </a:prstGeom>
          <a:noFill/>
        </p:spPr>
        <p:txBody>
          <a:bodyPr wrap="square" anchor="t" lIns="0" rIns="0" tIns="0" bIns="0">
            <a:spAutoFit/>
          </a:bodyPr>
          <a:lstStyle/>
          <a:p>
            <a:pPr algn="l">
              <a:lnSpc>
                <a:spcPct val="110000"/>
              </a:lnSpc>
            </a:pPr>
            <a:r>
              <a:rPr sz="1900" b="1" i="0">
                <a:solidFill>
                  <a:srgbClr val="2C5F2D"/>
                </a:solidFill>
                <a:latin typeface="Calibri"/>
              </a:rPr>
              <a:t>Import is where it breaks.</a:t>
            </a:r>
          </a:p>
        </p:txBody>
      </p:sp>
      <p:sp>
        <p:nvSpPr>
          <p:cNvPr id="9" name="TextBox 8"/>
          <p:cNvSpPr txBox="1"/>
          <p:nvPr/>
        </p:nvSpPr>
        <p:spPr>
          <a:xfrm>
            <a:off x="5577840" y="2331720"/>
            <a:ext cx="5760720" cy="640080"/>
          </a:xfrm>
          <a:prstGeom prst="rect">
            <a:avLst/>
          </a:prstGeom>
          <a:noFill/>
        </p:spPr>
        <p:txBody>
          <a:bodyPr wrap="square" anchor="t" lIns="0" rIns="0" tIns="0" bIns="0">
            <a:spAutoFit/>
          </a:bodyPr>
          <a:lstStyle/>
          <a:p>
            <a:pPr algn="l">
              <a:lnSpc>
                <a:spcPct val="110000"/>
              </a:lnSpc>
            </a:pPr>
            <a:r>
              <a:rPr sz="1500" b="0" i="0">
                <a:solidFill>
                  <a:srgbClr val="1F2A24"/>
                </a:solidFill>
                <a:latin typeface="Calibri"/>
              </a:rPr>
              <a:t>For 5 of the 6 people who gave up, import had quietly skipped columns. A new export screen wouldn't have helped them.</a:t>
            </a:r>
          </a:p>
        </p:txBody>
      </p:sp>
      <p:sp>
        <p:nvSpPr>
          <p:cNvPr id="10" name="Rounded Rectangle 9"/>
          <p:cNvSpPr/>
          <p:nvPr/>
        </p:nvSpPr>
        <p:spPr>
          <a:xfrm>
            <a:off x="5257800" y="3154680"/>
            <a:ext cx="6309360" cy="1207008"/>
          </a:xfrm>
          <a:prstGeom prst="roundRect">
            <a:avLst>
              <a:gd name="adj" fmla="val 8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3337560"/>
            <a:ext cx="5760720" cy="365760"/>
          </a:xfrm>
          <a:prstGeom prst="rect">
            <a:avLst/>
          </a:prstGeom>
          <a:noFill/>
        </p:spPr>
        <p:txBody>
          <a:bodyPr wrap="square" anchor="t" lIns="0" rIns="0" tIns="0" bIns="0">
            <a:spAutoFit/>
          </a:bodyPr>
          <a:lstStyle/>
          <a:p>
            <a:pPr algn="l">
              <a:lnSpc>
                <a:spcPct val="110000"/>
              </a:lnSpc>
            </a:pPr>
            <a:r>
              <a:rPr sz="1900" b="1" i="0">
                <a:solidFill>
                  <a:srgbClr val="2C5F2D"/>
                </a:solidFill>
                <a:latin typeface="Calibri"/>
              </a:rPr>
              <a:t>The problem is bigger than our numbers show.</a:t>
            </a:r>
          </a:p>
        </p:txBody>
      </p:sp>
      <p:sp>
        <p:nvSpPr>
          <p:cNvPr id="12" name="TextBox 11"/>
          <p:cNvSpPr txBox="1"/>
          <p:nvPr/>
        </p:nvSpPr>
        <p:spPr>
          <a:xfrm>
            <a:off x="5577840" y="3703320"/>
            <a:ext cx="5760720" cy="640080"/>
          </a:xfrm>
          <a:prstGeom prst="rect">
            <a:avLst/>
          </a:prstGeom>
          <a:noFill/>
        </p:spPr>
        <p:txBody>
          <a:bodyPr wrap="square" anchor="t" lIns="0" rIns="0" tIns="0" bIns="0">
            <a:spAutoFit/>
          </a:bodyPr>
          <a:lstStyle/>
          <a:p>
            <a:pPr algn="l">
              <a:lnSpc>
                <a:spcPct val="110000"/>
              </a:lnSpc>
            </a:pPr>
            <a:r>
              <a:rPr sz="1500" b="0" i="0">
                <a:solidFill>
                  <a:srgbClr val="1F2A24"/>
                </a:solidFill>
                <a:latin typeface="Calibri"/>
              </a:rPr>
              <a:t>6 of 8 fix the file by emailing it to a colleague, so these exports count as successes.</a:t>
            </a:r>
          </a:p>
        </p:txBody>
      </p:sp>
      <p:sp>
        <p:nvSpPr>
          <p:cNvPr id="13" name="Rounded Rectangle 12"/>
          <p:cNvSpPr/>
          <p:nvPr/>
        </p:nvSpPr>
        <p:spPr>
          <a:xfrm>
            <a:off x="5257800" y="4526280"/>
            <a:ext cx="6309360" cy="1207008"/>
          </a:xfrm>
          <a:prstGeom prst="roundRect">
            <a:avLst>
              <a:gd name="adj" fmla="val 8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4709160"/>
            <a:ext cx="5760720" cy="365760"/>
          </a:xfrm>
          <a:prstGeom prst="rect">
            <a:avLst/>
          </a:prstGeom>
          <a:noFill/>
        </p:spPr>
        <p:txBody>
          <a:bodyPr wrap="square" anchor="t" lIns="0" rIns="0" tIns="0" bIns="0">
            <a:spAutoFit/>
          </a:bodyPr>
          <a:lstStyle/>
          <a:p>
            <a:pPr algn="l">
              <a:lnSpc>
                <a:spcPct val="110000"/>
              </a:lnSpc>
            </a:pPr>
            <a:r>
              <a:rPr sz="1900" b="1" i="0">
                <a:solidFill>
                  <a:srgbClr val="2C5F2D"/>
                </a:solidFill>
                <a:latin typeface="Calibri"/>
              </a:rPr>
              <a:t>Finance teams are fully blocked.</a:t>
            </a:r>
          </a:p>
        </p:txBody>
      </p:sp>
      <p:sp>
        <p:nvSpPr>
          <p:cNvPr id="15" name="TextBox 14"/>
          <p:cNvSpPr txBox="1"/>
          <p:nvPr/>
        </p:nvSpPr>
        <p:spPr>
          <a:xfrm>
            <a:off x="5577840" y="5074920"/>
            <a:ext cx="5760720" cy="640080"/>
          </a:xfrm>
          <a:prstGeom prst="rect">
            <a:avLst/>
          </a:prstGeom>
          <a:noFill/>
        </p:spPr>
        <p:txBody>
          <a:bodyPr wrap="square" anchor="t" lIns="0" rIns="0" tIns="0" bIns="0">
            <a:spAutoFit/>
          </a:bodyPr>
          <a:lstStyle/>
          <a:p>
            <a:pPr algn="l">
              <a:lnSpc>
                <a:spcPct val="110000"/>
              </a:lnSpc>
            </a:pPr>
            <a:r>
              <a:rPr sz="1500" b="0" i="0">
                <a:solidFill>
                  <a:srgbClr val="1F2A24"/>
                </a:solidFill>
                <a:latin typeface="Calibri"/>
              </a:rPr>
              <a:t>Only 2 people, but neither could get a file their finance system accepts.</a:t>
            </a:r>
          </a:p>
        </p:txBody>
      </p:sp>
      <p:sp>
        <p:nvSpPr>
          <p:cNvPr id="16" name="TextBox 15"/>
          <p:cNvSpPr txBox="1"/>
          <p:nvPr/>
        </p:nvSpPr>
        <p:spPr>
          <a:xfrm>
            <a:off x="640080" y="5897880"/>
            <a:ext cx="10881360" cy="365760"/>
          </a:xfrm>
          <a:prstGeom prst="rect">
            <a:avLst/>
          </a:prstGeom>
          <a:noFill/>
        </p:spPr>
        <p:txBody>
          <a:bodyPr wrap="square" anchor="t" lIns="0" rIns="0" tIns="0" bIns="0">
            <a:spAutoFit/>
          </a:bodyPr>
          <a:lstStyle/>
          <a:p>
            <a:pPr algn="l">
              <a:lnSpc>
                <a:spcPct val="110000"/>
              </a:lnSpc>
            </a:pPr>
            <a:r>
              <a:rPr sz="1800" b="1" i="0">
                <a:solidFill>
                  <a:srgbClr val="2C5F2D"/>
                </a:solidFill>
                <a:latin typeface="Calibri"/>
              </a:rPr>
              <a:t>So: </a:t>
            </a:r>
            <a:r>
              <a:rPr sz="1800" b="0" i="0">
                <a:solidFill>
                  <a:srgbClr val="1F2A24"/>
                </a:solidFill>
                <a:latin typeface="Calibri"/>
              </a:rPr>
              <a:t>fix import first, then decide whether the export screen still needs a rebuild.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WHY WE DID THIS</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team is choosing where Q1 effort goes</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3</a:t>
            </a:r>
          </a:p>
        </p:txBody>
      </p:sp>
      <p:sp>
        <p:nvSpPr>
          <p:cNvPr id="6" name="Rounded Rectangle 5"/>
          <p:cNvSpPr/>
          <p:nvPr/>
        </p:nvSpPr>
        <p:spPr>
          <a:xfrm>
            <a:off x="640080" y="1828800"/>
            <a:ext cx="3566160" cy="1737360"/>
          </a:xfrm>
          <a:prstGeom prst="roundRect">
            <a:avLst>
              <a:gd name="adj" fmla="val 6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03120"/>
            <a:ext cx="3017520" cy="32004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OPTION A</a:t>
            </a:r>
          </a:p>
        </p:txBody>
      </p:sp>
      <p:sp>
        <p:nvSpPr>
          <p:cNvPr id="8" name="TextBox 7"/>
          <p:cNvSpPr txBox="1"/>
          <p:nvPr/>
        </p:nvSpPr>
        <p:spPr>
          <a:xfrm>
            <a:off x="960120" y="2468880"/>
            <a:ext cx="3017520" cy="9144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Rebuild the export screen</a:t>
            </a:r>
          </a:p>
        </p:txBody>
      </p:sp>
      <p:sp>
        <p:nvSpPr>
          <p:cNvPr id="9" name="Rounded Rectangle 8"/>
          <p:cNvSpPr/>
          <p:nvPr/>
        </p:nvSpPr>
        <p:spPr>
          <a:xfrm>
            <a:off x="4434840" y="1828800"/>
            <a:ext cx="3566160" cy="1737360"/>
          </a:xfrm>
          <a:prstGeom prst="roundRect">
            <a:avLst>
              <a:gd name="adj" fmla="val 6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2103120"/>
            <a:ext cx="3017520" cy="32004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OPTION B</a:t>
            </a:r>
          </a:p>
        </p:txBody>
      </p:sp>
      <p:sp>
        <p:nvSpPr>
          <p:cNvPr id="11" name="TextBox 10"/>
          <p:cNvSpPr txBox="1"/>
          <p:nvPr/>
        </p:nvSpPr>
        <p:spPr>
          <a:xfrm>
            <a:off x="4754880" y="2468880"/>
            <a:ext cx="3017520" cy="9144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Fix the import step that feeds it</a:t>
            </a:r>
          </a:p>
        </p:txBody>
      </p:sp>
      <p:sp>
        <p:nvSpPr>
          <p:cNvPr id="12" name="TextBox 11"/>
          <p:cNvSpPr txBox="1"/>
          <p:nvPr/>
        </p:nvSpPr>
        <p:spPr>
          <a:xfrm>
            <a:off x="640080" y="3977639"/>
            <a:ext cx="7315200" cy="2194560"/>
          </a:xfrm>
          <a:prstGeom prst="rect">
            <a:avLst/>
          </a:prstGeom>
          <a:noFill/>
        </p:spPr>
        <p:txBody>
          <a:bodyPr wrap="square" anchor="t" lIns="0" rIns="0" tIns="0" bIns="0">
            <a:spAutoFit/>
          </a:bodyPr>
          <a:lstStyle/>
          <a:p>
            <a:pPr algn="l">
              <a:lnSpc>
                <a:spcPct val="115000"/>
              </a:lnSpc>
            </a:pPr>
            <a:r>
              <a:rPr sz="1700" b="1" i="0">
                <a:solidFill>
                  <a:srgbClr val="1F2A24"/>
                </a:solidFill>
                <a:latin typeface="Calibri"/>
              </a:rPr>
              <a:t>Decision by: </a:t>
            </a:r>
            <a:r>
              <a:rPr sz="1700" b="0" i="0">
                <a:solidFill>
                  <a:srgbClr val="1F2A24"/>
                </a:solidFill>
                <a:latin typeface="Calibri"/>
              </a:rPr>
              <a:t>October 30, by the Reporting team.</a:t>
            </a:r>
          </a:p>
          <a:p>
            <a:pPr algn="l">
              <a:lnSpc>
                <a:spcPct val="115000"/>
              </a:lnSpc>
              <a:spcBef>
                <a:spcPts val="850"/>
              </a:spcBef>
            </a:pPr>
            <a:r>
              <a:rPr sz="1700" b="1" i="0">
                <a:solidFill>
                  <a:srgbClr val="1F2A24"/>
                </a:solidFill>
                <a:latin typeface="Calibri"/>
              </a:rPr>
              <a:t>Why it matters: </a:t>
            </a:r>
            <a:r>
              <a:rPr sz="1700" b="0" i="0">
                <a:solidFill>
                  <a:srgbClr val="1F2A24"/>
                </a:solidFill>
                <a:latin typeface="Calibri"/>
              </a:rPr>
              <a:t>212 export tickets last quarter, and more weekly sharing is the team's goal for the second half of the year.</a:t>
            </a:r>
          </a:p>
          <a:p>
            <a:pPr algn="l">
              <a:lnSpc>
                <a:spcPct val="115000"/>
              </a:lnSpc>
              <a:spcBef>
                <a:spcPts val="850"/>
              </a:spcBef>
            </a:pPr>
            <a:r>
              <a:rPr sz="1700" b="1" i="0">
                <a:solidFill>
                  <a:srgbClr val="1F2A24"/>
                </a:solidFill>
                <a:latin typeface="Calibri"/>
              </a:rPr>
              <a:t>What we asked: </a:t>
            </a:r>
            <a:r>
              <a:rPr sz="1700" b="0" i="0">
                <a:solidFill>
                  <a:srgbClr val="1F2A24"/>
                </a:solidFill>
                <a:latin typeface="Calibri"/>
              </a:rPr>
              <a:t>Why do new customers give up on export in their first 90 days?</a:t>
            </a:r>
          </a:p>
        </p:txBody>
      </p:sp>
      <p:sp>
        <p:nvSpPr>
          <p:cNvPr id="13" name="Rounded Rectangle 12"/>
          <p:cNvSpPr/>
          <p:nvPr/>
        </p:nvSpPr>
        <p:spPr>
          <a:xfrm>
            <a:off x="8458200" y="1828800"/>
            <a:ext cx="3108960" cy="26517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2103120"/>
            <a:ext cx="2560320" cy="3566160"/>
          </a:xfrm>
          <a:prstGeom prst="rect">
            <a:avLst/>
          </a:prstGeom>
          <a:noFill/>
        </p:spPr>
        <p:txBody>
          <a:bodyPr wrap="square" anchor="t" lIns="0" rIns="0" tIns="0" bIns="0">
            <a:spAutoFit/>
          </a:bodyPr>
          <a:lstStyle/>
          <a:p>
            <a:pPr algn="l">
              <a:lnSpc>
                <a:spcPct val="115000"/>
              </a:lnSpc>
            </a:pPr>
            <a:r>
              <a:rPr sz="1800" b="1" i="0">
                <a:solidFill>
                  <a:srgbClr val="2C5F2D"/>
                </a:solidFill>
                <a:latin typeface="Cambria"/>
              </a:rPr>
              <a:t>What we already knew</a:t>
            </a:r>
          </a:p>
          <a:p>
            <a:pPr algn="l">
              <a:lnSpc>
                <a:spcPct val="115000"/>
              </a:lnSpc>
              <a:spcBef>
                <a:spcPts val="750"/>
              </a:spcBef>
            </a:pPr>
            <a:r>
              <a:rPr sz="1500" b="0" i="0">
                <a:solidFill>
                  <a:srgbClr val="1F2A24"/>
                </a:solidFill>
                <a:latin typeface="Calibri"/>
              </a:rPr>
              <a:t>Export is the second most-used admin feature (2025 survey).</a:t>
            </a:r>
          </a:p>
          <a:p>
            <a:pPr algn="l">
              <a:lnSpc>
                <a:spcPct val="115000"/>
              </a:lnSpc>
              <a:spcBef>
                <a:spcPts val="750"/>
              </a:spcBef>
            </a:pPr>
            <a:r>
              <a:rPr sz="1500" b="0" i="0">
                <a:solidFill>
                  <a:srgbClr val="1F2A24"/>
                </a:solidFill>
                <a:latin typeface="Calibri"/>
              </a:rPr>
              <a:t>Field reps hear that "customers hate the export".</a:t>
            </a:r>
          </a:p>
          <a:p>
            <a:pPr algn="l">
              <a:lnSpc>
                <a:spcPct val="115000"/>
              </a:lnSpc>
              <a:spcBef>
                <a:spcPts val="750"/>
              </a:spcBef>
            </a:pPr>
            <a:r>
              <a:rPr sz="1500" b="0" i="0">
                <a:solidFill>
                  <a:srgbClr val="1F2A24"/>
                </a:solidFill>
                <a:latin typeface="Calibri"/>
              </a:rPr>
              <a:t>Nobody had asked why it fails.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WE DID</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We watched 8 customers try a real export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4</a:t>
            </a:r>
          </a:p>
        </p:txBody>
      </p:sp>
      <p:sp>
        <p:nvSpPr>
          <p:cNvPr id="6" name="Rounded Rectangle 5"/>
          <p:cNvSpPr/>
          <p:nvPr/>
        </p:nvSpPr>
        <p:spPr>
          <a:xfrm>
            <a:off x="6400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8</a:t>
            </a:r>
          </a:p>
        </p:txBody>
      </p:sp>
      <p:sp>
        <p:nvSpPr>
          <p:cNvPr id="8" name="TextBox 7"/>
          <p:cNvSpPr txBox="1"/>
          <p:nvPr/>
        </p:nvSpPr>
        <p:spPr>
          <a:xfrm>
            <a:off x="6400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customers, one at a time</a:t>
            </a:r>
          </a:p>
        </p:txBody>
      </p:sp>
      <p:sp>
        <p:nvSpPr>
          <p:cNvPr id="9" name="Rounded Rectangle 8"/>
          <p:cNvSpPr/>
          <p:nvPr/>
        </p:nvSpPr>
        <p:spPr>
          <a:xfrm>
            <a:off x="33832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45 min</a:t>
            </a:r>
          </a:p>
        </p:txBody>
      </p:sp>
      <p:sp>
        <p:nvSpPr>
          <p:cNvPr id="11" name="TextBox 10"/>
          <p:cNvSpPr txBox="1"/>
          <p:nvPr/>
        </p:nvSpPr>
        <p:spPr>
          <a:xfrm>
            <a:off x="33832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each, by video call</a:t>
            </a:r>
          </a:p>
        </p:txBody>
      </p:sp>
      <p:sp>
        <p:nvSpPr>
          <p:cNvPr id="12" name="Rounded Rectangle 11"/>
          <p:cNvSpPr/>
          <p:nvPr/>
        </p:nvSpPr>
        <p:spPr>
          <a:xfrm>
            <a:off x="61264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&lt; 90 days</a:t>
            </a:r>
          </a:p>
        </p:txBody>
      </p:sp>
      <p:sp>
        <p:nvSpPr>
          <p:cNvPr id="14" name="TextBox 13"/>
          <p:cNvSpPr txBox="1"/>
          <p:nvPr/>
        </p:nvSpPr>
        <p:spPr>
          <a:xfrm>
            <a:off x="61264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since they signed up</a:t>
            </a:r>
          </a:p>
        </p:txBody>
      </p:sp>
      <p:sp>
        <p:nvSpPr>
          <p:cNvPr id="15" name="Rounded Rectangle 14"/>
          <p:cNvSpPr/>
          <p:nvPr/>
        </p:nvSpPr>
        <p:spPr>
          <a:xfrm>
            <a:off x="88696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6–10 Oct</a:t>
            </a:r>
          </a:p>
        </p:txBody>
      </p:sp>
      <p:sp>
        <p:nvSpPr>
          <p:cNvPr id="17" name="TextBox 16"/>
          <p:cNvSpPr txBox="1"/>
          <p:nvPr/>
        </p:nvSpPr>
        <p:spPr>
          <a:xfrm>
            <a:off x="88696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2026</a:t>
            </a:r>
          </a:p>
        </p:txBody>
      </p:sp>
      <p:sp>
        <p:nvSpPr>
          <p:cNvPr id="18" name="TextBox 17"/>
          <p:cNvSpPr txBox="1"/>
          <p:nvPr/>
        </p:nvSpPr>
        <p:spPr>
          <a:xfrm>
            <a:off x="640080" y="4023360"/>
            <a:ext cx="10789920" cy="1828800"/>
          </a:xfrm>
          <a:prstGeom prst="rect">
            <a:avLst/>
          </a:prstGeom>
          <a:noFill/>
        </p:spPr>
        <p:txBody>
          <a:bodyPr wrap="square" anchor="t" lIns="0" rIns="0" tIns="0" bIns="0">
            <a:spAutoFit/>
          </a:bodyPr>
          <a:lstStyle/>
          <a:p>
            <a:pPr algn="l">
              <a:lnSpc>
                <a:spcPct val="120000"/>
              </a:lnSpc>
            </a:pPr>
            <a:r>
              <a:rPr sz="1800" b="0" i="0">
                <a:solidFill>
                  <a:srgbClr val="1F2A24"/>
                </a:solidFill>
                <a:latin typeface="Calibri"/>
              </a:rPr>
              <a:t>Each person told us about the last export they tried, then exported last month's revenue report on their own account while we watched.</a:t>
            </a:r>
          </a:p>
          <a:p>
            <a:pPr algn="l">
              <a:lnSpc>
                <a:spcPct val="120000"/>
              </a:lnSpc>
              <a:spcBef>
                <a:spcPts val="900"/>
              </a:spcBef>
            </a:pPr>
            <a:r>
              <a:rPr sz="1800" b="0" i="0">
                <a:solidFill>
                  <a:srgbClr val="1F2A24"/>
                </a:solidFill>
                <a:latin typeface="Calibri"/>
              </a:rPr>
              <a:t>They all build and share reports at companies with 50 to 500 Ledgerline seats, and our Customer Success team helped us find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C5F2D"/>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97BC62"/>
                </a:solidFill>
                <a:latin typeface="Calibri"/>
              </a:rPr>
              <a:t>THE STORY</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FFFFFF"/>
                </a:solidFill>
                <a:latin typeface="Cambria"/>
              </a:rPr>
              <a:t>We expected the export screen to be the problem</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97BC62"/>
                </a:solidFill>
                <a:latin typeface="Calibri"/>
              </a:rPr>
              <a:t>Fictional example · made with Magpie</a:t>
            </a:r>
          </a:p>
        </p:txBody>
      </p:sp>
      <p:sp>
        <p:nvSpPr>
          <p:cNvPr id="5" name="TextBox 4"/>
          <p:cNvSpPr txBox="1"/>
          <p:nvPr/>
        </p:nvSpPr>
        <p:spPr>
          <a:xfrm>
            <a:off x="640080" y="2377440"/>
            <a:ext cx="10058400" cy="2286000"/>
          </a:xfrm>
          <a:prstGeom prst="rect">
            <a:avLst/>
          </a:prstGeom>
          <a:noFill/>
        </p:spPr>
        <p:txBody>
          <a:bodyPr wrap="square" anchor="t" lIns="0" rIns="0" tIns="0" bIns="0">
            <a:spAutoFit/>
          </a:bodyPr>
          <a:lstStyle/>
          <a:p>
            <a:pPr algn="l">
              <a:lnSpc>
                <a:spcPct val="120000"/>
              </a:lnSpc>
            </a:pPr>
            <a:r>
              <a:rPr sz="2600" b="0" i="0">
                <a:solidFill>
                  <a:srgbClr val="FFFFFF"/>
                </a:solidFill>
                <a:latin typeface="Calibri"/>
              </a:rPr>
              <a:t>The study was set up to help plan a new export screen. Field reps said customers hate it.</a:t>
            </a:r>
          </a:p>
          <a:p>
            <a:pPr algn="l">
              <a:lnSpc>
                <a:spcPct val="120000"/>
              </a:lnSpc>
              <a:spcBef>
                <a:spcPts val="1300"/>
              </a:spcBef>
            </a:pPr>
            <a:r>
              <a:rPr sz="2600" b="1" i="0">
                <a:solidFill>
                  <a:srgbClr val="97BC62"/>
                </a:solidFill>
                <a:latin typeface="Calibri"/>
              </a:rPr>
              <a:t>Watching people use it told a different story.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WHERE IT GOES WRONG</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trouble starts before export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6</a:t>
            </a:r>
          </a:p>
        </p:txBody>
      </p:sp>
      <p:sp>
        <p:nvSpPr>
          <p:cNvPr id="6" name="Rounded Rectangle 5"/>
          <p:cNvSpPr/>
          <p:nvPr/>
        </p:nvSpPr>
        <p:spPr>
          <a:xfrm>
            <a:off x="640080" y="2011680"/>
            <a:ext cx="2423160" cy="868680"/>
          </a:xfrm>
          <a:prstGeom prst="roundRect">
            <a:avLst>
              <a:gd name="adj" fmla="val 2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084832"/>
            <a:ext cx="2423160" cy="274320"/>
          </a:xfrm>
          <a:prstGeom prst="rect">
            <a:avLst/>
          </a:prstGeom>
          <a:noFill/>
        </p:spPr>
        <p:txBody>
          <a:bodyPr wrap="square" anchor="t" lIns="0" rIns="0" tIns="0" bIns="0">
            <a:spAutoFit/>
          </a:bodyPr>
          <a:lstStyle/>
          <a:p>
            <a:pPr algn="ctr">
              <a:lnSpc>
                <a:spcPct val="110000"/>
              </a:lnSpc>
            </a:pPr>
            <a:r>
              <a:rPr sz="1100" b="1" i="0">
                <a:solidFill>
                  <a:srgbClr val="97BC62"/>
                </a:solidFill>
                <a:latin typeface="Calibri"/>
              </a:rPr>
              <a:t>STEP 1</a:t>
            </a:r>
          </a:p>
        </p:txBody>
      </p:sp>
      <p:sp>
        <p:nvSpPr>
          <p:cNvPr id="8" name="TextBox 7"/>
          <p:cNvSpPr txBox="1"/>
          <p:nvPr/>
        </p:nvSpPr>
        <p:spPr>
          <a:xfrm>
            <a:off x="640080" y="2359152"/>
            <a:ext cx="2423160" cy="411480"/>
          </a:xfrm>
          <a:prstGeom prst="rect">
            <a:avLst/>
          </a:prstGeom>
          <a:noFill/>
        </p:spPr>
        <p:txBody>
          <a:bodyPr wrap="square" anchor="t" lIns="0" rIns="0" tIns="0" bIns="0">
            <a:spAutoFit/>
          </a:bodyPr>
          <a:lstStyle/>
          <a:p>
            <a:pPr algn="ctr">
              <a:lnSpc>
                <a:spcPct val="110000"/>
              </a:lnSpc>
            </a:pPr>
            <a:r>
              <a:rPr sz="2000" b="1" i="0">
                <a:solidFill>
                  <a:srgbClr val="FFFFFF"/>
                </a:solidFill>
                <a:latin typeface="Cambria"/>
              </a:rPr>
              <a:t>Import data</a:t>
            </a:r>
          </a:p>
        </p:txBody>
      </p:sp>
      <p:sp>
        <p:nvSpPr>
          <p:cNvPr id="9" name="Chevron 8"/>
          <p:cNvSpPr/>
          <p:nvPr/>
        </p:nvSpPr>
        <p:spPr>
          <a:xfrm>
            <a:off x="3136392"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47288"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2</a:t>
            </a:r>
          </a:p>
        </p:txBody>
      </p:sp>
      <p:sp>
        <p:nvSpPr>
          <p:cNvPr id="12" name="TextBox 11"/>
          <p:cNvSpPr txBox="1"/>
          <p:nvPr/>
        </p:nvSpPr>
        <p:spPr>
          <a:xfrm>
            <a:off x="3447288"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Build a report</a:t>
            </a:r>
          </a:p>
        </p:txBody>
      </p:sp>
      <p:sp>
        <p:nvSpPr>
          <p:cNvPr id="13" name="Chevron 12"/>
          <p:cNvSpPr/>
          <p:nvPr/>
        </p:nvSpPr>
        <p:spPr>
          <a:xfrm>
            <a:off x="5943600"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54496"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3</a:t>
            </a:r>
          </a:p>
        </p:txBody>
      </p:sp>
      <p:sp>
        <p:nvSpPr>
          <p:cNvPr id="16" name="TextBox 15"/>
          <p:cNvSpPr txBox="1"/>
          <p:nvPr/>
        </p:nvSpPr>
        <p:spPr>
          <a:xfrm>
            <a:off x="6254496"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Export the file</a:t>
            </a:r>
          </a:p>
        </p:txBody>
      </p:sp>
      <p:sp>
        <p:nvSpPr>
          <p:cNvPr id="17" name="Chevron 16"/>
          <p:cNvSpPr/>
          <p:nvPr/>
        </p:nvSpPr>
        <p:spPr>
          <a:xfrm>
            <a:off x="8750808"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61704"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61704"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4</a:t>
            </a:r>
          </a:p>
        </p:txBody>
      </p:sp>
      <p:sp>
        <p:nvSpPr>
          <p:cNvPr id="20" name="TextBox 19"/>
          <p:cNvSpPr txBox="1"/>
          <p:nvPr/>
        </p:nvSpPr>
        <p:spPr>
          <a:xfrm>
            <a:off x="9061704"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Send to finance</a:t>
            </a:r>
          </a:p>
        </p:txBody>
      </p:sp>
      <p:sp>
        <p:nvSpPr>
          <p:cNvPr id="21" name="Rectangle 20"/>
          <p:cNvSpPr/>
          <p:nvPr/>
        </p:nvSpPr>
        <p:spPr>
          <a:xfrm>
            <a:off x="1845310"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5 of 8</a:t>
            </a:r>
          </a:p>
        </p:txBody>
      </p:sp>
      <p:sp>
        <p:nvSpPr>
          <p:cNvPr id="23" name="TextBox 22"/>
          <p:cNvSpPr txBox="1"/>
          <p:nvPr/>
        </p:nvSpPr>
        <p:spPr>
          <a:xfrm>
            <a:off x="640080"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Import skipped columns. Nobody noticed until the export came out with gaps.</a:t>
            </a:r>
          </a:p>
        </p:txBody>
      </p:sp>
      <p:sp>
        <p:nvSpPr>
          <p:cNvPr id="24" name="Rectangle 23"/>
          <p:cNvSpPr/>
          <p:nvPr/>
        </p:nvSpPr>
        <p:spPr>
          <a:xfrm>
            <a:off x="7459726"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54496"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7 of 8</a:t>
            </a:r>
          </a:p>
        </p:txBody>
      </p:sp>
      <p:sp>
        <p:nvSpPr>
          <p:cNvPr id="26" name="TextBox 25"/>
          <p:cNvSpPr txBox="1"/>
          <p:nvPr/>
        </p:nvSpPr>
        <p:spPr>
          <a:xfrm>
            <a:off x="6254496"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Didn't understand the "Include hidden fields" checkbox.</a:t>
            </a:r>
          </a:p>
        </p:txBody>
      </p:sp>
      <p:sp>
        <p:nvSpPr>
          <p:cNvPr id="27" name="Rectangle 26"/>
          <p:cNvSpPr/>
          <p:nvPr/>
        </p:nvSpPr>
        <p:spPr>
          <a:xfrm>
            <a:off x="10266934"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61704"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2 of 8</a:t>
            </a:r>
          </a:p>
        </p:txBody>
      </p:sp>
      <p:sp>
        <p:nvSpPr>
          <p:cNvPr id="29" name="TextBox 28"/>
          <p:cNvSpPr txBox="1"/>
          <p:nvPr/>
        </p:nvSpPr>
        <p:spPr>
          <a:xfrm>
            <a:off x="9061704"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Finance teams: their system rejected the file's column order.</a:t>
            </a:r>
          </a:p>
        </p:txBody>
      </p:sp>
      <p:sp>
        <p:nvSpPr>
          <p:cNvPr id="30" name="TextBox 29"/>
          <p:cNvSpPr txBox="1"/>
          <p:nvPr/>
        </p:nvSpPr>
        <p:spPr>
          <a:xfrm>
            <a:off x="9061704" y="475488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6 of 8</a:t>
            </a:r>
          </a:p>
        </p:txBody>
      </p:sp>
      <p:sp>
        <p:nvSpPr>
          <p:cNvPr id="31" name="TextBox 30"/>
          <p:cNvSpPr txBox="1"/>
          <p:nvPr/>
        </p:nvSpPr>
        <p:spPr>
          <a:xfrm>
            <a:off x="9061704" y="525780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Fixed the file by emailing it to a colleague.</a:t>
            </a:r>
          </a:p>
        </p:txBody>
      </p:sp>
      <p:sp>
        <p:nvSpPr>
          <p:cNvPr id="32" name="TextBox 31"/>
          <p:cNvSpPr txBox="1"/>
          <p:nvPr/>
        </p:nvSpPr>
        <p:spPr>
          <a:xfrm>
            <a:off x="3447288" y="3246120"/>
            <a:ext cx="2423160" cy="1463040"/>
          </a:xfrm>
          <a:prstGeom prst="rect">
            <a:avLst/>
          </a:prstGeom>
          <a:noFill/>
        </p:spPr>
        <p:txBody>
          <a:bodyPr wrap="square" anchor="t" lIns="0" rIns="0" tIns="0" bIns="0">
            <a:spAutoFit/>
          </a:bodyPr>
          <a:lstStyle/>
          <a:p>
            <a:pPr algn="l">
              <a:lnSpc>
                <a:spcPct val="110000"/>
              </a:lnSpc>
            </a:pPr>
            <a:r>
              <a:rPr sz="1500" b="0" i="1">
                <a:solidFill>
                  <a:srgbClr val="5B6A60"/>
                </a:solidFill>
                <a:latin typeface="Calibri"/>
              </a:rPr>
              <a:t>No problems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1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5 of 8 hit columns that import had skipped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7</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5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Strong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P3, P4, P6, P8</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When the export preview showed empty columns, they stopped. In every case, import had skipped those columns weeks earlier.</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“I thought export was broken, but it's the import that never had them.”</a:t>
            </a:r>
          </a:p>
          <a:p>
            <a:pPr algn="l">
              <a:lnSpc>
                <a:spcPct val="110000"/>
              </a:lnSpc>
              <a:spcBef>
                <a:spcPts val="1050"/>
              </a:spcBef>
            </a:pPr>
            <a:r>
              <a:rPr sz="1300" b="0" i="0">
                <a:solidFill>
                  <a:srgbClr val="5B6A60"/>
                </a:solidFill>
                <a:latin typeface="Calibri"/>
              </a:rPr>
              <a:t>P3, operations analyst, 120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P2 and P5 had no gaps. Customer Success had set up their import for them.</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new export screen wouldn't have helped 5 of the 6 people who gave 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2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Finance teams can't use the file at all</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8</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2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Weak evidence</a:t>
            </a:r>
          </a:p>
        </p:txBody>
      </p:sp>
      <p:sp>
        <p:nvSpPr>
          <p:cNvPr id="10" name="Rounded Rectangle 9"/>
          <p:cNvSpPr/>
          <p:nvPr/>
        </p:nvSpPr>
        <p:spPr>
          <a:xfrm>
            <a:off x="1097280" y="4526280"/>
            <a:ext cx="2377440" cy="347472"/>
          </a:xfrm>
          <a:prstGeom prst="roundRect">
            <a:avLst>
              <a:gd name="adj" fmla="val 50000"/>
            </a:avLst>
          </a:prstGeom>
          <a:solidFill>
            <a:srgbClr val="FBEF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9A5B00"/>
                </a:solidFill>
                <a:latin typeface="Calibri"/>
              </a:rPr>
              <a:t>Serious: fully blocked</a:t>
            </a:r>
          </a:p>
        </p:txBody>
      </p:sp>
      <p:sp>
        <p:nvSpPr>
          <p:cNvPr id="11" name="TextBox 10"/>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P5, P7</a:t>
            </a:r>
          </a:p>
        </p:txBody>
      </p:sp>
      <p:sp>
        <p:nvSpPr>
          <p:cNvPr id="12" name="TextBox 11"/>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Both people from finance teams need columns in a fixed order for their finance system. Export can't do that, so the file is rejected.</a:t>
            </a:r>
          </a:p>
        </p:txBody>
      </p:sp>
      <p:sp>
        <p:nvSpPr>
          <p:cNvPr id="13" name="Rectangle 12"/>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“If the order's wrong the reconciliation tool rejects the whole file.”</a:t>
            </a:r>
          </a:p>
          <a:p>
            <a:pPr algn="l">
              <a:lnSpc>
                <a:spcPct val="110000"/>
              </a:lnSpc>
              <a:spcBef>
                <a:spcPts val="1050"/>
              </a:spcBef>
            </a:pPr>
            <a:r>
              <a:rPr sz="1300" b="0" i="0">
                <a:solidFill>
                  <a:srgbClr val="5B6A60"/>
                </a:solidFill>
                <a:latin typeface="Calibri"/>
              </a:rPr>
              <a:t>P7, finance controller, 450 seats</a:t>
            </a:r>
          </a:p>
        </p:txBody>
      </p:sp>
      <p:sp>
        <p:nvSpPr>
          <p:cNvPr id="15" name="TextBox 14"/>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6" name="TextBox 15"/>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The other 6 didn't need a fixed order. This may only affect finance teams.</a:t>
            </a:r>
          </a:p>
        </p:txBody>
      </p:sp>
      <p:sp>
        <p:nvSpPr>
          <p:cNvPr id="17" name="TextBox 16"/>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8" name="TextBox 17"/>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small group is completely stuck. Support can count how many customers this affects.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3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6 of 8 email the file to someone to fix</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9</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6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Strong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P3, P4, P6, P7, P8</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When the file is wrong, people send it to a colleague to fix by hand. They told us this without being asked.</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“Sent the raw file to [name] and asked them to fix it.”</a:t>
            </a:r>
          </a:p>
          <a:p>
            <a:pPr algn="l">
              <a:lnSpc>
                <a:spcPct val="110000"/>
              </a:lnSpc>
              <a:spcBef>
                <a:spcPts val="1050"/>
              </a:spcBef>
            </a:pPr>
            <a:r>
              <a:rPr sz="1300" b="0" i="0">
                <a:solidFill>
                  <a:srgbClr val="5B6A60"/>
                </a:solidFill>
                <a:latin typeface="Calibri"/>
              </a:rPr>
              <a:t>P1, operations manager, 80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P2 and P5 didn't do this. P2 rarely exports.</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Our numbers count these exports as successes, so the 212 tickets undercount the problem.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4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7 of 8 didn't understand one checkbox</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10</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7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Moderate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to P7</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Almost everyone skipped "Include hidden fields" or guessed what it does. Nobody could say what a hidden field is.</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“Hidden from who?”</a:t>
            </a:r>
          </a:p>
          <a:p>
            <a:pPr algn="l">
              <a:lnSpc>
                <a:spcPct val="110000"/>
              </a:lnSpc>
              <a:spcBef>
                <a:spcPts val="1050"/>
              </a:spcBef>
            </a:pPr>
            <a:r>
              <a:rPr sz="1300" b="0" i="0">
                <a:solidFill>
                  <a:srgbClr val="5B6A60"/>
                </a:solidFill>
                <a:latin typeface="Calibri"/>
              </a:rPr>
              <a:t>P4, reporting lead, 310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P8 used it correctly after reading the help article.</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quick wording fix on the export screen. It isn't why people give 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OTHER FINDINGS</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Three smaller things we noticed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11</a:t>
            </a:r>
          </a:p>
        </p:txBody>
      </p:sp>
      <p:sp>
        <p:nvSpPr>
          <p:cNvPr id="6" name="Rounded Rectangle 5"/>
          <p:cNvSpPr/>
          <p:nvPr/>
        </p:nvSpPr>
        <p:spPr>
          <a:xfrm>
            <a:off x="64008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2 of 8</a:t>
            </a:r>
          </a:p>
        </p:txBody>
      </p:sp>
      <p:sp>
        <p:nvSpPr>
          <p:cNvPr id="8" name="TextBox 7"/>
          <p:cNvSpPr txBox="1"/>
          <p:nvPr/>
        </p:nvSpPr>
        <p:spPr>
          <a:xfrm>
            <a:off x="96012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expected export to run every month by itself.</a:t>
            </a:r>
          </a:p>
        </p:txBody>
      </p:sp>
      <p:sp>
        <p:nvSpPr>
          <p:cNvPr id="9" name="TextBox 8"/>
          <p:cNvSpPr txBox="1"/>
          <p:nvPr/>
        </p:nvSpPr>
        <p:spPr>
          <a:xfrm>
            <a:off x="96012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Not something we asked about. Worth raising in roadmap planning.</a:t>
            </a:r>
          </a:p>
        </p:txBody>
      </p:sp>
      <p:sp>
        <p:nvSpPr>
          <p:cNvPr id="10" name="Rounded Rectangle 9"/>
          <p:cNvSpPr/>
          <p:nvPr/>
        </p:nvSpPr>
        <p:spPr>
          <a:xfrm>
            <a:off x="434340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3 of 8</a:t>
            </a:r>
          </a:p>
        </p:txBody>
      </p:sp>
      <p:sp>
        <p:nvSpPr>
          <p:cNvPr id="12" name="TextBox 11"/>
          <p:cNvSpPr txBox="1"/>
          <p:nvPr/>
        </p:nvSpPr>
        <p:spPr>
          <a:xfrm>
            <a:off x="466344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picked the same columns every time.</a:t>
            </a:r>
          </a:p>
        </p:txBody>
      </p:sp>
      <p:sp>
        <p:nvSpPr>
          <p:cNvPr id="13" name="TextBox 12"/>
          <p:cNvSpPr txBox="1"/>
          <p:nvPr/>
        </p:nvSpPr>
        <p:spPr>
          <a:xfrm>
            <a:off x="466344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The export screen doesn't remember last time's choice.</a:t>
            </a:r>
          </a:p>
        </p:txBody>
      </p:sp>
      <p:sp>
        <p:nvSpPr>
          <p:cNvPr id="14" name="Rounded Rectangle 13"/>
          <p:cNvSpPr/>
          <p:nvPr/>
        </p:nvSpPr>
        <p:spPr>
          <a:xfrm>
            <a:off x="804672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3 of 8</a:t>
            </a:r>
          </a:p>
        </p:txBody>
      </p:sp>
      <p:sp>
        <p:nvSpPr>
          <p:cNvPr id="16" name="TextBox 15"/>
          <p:cNvSpPr txBox="1"/>
          <p:nvPr/>
        </p:nvSpPr>
        <p:spPr>
          <a:xfrm>
            <a:off x="836676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renamed the file before sending it.</a:t>
            </a:r>
          </a:p>
        </p:txBody>
      </p:sp>
      <p:sp>
        <p:nvSpPr>
          <p:cNvPr id="17" name="TextBox 16"/>
          <p:cNvSpPr txBox="1"/>
          <p:nvPr/>
        </p:nvSpPr>
        <p:spPr>
          <a:xfrm>
            <a:off x="836676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Nobody gave up over this, so it isn't a priority.</a:t>
            </a:r>
          </a:p>
        </p:txBody>
      </p:sp>
      <p:sp>
        <p:nvSpPr>
          <p:cNvPr id="18" name="TextBox 17"/>
          <p:cNvSpPr txBox="1"/>
          <p:nvPr/>
        </p:nvSpPr>
        <p:spPr>
          <a:xfrm>
            <a:off x="640080" y="5486400"/>
            <a:ext cx="10789920" cy="457200"/>
          </a:xfrm>
          <a:prstGeom prst="rect">
            <a:avLst/>
          </a:prstGeom>
          <a:noFill/>
        </p:spPr>
        <p:txBody>
          <a:bodyPr wrap="square" anchor="t" lIns="0" rIns="0" tIns="0" bIns="0">
            <a:spAutoFit/>
          </a:bodyPr>
          <a:lstStyle/>
          <a:p>
            <a:pPr algn="l">
              <a:lnSpc>
                <a:spcPct val="110000"/>
              </a:lnSpc>
            </a:pPr>
            <a:r>
              <a:rPr sz="1400" b="0" i="0">
                <a:solidFill>
                  <a:srgbClr val="5B6A60"/>
                </a:solidFill>
                <a:latin typeface="Calibri"/>
              </a:rPr>
              <a:t>All weak evidence. Every finding from the study is in this deck or the report's appendix.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TO DO</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Four things to do, in this order</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12</a:t>
            </a:r>
          </a:p>
        </p:txBody>
      </p:sp>
      <p:sp>
        <p:nvSpPr>
          <p:cNvPr id="6" name="Rounded Rectangle 5"/>
          <p:cNvSpPr/>
          <p:nvPr/>
        </p:nvSpPr>
        <p:spPr>
          <a:xfrm>
            <a:off x="640080" y="178308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205740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8" name="TextBox 7"/>
          <p:cNvSpPr txBox="1"/>
          <p:nvPr/>
        </p:nvSpPr>
        <p:spPr>
          <a:xfrm>
            <a:off x="1645920" y="205740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Warn people at import when columns their reports use were skipped.</a:t>
            </a:r>
          </a:p>
        </p:txBody>
      </p:sp>
      <p:sp>
        <p:nvSpPr>
          <p:cNvPr id="9" name="TextBox 8"/>
          <p:cNvSpPr txBox="1"/>
          <p:nvPr/>
        </p:nvSpPr>
        <p:spPr>
          <a:xfrm>
            <a:off x="1645920" y="301752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Data Pipeline, Reporting</a:t>
            </a:r>
          </a:p>
          <a:p>
            <a:pPr algn="l">
              <a:lnSpc>
                <a:spcPct val="110000"/>
              </a:lnSpc>
              <a:spcBef>
                <a:spcPts val="700"/>
              </a:spcBef>
            </a:pPr>
            <a:r>
              <a:rPr sz="1400" b="0" i="0">
                <a:solidFill>
                  <a:srgbClr val="5B6A60"/>
                </a:solidFill>
                <a:latin typeface="Calibri"/>
              </a:rPr>
              <a:t>Fixes finding 1</a:t>
            </a:r>
          </a:p>
        </p:txBody>
      </p:sp>
      <p:sp>
        <p:nvSpPr>
          <p:cNvPr id="10" name="Rounded Rectangle 9"/>
          <p:cNvSpPr/>
          <p:nvPr/>
        </p:nvSpPr>
        <p:spPr>
          <a:xfrm>
            <a:off x="6172200" y="178308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46520" y="205740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12" name="TextBox 11"/>
          <p:cNvSpPr txBox="1"/>
          <p:nvPr/>
        </p:nvSpPr>
        <p:spPr>
          <a:xfrm>
            <a:off x="7178040" y="205740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Hold the export screen rebuild until the import warning is live and measured.</a:t>
            </a:r>
          </a:p>
        </p:txBody>
      </p:sp>
      <p:sp>
        <p:nvSpPr>
          <p:cNvPr id="13" name="TextBox 12"/>
          <p:cNvSpPr txBox="1"/>
          <p:nvPr/>
        </p:nvSpPr>
        <p:spPr>
          <a:xfrm>
            <a:off x="7178040" y="301752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Reporting</a:t>
            </a:r>
          </a:p>
          <a:p>
            <a:pPr algn="l">
              <a:lnSpc>
                <a:spcPct val="110000"/>
              </a:lnSpc>
              <a:spcBef>
                <a:spcPts val="700"/>
              </a:spcBef>
            </a:pPr>
            <a:r>
              <a:rPr sz="1400" b="0" i="0">
                <a:solidFill>
                  <a:srgbClr val="5B6A60"/>
                </a:solidFill>
                <a:latin typeface="Calibri"/>
              </a:rPr>
              <a:t>Based on findings 1 and 3</a:t>
            </a:r>
          </a:p>
        </p:txBody>
      </p:sp>
      <p:sp>
        <p:nvSpPr>
          <p:cNvPr id="14" name="Rounded Rectangle 13"/>
          <p:cNvSpPr/>
          <p:nvPr/>
        </p:nvSpPr>
        <p:spPr>
          <a:xfrm>
            <a:off x="640080" y="393192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420624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6" name="TextBox 15"/>
          <p:cNvSpPr txBox="1"/>
          <p:nvPr/>
        </p:nvSpPr>
        <p:spPr>
          <a:xfrm>
            <a:off x="1645920" y="420624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Count how many finance-team customers need a fixed column order.</a:t>
            </a:r>
          </a:p>
        </p:txBody>
      </p:sp>
      <p:sp>
        <p:nvSpPr>
          <p:cNvPr id="17" name="TextBox 16"/>
          <p:cNvSpPr txBox="1"/>
          <p:nvPr/>
        </p:nvSpPr>
        <p:spPr>
          <a:xfrm>
            <a:off x="1645920" y="516636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Support, Customer Success</a:t>
            </a:r>
          </a:p>
          <a:p>
            <a:pPr algn="l">
              <a:lnSpc>
                <a:spcPct val="110000"/>
              </a:lnSpc>
              <a:spcBef>
                <a:spcPts val="700"/>
              </a:spcBef>
            </a:pPr>
            <a:r>
              <a:rPr sz="1400" b="0" i="0">
                <a:solidFill>
                  <a:srgbClr val="5B6A60"/>
                </a:solidFill>
                <a:latin typeface="Calibri"/>
              </a:rPr>
              <a:t>Sizes finding 2</a:t>
            </a:r>
          </a:p>
        </p:txBody>
      </p:sp>
      <p:sp>
        <p:nvSpPr>
          <p:cNvPr id="18" name="Rounded Rectangle 17"/>
          <p:cNvSpPr/>
          <p:nvPr/>
        </p:nvSpPr>
        <p:spPr>
          <a:xfrm>
            <a:off x="6172200" y="393192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420624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20" name="TextBox 19"/>
          <p:cNvSpPr txBox="1"/>
          <p:nvPr/>
        </p:nvSpPr>
        <p:spPr>
          <a:xfrm>
            <a:off x="7178040" y="420624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Rename "Include hidden fields" and add a one-line explanation.</a:t>
            </a:r>
          </a:p>
        </p:txBody>
      </p:sp>
      <p:sp>
        <p:nvSpPr>
          <p:cNvPr id="21" name="TextBox 20"/>
          <p:cNvSpPr txBox="1"/>
          <p:nvPr/>
        </p:nvSpPr>
        <p:spPr>
          <a:xfrm>
            <a:off x="7178040" y="516636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Design</a:t>
            </a:r>
          </a:p>
          <a:p>
            <a:pPr algn="l">
              <a:lnSpc>
                <a:spcPct val="110000"/>
              </a:lnSpc>
              <a:spcBef>
                <a:spcPts val="700"/>
              </a:spcBef>
            </a:pPr>
            <a:r>
              <a:rPr sz="1400" b="0" i="0">
                <a:solidFill>
                  <a:srgbClr val="5B6A60"/>
                </a:solidFill>
                <a:latin typeface="Calibri"/>
              </a:rPr>
              <a:t>Fixes finding 4</a:t>
            </a:r>
          </a:p>
        </p:txBody>
      </p:sp>
      <p:sp>
        <p:nvSpPr>
          <p:cNvPr id="22" name="TextBox 21"/>
          <p:cNvSpPr txBox="1"/>
          <p:nvPr/>
        </p:nvSpPr>
        <p:spPr>
          <a:xfrm>
            <a:off x="640080" y="5989320"/>
            <a:ext cx="10881360" cy="320040"/>
          </a:xfrm>
          <a:prstGeom prst="rect">
            <a:avLst/>
          </a:prstGeom>
          <a:noFill/>
        </p:spPr>
        <p:txBody>
          <a:bodyPr wrap="square" anchor="t" lIns="0" rIns="0" tIns="0" bIns="0">
            <a:spAutoFit/>
          </a:bodyPr>
          <a:lstStyle/>
          <a:p>
            <a:pPr algn="l">
              <a:lnSpc>
                <a:spcPct val="110000"/>
              </a:lnSpc>
            </a:pPr>
            <a:r>
              <a:rPr sz="1400" b="0" i="0">
                <a:solidFill>
                  <a:srgbClr val="5B6A60"/>
                </a:solidFill>
                <a:latin typeface="Calibri"/>
              </a:rPr>
              <a:t>Who takes each one is for the teams to agree together.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HAPPENS NEXT</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team decides by October 30</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13</a:t>
            </a:r>
          </a:p>
        </p:txBody>
      </p:sp>
      <p:sp>
        <p:nvSpPr>
          <p:cNvPr id="6" name="Rectangle 5"/>
          <p:cNvSpPr/>
          <p:nvPr/>
        </p:nvSpPr>
        <p:spPr>
          <a:xfrm>
            <a:off x="822960" y="2212848"/>
            <a:ext cx="10607040" cy="1905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40080" y="2057400"/>
            <a:ext cx="347472" cy="347472"/>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651760"/>
            <a:ext cx="205740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24 Oct</a:t>
            </a:r>
          </a:p>
        </p:txBody>
      </p:sp>
      <p:sp>
        <p:nvSpPr>
          <p:cNvPr id="9" name="TextBox 8"/>
          <p:cNvSpPr txBox="1"/>
          <p:nvPr/>
        </p:nvSpPr>
        <p:spPr>
          <a:xfrm>
            <a:off x="640080" y="3200400"/>
            <a:ext cx="187452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Support counts the finance-team customers</a:t>
            </a:r>
          </a:p>
        </p:txBody>
      </p:sp>
      <p:sp>
        <p:nvSpPr>
          <p:cNvPr id="10" name="TextBox 9"/>
          <p:cNvSpPr txBox="1"/>
          <p:nvPr/>
        </p:nvSpPr>
        <p:spPr>
          <a:xfrm>
            <a:off x="640080" y="4206240"/>
            <a:ext cx="187452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So we know how big finding 2 is.</a:t>
            </a:r>
          </a:p>
        </p:txBody>
      </p:sp>
      <p:sp>
        <p:nvSpPr>
          <p:cNvPr id="11" name="Oval 10"/>
          <p:cNvSpPr/>
          <p:nvPr/>
        </p:nvSpPr>
        <p:spPr>
          <a:xfrm>
            <a:off x="2852928"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52928" y="2651760"/>
            <a:ext cx="205740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30 Oct</a:t>
            </a:r>
          </a:p>
        </p:txBody>
      </p:sp>
      <p:sp>
        <p:nvSpPr>
          <p:cNvPr id="13" name="TextBox 12"/>
          <p:cNvSpPr txBox="1"/>
          <p:nvPr/>
        </p:nvSpPr>
        <p:spPr>
          <a:xfrm>
            <a:off x="2852928" y="3200400"/>
            <a:ext cx="187452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The team decides</a:t>
            </a:r>
          </a:p>
        </p:txBody>
      </p:sp>
      <p:sp>
        <p:nvSpPr>
          <p:cNvPr id="14" name="TextBox 13"/>
          <p:cNvSpPr txBox="1"/>
          <p:nvPr/>
        </p:nvSpPr>
        <p:spPr>
          <a:xfrm>
            <a:off x="2852928" y="4206240"/>
            <a:ext cx="187452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Using this deck and the report.</a:t>
            </a:r>
          </a:p>
        </p:txBody>
      </p:sp>
      <p:sp>
        <p:nvSpPr>
          <p:cNvPr id="15" name="Oval 14"/>
          <p:cNvSpPr/>
          <p:nvPr/>
        </p:nvSpPr>
        <p:spPr>
          <a:xfrm>
            <a:off x="5065776"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65776" y="2651760"/>
            <a:ext cx="205740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November</a:t>
            </a:r>
          </a:p>
        </p:txBody>
      </p:sp>
      <p:sp>
        <p:nvSpPr>
          <p:cNvPr id="17" name="TextBox 16"/>
          <p:cNvSpPr txBox="1"/>
          <p:nvPr/>
        </p:nvSpPr>
        <p:spPr>
          <a:xfrm>
            <a:off x="5065776" y="3200400"/>
            <a:ext cx="187452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3 follow-up sessions</a:t>
            </a:r>
          </a:p>
        </p:txBody>
      </p:sp>
      <p:sp>
        <p:nvSpPr>
          <p:cNvPr id="18" name="TextBox 17"/>
          <p:cNvSpPr txBox="1"/>
          <p:nvPr/>
        </p:nvSpPr>
        <p:spPr>
          <a:xfrm>
            <a:off x="5065776" y="4206240"/>
            <a:ext cx="187452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With finance teams, if the import warning goes ahead.</a:t>
            </a:r>
          </a:p>
        </p:txBody>
      </p:sp>
      <p:sp>
        <p:nvSpPr>
          <p:cNvPr id="19" name="Oval 18"/>
          <p:cNvSpPr/>
          <p:nvPr/>
        </p:nvSpPr>
        <p:spPr>
          <a:xfrm>
            <a:off x="7278624"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78624" y="2651760"/>
            <a:ext cx="205740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January</a:t>
            </a:r>
          </a:p>
        </p:txBody>
      </p:sp>
      <p:sp>
        <p:nvSpPr>
          <p:cNvPr id="21" name="TextBox 20"/>
          <p:cNvSpPr txBox="1"/>
          <p:nvPr/>
        </p:nvSpPr>
        <p:spPr>
          <a:xfrm>
            <a:off x="7278624" y="3200400"/>
            <a:ext cx="187452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Check it worked</a:t>
            </a:r>
          </a:p>
        </p:txBody>
      </p:sp>
      <p:sp>
        <p:nvSpPr>
          <p:cNvPr id="22" name="TextBox 21"/>
          <p:cNvSpPr txBox="1"/>
          <p:nvPr/>
        </p:nvSpPr>
        <p:spPr>
          <a:xfrm>
            <a:off x="7278624" y="4206240"/>
            <a:ext cx="187452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Fewer exports abandoned after a recent import.</a:t>
            </a:r>
          </a:p>
        </p:txBody>
      </p:sp>
      <p:sp>
        <p:nvSpPr>
          <p:cNvPr id="23" name="Oval 22"/>
          <p:cNvSpPr/>
          <p:nvPr/>
        </p:nvSpPr>
        <p:spPr>
          <a:xfrm>
            <a:off x="9491472"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91472" y="2651760"/>
            <a:ext cx="205740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Later</a:t>
            </a:r>
          </a:p>
        </p:txBody>
      </p:sp>
      <p:sp>
        <p:nvSpPr>
          <p:cNvPr id="25" name="TextBox 24"/>
          <p:cNvSpPr txBox="1"/>
          <p:nvPr/>
        </p:nvSpPr>
        <p:spPr>
          <a:xfrm>
            <a:off x="9491472" y="3200400"/>
            <a:ext cx="187452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One open question</a:t>
            </a:r>
          </a:p>
        </p:txBody>
      </p:sp>
      <p:sp>
        <p:nvSpPr>
          <p:cNvPr id="26" name="TextBox 25"/>
          <p:cNvSpPr txBox="1"/>
          <p:nvPr/>
        </p:nvSpPr>
        <p:spPr>
          <a:xfrm>
            <a:off x="9491472" y="4206240"/>
            <a:ext cx="187452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Does the import problem affect scheduled reports too?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READ WITH CARE</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What this study can't tell us</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14</a:t>
            </a:r>
          </a:p>
        </p:txBody>
      </p:sp>
      <p:sp>
        <p:nvSpPr>
          <p:cNvPr id="6" name="TextBox 5"/>
          <p:cNvSpPr txBox="1"/>
          <p:nvPr/>
        </p:nvSpPr>
        <p:spPr>
          <a:xfrm>
            <a:off x="640080" y="1828800"/>
            <a:ext cx="6949440" cy="3840480"/>
          </a:xfrm>
          <a:prstGeom prst="rect">
            <a:avLst/>
          </a:prstGeom>
          <a:noFill/>
        </p:spPr>
        <p:txBody>
          <a:bodyPr wrap="square" anchor="t" lIns="0" rIns="0" tIns="0" bIns="0">
            <a:spAutoFit/>
          </a:bodyPr>
          <a:lstStyle/>
          <a:p>
            <a:pPr algn="l">
              <a:lnSpc>
                <a:spcPct val="120000"/>
              </a:lnSpc>
            </a:pPr>
            <a:r>
              <a:rPr sz="1800" b="1" i="0">
                <a:solidFill>
                  <a:srgbClr val="1F2A24"/>
                </a:solidFill>
                <a:latin typeface="Calibri"/>
              </a:rPr>
              <a:t>Who we spoke to. </a:t>
            </a:r>
            <a:r>
              <a:rPr sz="1800" b="0" i="0">
                <a:solidFill>
                  <a:srgbClr val="1F2A24"/>
                </a:solidFill>
                <a:latin typeface="Calibri"/>
              </a:rPr>
              <a:t>Customer Success helped find all 8 people. Customers who set up on their own may differ.</a:t>
            </a:r>
          </a:p>
          <a:p>
            <a:pPr algn="l">
              <a:lnSpc>
                <a:spcPct val="120000"/>
              </a:lnSpc>
              <a:spcBef>
                <a:spcPts val="900"/>
              </a:spcBef>
            </a:pPr>
            <a:r>
              <a:rPr sz="1800" b="1" i="0">
                <a:solidFill>
                  <a:srgbClr val="1F2A24"/>
                </a:solidFill>
                <a:latin typeface="Calibri"/>
              </a:rPr>
              <a:t>Finance teams. </a:t>
            </a:r>
            <a:r>
              <a:rPr sz="1800" b="0" i="0">
                <a:solidFill>
                  <a:srgbClr val="1F2A24"/>
                </a:solidFill>
                <a:latin typeface="Calibri"/>
              </a:rPr>
              <a:t>Only 2 of the 8, so finding 2 could be bigger or smaller than it looks.</a:t>
            </a:r>
          </a:p>
          <a:p>
            <a:pPr algn="l">
              <a:lnSpc>
                <a:spcPct val="120000"/>
              </a:lnSpc>
              <a:spcBef>
                <a:spcPts val="900"/>
              </a:spcBef>
            </a:pPr>
            <a:r>
              <a:rPr sz="1800" b="1" i="0">
                <a:solidFill>
                  <a:srgbClr val="1F2A24"/>
                </a:solidFill>
                <a:latin typeface="Calibri"/>
              </a:rPr>
              <a:t>How many. </a:t>
            </a:r>
            <a:r>
              <a:rPr sz="1800" b="0" i="0">
                <a:solidFill>
                  <a:srgbClr val="1F2A24"/>
                </a:solidFill>
                <a:latin typeface="Calibri"/>
              </a:rPr>
              <a:t>We didn't check the export numbers first, so we can't say what share of all customers hit finding 1.</a:t>
            </a:r>
          </a:p>
        </p:txBody>
      </p:sp>
      <p:sp>
        <p:nvSpPr>
          <p:cNvPr id="7" name="Rounded Rectangle 6"/>
          <p:cNvSpPr/>
          <p:nvPr/>
        </p:nvSpPr>
        <p:spPr>
          <a:xfrm>
            <a:off x="8138160" y="1828800"/>
            <a:ext cx="3429000" cy="21945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0" y="2103120"/>
            <a:ext cx="2880360" cy="1737360"/>
          </a:xfrm>
          <a:prstGeom prst="rect">
            <a:avLst/>
          </a:prstGeom>
          <a:noFill/>
        </p:spPr>
        <p:txBody>
          <a:bodyPr wrap="square" anchor="t" lIns="0" rIns="0" tIns="0" bIns="0">
            <a:spAutoFit/>
          </a:bodyPr>
          <a:lstStyle/>
          <a:p>
            <a:pPr algn="l">
              <a:lnSpc>
                <a:spcPct val="115000"/>
              </a:lnSpc>
            </a:pPr>
            <a:r>
              <a:rPr sz="1400" b="0" i="1">
                <a:solidFill>
                  <a:srgbClr val="5B6A60"/>
                </a:solidFill>
                <a:latin typeface="Calibri"/>
              </a:rPr>
              <a:t>Magpie drafted this slide and the researcher chose to keep it. The limits are in the report either 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APPENDIX</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Who we spoke to</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15</a:t>
            </a:r>
          </a:p>
        </p:txBody>
      </p:sp>
      <p:graphicFrame>
        <p:nvGraphicFramePr>
          <p:cNvPr id="6" name="Table 5"/>
          <p:cNvGraphicFramePr>
            <a:graphicFrameLocks noGrp="1"/>
          </p:cNvGraphicFramePr>
          <p:nvPr/>
        </p:nvGraphicFramePr>
        <p:xfrm>
          <a:off x="640080" y="1737360"/>
          <a:ext cx="8229600" cy="4206240"/>
        </p:xfrm>
        <a:graphic>
          <a:graphicData uri="http://schemas.openxmlformats.org/drawingml/2006/table">
            <a:tbl>
              <a:tblPr firstRow="1" bandRow="1">
                <a:tableStyleId>{5C22544A-7EE6-4342-B048-85BDC9FD1C3A}</a:tableStyleId>
              </a:tblPr>
              <a:tblGrid>
                <a:gridCol w="1097280"/>
                <a:gridCol w="3291840"/>
                <a:gridCol w="1463040"/>
                <a:gridCol w="2377440"/>
              </a:tblGrid>
              <a:tr h="467360">
                <a:tc>
                  <a:txBody>
                    <a:bodyPr/>
                    <a:lstStyle/>
                    <a:p>
                      <a:r>
                        <a:rPr sz="1500" b="1">
                          <a:solidFill>
                            <a:srgbClr val="FFFFFF"/>
                          </a:solidFill>
                          <a:latin typeface="Calibri"/>
                        </a:rPr>
                        <a:t>Code</a:t>
                      </a:r>
                    </a:p>
                  </a:txBody>
                  <a:tcPr>
                    <a:solidFill>
                      <a:srgbClr val="2C5F2D"/>
                    </a:solidFill>
                  </a:tcPr>
                </a:tc>
                <a:tc>
                  <a:txBody>
                    <a:bodyPr/>
                    <a:lstStyle/>
                    <a:p>
                      <a:r>
                        <a:rPr sz="1500" b="1">
                          <a:solidFill>
                            <a:srgbClr val="FFFFFF"/>
                          </a:solidFill>
                          <a:latin typeface="Calibri"/>
                        </a:rPr>
                        <a:t>Role</a:t>
                      </a:r>
                    </a:p>
                  </a:txBody>
                  <a:tcPr>
                    <a:solidFill>
                      <a:srgbClr val="2C5F2D"/>
                    </a:solidFill>
                  </a:tcPr>
                </a:tc>
                <a:tc>
                  <a:txBody>
                    <a:bodyPr/>
                    <a:lstStyle/>
                    <a:p>
                      <a:r>
                        <a:rPr sz="1500" b="1">
                          <a:solidFill>
                            <a:srgbClr val="FFFFFF"/>
                          </a:solidFill>
                          <a:latin typeface="Calibri"/>
                        </a:rPr>
                        <a:t>Seats</a:t>
                      </a:r>
                    </a:p>
                  </a:txBody>
                  <a:tcPr>
                    <a:solidFill>
                      <a:srgbClr val="2C5F2D"/>
                    </a:solidFill>
                  </a:tcPr>
                </a:tc>
                <a:tc>
                  <a:txBody>
                    <a:bodyPr/>
                    <a:lstStyle/>
                    <a:p>
                      <a:r>
                        <a:rPr sz="1500" b="1">
                          <a:solidFill>
                            <a:srgbClr val="FFFFFF"/>
                          </a:solidFill>
                          <a:latin typeface="Calibri"/>
                        </a:rPr>
                        <a:t>Team</a:t>
                      </a:r>
                    </a:p>
                  </a:txBody>
                  <a:tcPr>
                    <a:solidFill>
                      <a:srgbClr val="2C5F2D"/>
                    </a:solidFill>
                  </a:tcPr>
                </a:tc>
              </a:tr>
              <a:tr h="467360">
                <a:tc>
                  <a:txBody>
                    <a:bodyPr/>
                    <a:lstStyle/>
                    <a:p>
                      <a:r>
                        <a:rPr sz="1500" b="0">
                          <a:solidFill>
                            <a:srgbClr val="1F2A24"/>
                          </a:solidFill>
                          <a:latin typeface="Calibri"/>
                        </a:rPr>
                        <a:t>P1</a:t>
                      </a:r>
                    </a:p>
                  </a:txBody>
                  <a:tcPr>
                    <a:solidFill>
                      <a:srgbClr val="EEF3EC"/>
                    </a:solidFill>
                  </a:tcPr>
                </a:tc>
                <a:tc>
                  <a:txBody>
                    <a:bodyPr/>
                    <a:lstStyle/>
                    <a:p>
                      <a:r>
                        <a:rPr sz="1500" b="0">
                          <a:solidFill>
                            <a:srgbClr val="1F2A24"/>
                          </a:solidFill>
                          <a:latin typeface="Calibri"/>
                        </a:rPr>
                        <a:t>Operations manager</a:t>
                      </a:r>
                    </a:p>
                  </a:txBody>
                  <a:tcPr>
                    <a:solidFill>
                      <a:srgbClr val="EEF3EC"/>
                    </a:solidFill>
                  </a:tcPr>
                </a:tc>
                <a:tc>
                  <a:txBody>
                    <a:bodyPr/>
                    <a:lstStyle/>
                    <a:p>
                      <a:r>
                        <a:rPr sz="1500" b="0">
                          <a:solidFill>
                            <a:srgbClr val="1F2A24"/>
                          </a:solidFill>
                          <a:latin typeface="Calibri"/>
                        </a:rPr>
                        <a:t>80</a:t>
                      </a:r>
                    </a:p>
                  </a:txBody>
                  <a:tcPr>
                    <a:solidFill>
                      <a:srgbClr val="EEF3EC"/>
                    </a:solidFill>
                  </a:tcPr>
                </a:tc>
                <a:tc>
                  <a:txBody>
                    <a:bodyPr/>
                    <a:lstStyle/>
                    <a:p>
                      <a:r>
                        <a:rPr sz="1500" b="0">
                          <a:solidFill>
                            <a:srgbClr val="1F2A24"/>
                          </a:solidFill>
                          <a:latin typeface="Calibri"/>
                        </a:rPr>
                        <a:t>Operations</a:t>
                      </a:r>
                    </a:p>
                  </a:txBody>
                  <a:tcPr>
                    <a:solidFill>
                      <a:srgbClr val="EEF3EC"/>
                    </a:solidFill>
                  </a:tcPr>
                </a:tc>
              </a:tr>
              <a:tr h="467360">
                <a:tc>
                  <a:txBody>
                    <a:bodyPr/>
                    <a:lstStyle/>
                    <a:p>
                      <a:r>
                        <a:rPr sz="1500" b="0">
                          <a:solidFill>
                            <a:srgbClr val="1F2A24"/>
                          </a:solidFill>
                          <a:latin typeface="Calibri"/>
                        </a:rPr>
                        <a:t>P2</a:t>
                      </a:r>
                    </a:p>
                  </a:txBody>
                  <a:tcPr>
                    <a:solidFill>
                      <a:srgbClr val="FFFFFF"/>
                    </a:solidFill>
                  </a:tcPr>
                </a:tc>
                <a:tc>
                  <a:txBody>
                    <a:bodyPr/>
                    <a:lstStyle/>
                    <a:p>
                      <a:r>
                        <a:rPr sz="1500" b="0">
                          <a:solidFill>
                            <a:srgbClr val="1F2A24"/>
                          </a:solidFill>
                          <a:latin typeface="Calibri"/>
                        </a:rPr>
                        <a:t>Office manager</a:t>
                      </a:r>
                    </a:p>
                  </a:txBody>
                  <a:tcPr>
                    <a:solidFill>
                      <a:srgbClr val="FFFFFF"/>
                    </a:solidFill>
                  </a:tcPr>
                </a:tc>
                <a:tc>
                  <a:txBody>
                    <a:bodyPr/>
                    <a:lstStyle/>
                    <a:p>
                      <a:r>
                        <a:rPr sz="1500" b="0">
                          <a:solidFill>
                            <a:srgbClr val="1F2A24"/>
                          </a:solidFill>
                          <a:latin typeface="Calibri"/>
                        </a:rPr>
                        <a:t>60</a:t>
                      </a:r>
                    </a:p>
                  </a:txBody>
                  <a:tcPr>
                    <a:solidFill>
                      <a:srgbClr val="FFFFFF"/>
                    </a:solidFill>
                  </a:tcPr>
                </a:tc>
                <a:tc>
                  <a:txBody>
                    <a:bodyPr/>
                    <a:lstStyle/>
                    <a:p>
                      <a:r>
                        <a:rPr sz="1500" b="0">
                          <a:solidFill>
                            <a:srgbClr val="1F2A24"/>
                          </a:solidFill>
                          <a:latin typeface="Calibri"/>
                        </a:rPr>
                        <a:t>Operations</a:t>
                      </a:r>
                    </a:p>
                  </a:txBody>
                  <a:tcPr>
                    <a:solidFill>
                      <a:srgbClr val="FFFFFF"/>
                    </a:solidFill>
                  </a:tcPr>
                </a:tc>
              </a:tr>
              <a:tr h="467360">
                <a:tc>
                  <a:txBody>
                    <a:bodyPr/>
                    <a:lstStyle/>
                    <a:p>
                      <a:r>
                        <a:rPr sz="1500" b="0">
                          <a:solidFill>
                            <a:srgbClr val="1F2A24"/>
                          </a:solidFill>
                          <a:latin typeface="Calibri"/>
                        </a:rPr>
                        <a:t>P3</a:t>
                      </a:r>
                    </a:p>
                  </a:txBody>
                  <a:tcPr>
                    <a:solidFill>
                      <a:srgbClr val="EEF3EC"/>
                    </a:solidFill>
                  </a:tcPr>
                </a:tc>
                <a:tc>
                  <a:txBody>
                    <a:bodyPr/>
                    <a:lstStyle/>
                    <a:p>
                      <a:r>
                        <a:rPr sz="1500" b="0">
                          <a:solidFill>
                            <a:srgbClr val="1F2A24"/>
                          </a:solidFill>
                          <a:latin typeface="Calibri"/>
                        </a:rPr>
                        <a:t>Operations analyst</a:t>
                      </a:r>
                    </a:p>
                  </a:txBody>
                  <a:tcPr>
                    <a:solidFill>
                      <a:srgbClr val="EEF3EC"/>
                    </a:solidFill>
                  </a:tcPr>
                </a:tc>
                <a:tc>
                  <a:txBody>
                    <a:bodyPr/>
                    <a:lstStyle/>
                    <a:p>
                      <a:r>
                        <a:rPr sz="1500" b="0">
                          <a:solidFill>
                            <a:srgbClr val="1F2A24"/>
                          </a:solidFill>
                          <a:latin typeface="Calibri"/>
                        </a:rPr>
                        <a:t>120</a:t>
                      </a:r>
                    </a:p>
                  </a:txBody>
                  <a:tcPr>
                    <a:solidFill>
                      <a:srgbClr val="EEF3EC"/>
                    </a:solidFill>
                  </a:tcPr>
                </a:tc>
                <a:tc>
                  <a:txBody>
                    <a:bodyPr/>
                    <a:lstStyle/>
                    <a:p>
                      <a:r>
                        <a:rPr sz="1500" b="0">
                          <a:solidFill>
                            <a:srgbClr val="1F2A24"/>
                          </a:solidFill>
                          <a:latin typeface="Calibri"/>
                        </a:rPr>
                        <a:t>Operations</a:t>
                      </a:r>
                    </a:p>
                  </a:txBody>
                  <a:tcPr>
                    <a:solidFill>
                      <a:srgbClr val="EEF3EC"/>
                    </a:solidFill>
                  </a:tcPr>
                </a:tc>
              </a:tr>
              <a:tr h="467360">
                <a:tc>
                  <a:txBody>
                    <a:bodyPr/>
                    <a:lstStyle/>
                    <a:p>
                      <a:r>
                        <a:rPr sz="1500" b="0">
                          <a:solidFill>
                            <a:srgbClr val="1F2A24"/>
                          </a:solidFill>
                          <a:latin typeface="Calibri"/>
                        </a:rPr>
                        <a:t>P4</a:t>
                      </a:r>
                    </a:p>
                  </a:txBody>
                  <a:tcPr>
                    <a:solidFill>
                      <a:srgbClr val="FFFFFF"/>
                    </a:solidFill>
                  </a:tcPr>
                </a:tc>
                <a:tc>
                  <a:txBody>
                    <a:bodyPr/>
                    <a:lstStyle/>
                    <a:p>
                      <a:r>
                        <a:rPr sz="1500" b="0">
                          <a:solidFill>
                            <a:srgbClr val="1F2A24"/>
                          </a:solidFill>
                          <a:latin typeface="Calibri"/>
                        </a:rPr>
                        <a:t>Reporting lead</a:t>
                      </a:r>
                    </a:p>
                  </a:txBody>
                  <a:tcPr>
                    <a:solidFill>
                      <a:srgbClr val="FFFFFF"/>
                    </a:solidFill>
                  </a:tcPr>
                </a:tc>
                <a:tc>
                  <a:txBody>
                    <a:bodyPr/>
                    <a:lstStyle/>
                    <a:p>
                      <a:r>
                        <a:rPr sz="1500" b="0">
                          <a:solidFill>
                            <a:srgbClr val="1F2A24"/>
                          </a:solidFill>
                          <a:latin typeface="Calibri"/>
                        </a:rPr>
                        <a:t>310</a:t>
                      </a:r>
                    </a:p>
                  </a:txBody>
                  <a:tcPr>
                    <a:solidFill>
                      <a:srgbClr val="FFFFFF"/>
                    </a:solidFill>
                  </a:tcPr>
                </a:tc>
                <a:tc>
                  <a:txBody>
                    <a:bodyPr/>
                    <a:lstStyle/>
                    <a:p>
                      <a:r>
                        <a:rPr sz="1500" b="0">
                          <a:solidFill>
                            <a:srgbClr val="1F2A24"/>
                          </a:solidFill>
                          <a:latin typeface="Calibri"/>
                        </a:rPr>
                        <a:t>Reporting</a:t>
                      </a:r>
                    </a:p>
                  </a:txBody>
                  <a:tcPr>
                    <a:solidFill>
                      <a:srgbClr val="FFFFFF"/>
                    </a:solidFill>
                  </a:tcPr>
                </a:tc>
              </a:tr>
              <a:tr h="467360">
                <a:tc>
                  <a:txBody>
                    <a:bodyPr/>
                    <a:lstStyle/>
                    <a:p>
                      <a:r>
                        <a:rPr sz="1500" b="0">
                          <a:solidFill>
                            <a:srgbClr val="1F2A24"/>
                          </a:solidFill>
                          <a:latin typeface="Calibri"/>
                        </a:rPr>
                        <a:t>P5</a:t>
                      </a:r>
                    </a:p>
                  </a:txBody>
                  <a:tcPr>
                    <a:solidFill>
                      <a:srgbClr val="EEF3EC"/>
                    </a:solidFill>
                  </a:tcPr>
                </a:tc>
                <a:tc>
                  <a:txBody>
                    <a:bodyPr/>
                    <a:lstStyle/>
                    <a:p>
                      <a:r>
                        <a:rPr sz="1500" b="0">
                          <a:solidFill>
                            <a:srgbClr val="1F2A24"/>
                          </a:solidFill>
                          <a:latin typeface="Calibri"/>
                        </a:rPr>
                        <a:t>Finance analyst</a:t>
                      </a:r>
                    </a:p>
                  </a:txBody>
                  <a:tcPr>
                    <a:solidFill>
                      <a:srgbClr val="EEF3EC"/>
                    </a:solidFill>
                  </a:tcPr>
                </a:tc>
                <a:tc>
                  <a:txBody>
                    <a:bodyPr/>
                    <a:lstStyle/>
                    <a:p>
                      <a:r>
                        <a:rPr sz="1500" b="0">
                          <a:solidFill>
                            <a:srgbClr val="1F2A24"/>
                          </a:solidFill>
                          <a:latin typeface="Calibri"/>
                        </a:rPr>
                        <a:t>200</a:t>
                      </a:r>
                    </a:p>
                  </a:txBody>
                  <a:tcPr>
                    <a:solidFill>
                      <a:srgbClr val="EEF3EC"/>
                    </a:solidFill>
                  </a:tcPr>
                </a:tc>
                <a:tc>
                  <a:txBody>
                    <a:bodyPr/>
                    <a:lstStyle/>
                    <a:p>
                      <a:r>
                        <a:rPr sz="1500" b="0">
                          <a:solidFill>
                            <a:srgbClr val="1F2A24"/>
                          </a:solidFill>
                          <a:latin typeface="Calibri"/>
                        </a:rPr>
                        <a:t>Finance</a:t>
                      </a:r>
                    </a:p>
                  </a:txBody>
                  <a:tcPr>
                    <a:solidFill>
                      <a:srgbClr val="EEF3EC"/>
                    </a:solidFill>
                  </a:tcPr>
                </a:tc>
              </a:tr>
              <a:tr h="467360">
                <a:tc>
                  <a:txBody>
                    <a:bodyPr/>
                    <a:lstStyle/>
                    <a:p>
                      <a:r>
                        <a:rPr sz="1500" b="0">
                          <a:solidFill>
                            <a:srgbClr val="1F2A24"/>
                          </a:solidFill>
                          <a:latin typeface="Calibri"/>
                        </a:rPr>
                        <a:t>P6</a:t>
                      </a:r>
                    </a:p>
                  </a:txBody>
                  <a:tcPr>
                    <a:solidFill>
                      <a:srgbClr val="FFFFFF"/>
                    </a:solidFill>
                  </a:tcPr>
                </a:tc>
                <a:tc>
                  <a:txBody>
                    <a:bodyPr/>
                    <a:lstStyle/>
                    <a:p>
                      <a:r>
                        <a:rPr sz="1500" b="0">
                          <a:solidFill>
                            <a:srgbClr val="1F2A24"/>
                          </a:solidFill>
                          <a:latin typeface="Calibri"/>
                        </a:rPr>
                        <a:t>Account manager</a:t>
                      </a:r>
                    </a:p>
                  </a:txBody>
                  <a:tcPr>
                    <a:solidFill>
                      <a:srgbClr val="FFFFFF"/>
                    </a:solidFill>
                  </a:tcPr>
                </a:tc>
                <a:tc>
                  <a:txBody>
                    <a:bodyPr/>
                    <a:lstStyle/>
                    <a:p>
                      <a:r>
                        <a:rPr sz="1500" b="0">
                          <a:solidFill>
                            <a:srgbClr val="1F2A24"/>
                          </a:solidFill>
                          <a:latin typeface="Calibri"/>
                        </a:rPr>
                        <a:t>95</a:t>
                      </a:r>
                    </a:p>
                  </a:txBody>
                  <a:tcPr>
                    <a:solidFill>
                      <a:srgbClr val="FFFFFF"/>
                    </a:solidFill>
                  </a:tcPr>
                </a:tc>
                <a:tc>
                  <a:txBody>
                    <a:bodyPr/>
                    <a:lstStyle/>
                    <a:p>
                      <a:r>
                        <a:rPr sz="1500" b="0">
                          <a:solidFill>
                            <a:srgbClr val="1F2A24"/>
                          </a:solidFill>
                          <a:latin typeface="Calibri"/>
                        </a:rPr>
                        <a:t>Sales</a:t>
                      </a:r>
                    </a:p>
                  </a:txBody>
                  <a:tcPr>
                    <a:solidFill>
                      <a:srgbClr val="FFFFFF"/>
                    </a:solidFill>
                  </a:tcPr>
                </a:tc>
              </a:tr>
              <a:tr h="467360">
                <a:tc>
                  <a:txBody>
                    <a:bodyPr/>
                    <a:lstStyle/>
                    <a:p>
                      <a:r>
                        <a:rPr sz="1500" b="0">
                          <a:solidFill>
                            <a:srgbClr val="1F2A24"/>
                          </a:solidFill>
                          <a:latin typeface="Calibri"/>
                        </a:rPr>
                        <a:t>P7</a:t>
                      </a:r>
                    </a:p>
                  </a:txBody>
                  <a:tcPr>
                    <a:solidFill>
                      <a:srgbClr val="EEF3EC"/>
                    </a:solidFill>
                  </a:tcPr>
                </a:tc>
                <a:tc>
                  <a:txBody>
                    <a:bodyPr/>
                    <a:lstStyle/>
                    <a:p>
                      <a:r>
                        <a:rPr sz="1500" b="0">
                          <a:solidFill>
                            <a:srgbClr val="1F2A24"/>
                          </a:solidFill>
                          <a:latin typeface="Calibri"/>
                        </a:rPr>
                        <a:t>Finance controller</a:t>
                      </a:r>
                    </a:p>
                  </a:txBody>
                  <a:tcPr>
                    <a:solidFill>
                      <a:srgbClr val="EEF3EC"/>
                    </a:solidFill>
                  </a:tcPr>
                </a:tc>
                <a:tc>
                  <a:txBody>
                    <a:bodyPr/>
                    <a:lstStyle/>
                    <a:p>
                      <a:r>
                        <a:rPr sz="1500" b="0">
                          <a:solidFill>
                            <a:srgbClr val="1F2A24"/>
                          </a:solidFill>
                          <a:latin typeface="Calibri"/>
                        </a:rPr>
                        <a:t>450</a:t>
                      </a:r>
                    </a:p>
                  </a:txBody>
                  <a:tcPr>
                    <a:solidFill>
                      <a:srgbClr val="EEF3EC"/>
                    </a:solidFill>
                  </a:tcPr>
                </a:tc>
                <a:tc>
                  <a:txBody>
                    <a:bodyPr/>
                    <a:lstStyle/>
                    <a:p>
                      <a:r>
                        <a:rPr sz="1500" b="0">
                          <a:solidFill>
                            <a:srgbClr val="1F2A24"/>
                          </a:solidFill>
                          <a:latin typeface="Calibri"/>
                        </a:rPr>
                        <a:t>Finance</a:t>
                      </a:r>
                    </a:p>
                  </a:txBody>
                  <a:tcPr>
                    <a:solidFill>
                      <a:srgbClr val="EEF3EC"/>
                    </a:solidFill>
                  </a:tcPr>
                </a:tc>
              </a:tr>
              <a:tr h="467360">
                <a:tc>
                  <a:txBody>
                    <a:bodyPr/>
                    <a:lstStyle/>
                    <a:p>
                      <a:r>
                        <a:rPr sz="1500" b="0">
                          <a:solidFill>
                            <a:srgbClr val="1F2A24"/>
                          </a:solidFill>
                          <a:latin typeface="Calibri"/>
                        </a:rPr>
                        <a:t>P8</a:t>
                      </a:r>
                    </a:p>
                  </a:txBody>
                  <a:tcPr>
                    <a:solidFill>
                      <a:srgbClr val="FFFFFF"/>
                    </a:solidFill>
                  </a:tcPr>
                </a:tc>
                <a:tc>
                  <a:txBody>
                    <a:bodyPr/>
                    <a:lstStyle/>
                    <a:p>
                      <a:r>
                        <a:rPr sz="1500" b="0">
                          <a:solidFill>
                            <a:srgbClr val="1F2A24"/>
                          </a:solidFill>
                          <a:latin typeface="Calibri"/>
                        </a:rPr>
                        <a:t>Data analyst</a:t>
                      </a:r>
                    </a:p>
                  </a:txBody>
                  <a:tcPr>
                    <a:solidFill>
                      <a:srgbClr val="FFFFFF"/>
                    </a:solidFill>
                  </a:tcPr>
                </a:tc>
                <a:tc>
                  <a:txBody>
                    <a:bodyPr/>
                    <a:lstStyle/>
                    <a:p>
                      <a:r>
                        <a:rPr sz="1500" b="0">
                          <a:solidFill>
                            <a:srgbClr val="1F2A24"/>
                          </a:solidFill>
                          <a:latin typeface="Calibri"/>
                        </a:rPr>
                        <a:t>150</a:t>
                      </a:r>
                    </a:p>
                  </a:txBody>
                  <a:tcPr>
                    <a:solidFill>
                      <a:srgbClr val="FFFFFF"/>
                    </a:solidFill>
                  </a:tcPr>
                </a:tc>
                <a:tc>
                  <a:txBody>
                    <a:bodyPr/>
                    <a:lstStyle/>
                    <a:p>
                      <a:r>
                        <a:rPr sz="1500" b="0">
                          <a:solidFill>
                            <a:srgbClr val="1F2A24"/>
                          </a:solidFill>
                          <a:latin typeface="Calibri"/>
                        </a:rPr>
                        <a:t>Reporting</a:t>
                      </a:r>
                    </a:p>
                  </a:txBody>
                  <a:tcP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APPENDIX</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How AI was used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16</a:t>
            </a:r>
          </a:p>
        </p:txBody>
      </p:sp>
      <p:sp>
        <p:nvSpPr>
          <p:cNvPr id="6" name="TextBox 5"/>
          <p:cNvSpPr txBox="1"/>
          <p:nvPr/>
        </p:nvSpPr>
        <p:spPr>
          <a:xfrm>
            <a:off x="640080" y="1828800"/>
            <a:ext cx="10515600" cy="4206240"/>
          </a:xfrm>
          <a:prstGeom prst="rect">
            <a:avLst/>
          </a:prstGeom>
          <a:noFill/>
        </p:spPr>
        <p:txBody>
          <a:bodyPr wrap="square" anchor="t" lIns="0" rIns="0" tIns="0" bIns="0">
            <a:spAutoFit/>
          </a:bodyPr>
          <a:lstStyle/>
          <a:p>
            <a:pPr algn="l">
              <a:lnSpc>
                <a:spcPct val="120000"/>
              </a:lnSpc>
            </a:pPr>
            <a:r>
              <a:rPr sz="1800" b="1" i="0">
                <a:solidFill>
                  <a:srgbClr val="1F2A24"/>
                </a:solidFill>
                <a:latin typeface="Calibri"/>
              </a:rPr>
              <a:t>Magpie, an AI research assistant, </a:t>
            </a:r>
            <a:r>
              <a:rPr sz="1800" b="0" i="0">
                <a:solidFill>
                  <a:srgbClr val="1F2A24"/>
                </a:solidFill>
                <a:latin typeface="Calibri"/>
              </a:rPr>
              <a:t>drafted the plan, the interview guide, the findings, the report and this deck.</a:t>
            </a:r>
          </a:p>
          <a:p>
            <a:pPr algn="l">
              <a:lnSpc>
                <a:spcPct val="120000"/>
              </a:lnSpc>
              <a:spcBef>
                <a:spcPts val="900"/>
              </a:spcBef>
            </a:pPr>
            <a:r>
              <a:rPr sz="1800" b="1" i="0">
                <a:solidFill>
                  <a:srgbClr val="1F2A24"/>
                </a:solidFill>
                <a:latin typeface="Calibri"/>
              </a:rPr>
              <a:t>The researcher </a:t>
            </a:r>
            <a:r>
              <a:rPr sz="1800" b="0" i="0">
                <a:solidFill>
                  <a:srgbClr val="1F2A24"/>
                </a:solidFill>
                <a:latin typeface="Calibri"/>
              </a:rPr>
              <a:t>ran every session, noted their own patterns before seeing Magpie's, decided on each finding, and wrote the recommendations. They reviewed the findings on October 12 and this deck on October 14.</a:t>
            </a:r>
          </a:p>
          <a:p>
            <a:pPr algn="l">
              <a:lnSpc>
                <a:spcPct val="120000"/>
              </a:lnSpc>
              <a:spcBef>
                <a:spcPts val="900"/>
              </a:spcBef>
            </a:pPr>
            <a:r>
              <a:rPr sz="1800" b="1" i="0">
                <a:solidFill>
                  <a:srgbClr val="1F2A24"/>
                </a:solidFill>
                <a:latin typeface="Calibri"/>
              </a:rPr>
              <a:t>Checks: </a:t>
            </a:r>
            <a:r>
              <a:rPr sz="1800" b="0" i="0">
                <a:solidFill>
                  <a:srgbClr val="1F2A24"/>
                </a:solidFill>
                <a:latin typeface="Calibri"/>
              </a:rPr>
              <a:t>quotes and counts were checked by code against the transcripts. A separate AI reviewer raised 11 points, and 8 changed the findings. That reviewer can be wrong too.</a:t>
            </a:r>
          </a:p>
          <a:p>
            <a:pPr algn="l">
              <a:lnSpc>
                <a:spcPct val="120000"/>
              </a:lnSpc>
              <a:spcBef>
                <a:spcPts val="900"/>
              </a:spcBef>
            </a:pPr>
            <a:r>
              <a:rPr sz="1800" b="1" i="0">
                <a:solidFill>
                  <a:srgbClr val="1F2A24"/>
                </a:solidFill>
                <a:latin typeface="Calibri"/>
              </a:rPr>
              <a:t>Transcripts </a:t>
            </a:r>
            <a:r>
              <a:rPr sz="1800" b="0" i="0">
                <a:solidFill>
                  <a:srgbClr val="1F2A24"/>
                </a:solidFill>
                <a:latin typeface="Calibri"/>
              </a:rPr>
              <a:t>came from the video tool, and the researcher corrected them against the recordings.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