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21"/>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9ffb9a-cbb3-6791-ce7b-92c1284be3ba}">
          <p14:sldIdLst>
            <p14:sldId id="256"/>
            <p14:sldId id="257"/>
            <p14:sldId id="258"/>
          </p14:sldIdLst>
        </p14:section>
        <p14:section name="Findings" id="{bbd0d3b6-ec34-309f-44d3-850c571e6aa1}">
          <p14:sldIdLst>
            <p14:sldId id="259"/>
            <p14:sldId id="260"/>
            <p14:sldId id="261"/>
            <p14:sldId id="262"/>
            <p14:sldId id="263"/>
            <p14:sldId id="264"/>
          </p14:sldIdLst>
        </p14:section>
        <p14:section name="What it means" id="{372057f4-8926-8178-0f91-170f32e391e6}">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In every case the account’s import mapping had skipped those columns. We checked in the admin view during the session. P2 and P5 exported fine. Both had CS run their import for them. A new dialog wouldn’t have helped five of the six who abandoned. The fix is earlier in the journey, and belongs to a different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P5 and P7 need a fixed column order the export can’t produce. Both tried twice. The other six had no column-order need. This may be a segment problem, not a general one. A small group is fully blocked. Size it before deciding: Support can count the finance-team customers who’ve raised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Described unprompted. The export funnel shows a completion; the real work then happens in email. P2 and P5 reported no workaround; P2 exports rarely. The 212 tickets understate the problem. Most people route around it without telling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Nobody could say what a hidden field was. We didn’t test alternative labels. P8 used it correctly, having read the help article. A cheap labelling fix inside the dialog. Not why people abandon, but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8046720" cy="274320"/>
          </a:xfrm>
          <a:prstGeom prst="rect">
            <a:avLst/>
          </a:prstGeom>
          <a:noFill/>
          <a:ln/>
        </p:spPr>
        <p:txBody>
          <a:bodyPr wrap="square" rtlCol="0"/>
          <a:lstStyle>
            <a:lvl1pPr indent="0" marL="0">
              <a:buNone/>
              <a:defRPr lang="en-US" sz="1050" b="1" spc="200" kern="0" dirty="0">
                <a:solidFill>
                  <a:schemeClr val="accent2"/>
                </a:solidFill>
              </a:defRPr>
            </a:lvl1pPr>
          </a:lstStyle>
          <a:p>
            <a:pPr indent="0" marL="0">
              <a:buNone/>
            </a:pPr>
            <a:endParaRPr lang="en-US" sz="1050" dirty="0"/>
          </a:p>
        </p:txBody>
      </p:sp>
      <p:sp>
        <p:nvSpPr>
          <p:cNvPr id="3" name="Text 0"/>
          <p:cNvSpPr/>
          <p:nvPr>
            <p:ph idx="101" type="title" hasCustomPrompt="1"/>
          </p:nvPr>
        </p:nvSpPr>
        <p:spPr>
          <a:xfrm>
            <a:off x="548640" y="1691640"/>
            <a:ext cx="8046720" cy="11887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2971800"/>
            <a:ext cx="8046720" cy="146304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5" name="Text 0"/>
          <p:cNvSpPr/>
          <p:nvPr/>
        </p:nvSpPr>
        <p:spPr>
          <a:xfrm>
            <a:off x="548640" y="470916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Fictional example · Magpie readout template</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rtlCol="0"/>
          <a:lstStyle>
            <a:lvl1pPr indent="0" marL="0">
              <a:buNone/>
              <a:defRPr lang="en-US" sz="1050" b="1" spc="200" kern="0" dirty="0">
                <a:solidFill>
                  <a:schemeClr val="accent4"/>
                </a:solidFill>
              </a:defRPr>
            </a:lvl1pPr>
          </a:lstStyle>
          <a:p>
            <a:pPr indent="0" marL="0">
              <a:buNone/>
            </a:pP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4" name="Text 0"/>
          <p:cNvSpPr/>
          <p:nvPr/>
        </p:nvSpPr>
        <p:spPr>
          <a:xfrm>
            <a:off x="548640" y="4754880"/>
            <a:ext cx="6400800" cy="274320"/>
          </a:xfrm>
          <a:prstGeom prst="rect">
            <a:avLst/>
          </a:prstGeom>
          <a:noFill/>
          <a:ln/>
        </p:spPr>
        <p:txBody>
          <a:bodyPr wrap="square" lIns="0" tIns="0" rIns="0" bIns="0" rtlCol="0" anchor="ctr"/>
          <a:lstStyle/>
          <a:p>
            <a:pPr indent="0" marL="0">
              <a:buNone/>
            </a:pPr>
            <a:r>
              <a:rPr lang="en-US" sz="900" dirty="0">
                <a:solidFill>
                  <a:schemeClr val="accent4"/>
                </a:solidFill>
              </a:rPr>
              <a:t>Fictional example · Magpie readout template</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8046720" cy="274320"/>
          </a:xfrm>
          <a:prstGeom prst="rect">
            <a:avLst/>
          </a:prstGeom>
          <a:noFill/>
          <a:ln/>
        </p:spPr>
        <p:txBody>
          <a:bodyPr wrap="square" lIns="0" tIns="0" rIns="0" bIns="0" rtlCol="0" anchor="b"/>
          <a:lstStyle/>
          <a:p>
            <a:pPr indent="0" marL="0">
              <a:buNone/>
            </a:pPr>
            <a:r>
              <a:rPr lang="en-US" sz="1050" b="1" spc="200" kern="0" dirty="0">
                <a:solidFill>
                  <a:schemeClr val="accent2"/>
                </a:solidFill>
              </a:rPr>
              <a:t>UX RESEARCH READOUT</a:t>
            </a:r>
            <a:endParaRPr lang="en-US" sz="1050" dirty="0"/>
          </a:p>
        </p:txBody>
      </p:sp>
      <p:sp>
        <p:nvSpPr>
          <p:cNvPr id="3" name="Text 0"/>
          <p:cNvSpPr/>
          <p:nvPr>
            <p:ph idx="101" type="title" hasCustomPrompt="1"/>
          </p:nvPr>
        </p:nvSpPr>
        <p:spPr>
          <a:xfrm>
            <a:off x="548640" y="169164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Fix import before rebuilding the export dialog</a:t>
            </a:r>
            <a:endParaRPr lang="en-US" sz="3400" dirty="0"/>
          </a:p>
        </p:txBody>
      </p:sp>
      <p:sp>
        <p:nvSpPr>
          <p:cNvPr id="4" name="Text 0"/>
          <p:cNvSpPr/>
          <p:nvPr>
            <p:ph idx="102" type="body" hasCustomPrompt="1"/>
          </p:nvPr>
        </p:nvSpPr>
        <p:spPr>
          <a:xfrm>
            <a:off x="548640" y="2971800"/>
            <a:ext cx="8046720" cy="1463040"/>
          </a:xfrm>
          <a:prstGeom prst="rect">
            <a:avLst/>
          </a:prstGeom>
          <a:noFill/>
          <a:ln/>
        </p:spPr>
        <p:txBody>
          <a:bodyPr wrap="square" lIns="0" tIns="0" rIns="0" bIns="0" rtlCol="0" anchor="t"/>
          <a:lstStyle/>
          <a:p>
            <a:pPr indent="0" marL="0">
              <a:buNone/>
            </a:pPr>
            <a:r>
              <a:rPr lang="en-US" sz="1600" dirty="0">
                <a:solidFill>
                  <a:schemeClr val="bg2"/>
                </a:solidFill>
              </a:rPr>
              <a:t>Readout · 14 October 2026</a:t>
            </a:r>
            <a:endParaRPr lang="en-US" sz="1600" dirty="0"/>
          </a:p>
          <a:p>
            <a:pPr indent="0" marL="0">
              <a:buNone/>
            </a:pPr>
            <a:r>
              <a:rPr lang="en-US" sz="1600" dirty="0">
                <a:solidFill>
                  <a:schemeClr val="bg2"/>
                </a:solidFill>
              </a:rPr>
              <a:t>Priya Nair, UX Research · Decision owner: Sam Okafor, PM Reporting</a:t>
            </a:r>
            <a:endParaRPr lang="en-US" sz="1600" dirty="0"/>
          </a:p>
          <a:p>
            <a:pPr indent="0" marL="0">
              <a:buNone/>
            </a:pPr>
            <a:r>
              <a:rPr lang="en-US" sz="1600" dirty="0">
                <a:solidFill>
                  <a:schemeClr val="bg2"/>
                </a:solidFill>
              </a:rPr>
              <a:t>8 sessions · 6 to 10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CONTEXT</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We studied export to decide where Q1 engineering time goes</a:t>
            </a:r>
            <a:endParaRPr lang="en-US" sz="2600" dirty="0"/>
          </a:p>
        </p:txBody>
      </p:sp>
      <p:sp>
        <p:nvSpPr>
          <p:cNvPr id="4" name="Shape 2"/>
          <p:cNvSpPr/>
          <p:nvPr/>
        </p:nvSpPr>
        <p:spPr>
          <a:xfrm>
            <a:off x="548640" y="1389888"/>
            <a:ext cx="329184" cy="329184"/>
          </a:xfrm>
          <a:prstGeom prst="ellipse">
            <a:avLst/>
          </a:prstGeom>
          <a:solidFill>
            <a:schemeClr val="accent2"/>
          </a:solidFill>
          <a:ln/>
        </p:spPr>
      </p:sp>
      <p:sp>
        <p:nvSpPr>
          <p:cNvPr id="5" name="Text 3"/>
          <p:cNvSpPr txBox="1"/>
          <p:nvPr/>
        </p:nvSpPr>
        <p:spPr>
          <a:xfrm>
            <a:off x="548640" y="138988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6" name="Text 4"/>
          <p:cNvSpPr txBox="1"/>
          <p:nvPr/>
        </p:nvSpPr>
        <p:spPr>
          <a:xfrm>
            <a:off x="1051560" y="1371600"/>
            <a:ext cx="2103120" cy="548640"/>
          </a:xfrm>
          <a:prstGeom prst="rect">
            <a:avLst/>
          </a:prstGeom>
          <a:noFill/>
          <a:ln/>
        </p:spPr>
        <p:txBody>
          <a:bodyPr wrap="square" lIns="0" tIns="0" rIns="0" bIns="0" rtlCol="0" anchor="t"/>
          <a:lstStyle/>
          <a:p>
            <a:pPr indent="0" marL="0">
              <a:buNone/>
            </a:pPr>
            <a:r>
              <a:rPr lang="en-US" sz="1400" b="1" dirty="0">
                <a:solidFill>
                  <a:schemeClr val="tx2"/>
                </a:solidFill>
              </a:rPr>
              <a:t>The decision</a:t>
            </a:r>
            <a:endParaRPr lang="en-US" sz="1400" dirty="0"/>
          </a:p>
        </p:txBody>
      </p:sp>
      <p:sp>
        <p:nvSpPr>
          <p:cNvPr id="7" name="Text 5"/>
          <p:cNvSpPr txBox="1"/>
          <p:nvPr/>
        </p:nvSpPr>
        <p:spPr>
          <a:xfrm>
            <a:off x="3246120" y="1380744"/>
            <a:ext cx="5349240" cy="585216"/>
          </a:xfrm>
          <a:prstGeom prst="rect">
            <a:avLst/>
          </a:prstGeom>
          <a:noFill/>
          <a:ln/>
        </p:spPr>
        <p:txBody>
          <a:bodyPr wrap="square" lIns="0" tIns="0" rIns="0" bIns="0" rtlCol="0" anchor="t"/>
          <a:lstStyle/>
          <a:p>
            <a:pPr indent="0" marL="0">
              <a:buNone/>
            </a:pPr>
            <a:r>
              <a:rPr lang="en-US" sz="1250" dirty="0">
                <a:solidFill>
                  <a:schemeClr val="tx1"/>
                </a:solidFill>
              </a:rPr>
              <a:t>Sam decides by 30 October whether Q1 goes to a redesigned export dialog or to the import step.</a:t>
            </a:r>
            <a:endParaRPr lang="en-US" sz="1250" dirty="0"/>
          </a:p>
        </p:txBody>
      </p:sp>
      <p:sp>
        <p:nvSpPr>
          <p:cNvPr id="8" name="Shape 6"/>
          <p:cNvSpPr/>
          <p:nvPr/>
        </p:nvSpPr>
        <p:spPr>
          <a:xfrm>
            <a:off x="1051560" y="1938528"/>
            <a:ext cx="7543800" cy="0"/>
          </a:xfrm>
          <a:prstGeom prst="line">
            <a:avLst/>
          </a:prstGeom>
          <a:noFill/>
          <a:ln w="9525">
            <a:solidFill>
              <a:srgbClr val="EEF3EC"/>
            </a:solidFill>
            <a:prstDash val="solid"/>
          </a:ln>
        </p:spPr>
      </p:sp>
      <p:sp>
        <p:nvSpPr>
          <p:cNvPr id="9" name="Shape 7"/>
          <p:cNvSpPr/>
          <p:nvPr/>
        </p:nvSpPr>
        <p:spPr>
          <a:xfrm>
            <a:off x="548640" y="2029968"/>
            <a:ext cx="329184" cy="329184"/>
          </a:xfrm>
          <a:prstGeom prst="ellipse">
            <a:avLst/>
          </a:prstGeom>
          <a:solidFill>
            <a:schemeClr val="accent2"/>
          </a:solidFill>
          <a:ln/>
        </p:spPr>
      </p:sp>
      <p:sp>
        <p:nvSpPr>
          <p:cNvPr id="10" name="Text 8"/>
          <p:cNvSpPr txBox="1"/>
          <p:nvPr/>
        </p:nvSpPr>
        <p:spPr>
          <a:xfrm>
            <a:off x="548640" y="202996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1" name="Text 9"/>
          <p:cNvSpPr txBox="1"/>
          <p:nvPr/>
        </p:nvSpPr>
        <p:spPr>
          <a:xfrm>
            <a:off x="1051560" y="2011680"/>
            <a:ext cx="2103120" cy="548640"/>
          </a:xfrm>
          <a:prstGeom prst="rect">
            <a:avLst/>
          </a:prstGeom>
          <a:noFill/>
          <a:ln/>
        </p:spPr>
        <p:txBody>
          <a:bodyPr wrap="square" lIns="0" tIns="0" rIns="0" bIns="0" rtlCol="0" anchor="t"/>
          <a:lstStyle/>
          <a:p>
            <a:pPr indent="0" marL="0">
              <a:buNone/>
            </a:pPr>
            <a:r>
              <a:rPr lang="en-US" sz="1400" b="1" dirty="0">
                <a:solidFill>
                  <a:schemeClr val="tx2"/>
                </a:solidFill>
              </a:rPr>
              <a:t>The business need</a:t>
            </a:r>
            <a:endParaRPr lang="en-US" sz="1400" dirty="0"/>
          </a:p>
        </p:txBody>
      </p:sp>
      <p:sp>
        <p:nvSpPr>
          <p:cNvPr id="12" name="Text 10"/>
          <p:cNvSpPr txBox="1"/>
          <p:nvPr/>
        </p:nvSpPr>
        <p:spPr>
          <a:xfrm>
            <a:off x="3246120" y="2020824"/>
            <a:ext cx="5349240" cy="585216"/>
          </a:xfrm>
          <a:prstGeom prst="rect">
            <a:avLst/>
          </a:prstGeom>
          <a:noFill/>
          <a:ln/>
        </p:spPr>
        <p:txBody>
          <a:bodyPr wrap="square" lIns="0" tIns="0" rIns="0" bIns="0" rtlCol="0" anchor="t"/>
          <a:lstStyle/>
          <a:p>
            <a:pPr indent="0" marL="0">
              <a:buNone/>
            </a:pPr>
            <a:r>
              <a:rPr lang="en-US" sz="1250" dirty="0">
                <a:solidFill>
                  <a:schemeClr val="tx1"/>
                </a:solidFill>
              </a:rPr>
              <a:t>“Weekly active sharers” is our H2 goal, and Support logged 212 export tickets in Q3 [Support].</a:t>
            </a:r>
            <a:endParaRPr lang="en-US" sz="1250" dirty="0"/>
          </a:p>
        </p:txBody>
      </p:sp>
      <p:sp>
        <p:nvSpPr>
          <p:cNvPr id="13" name="Shape 11"/>
          <p:cNvSpPr/>
          <p:nvPr/>
        </p:nvSpPr>
        <p:spPr>
          <a:xfrm>
            <a:off x="1051560" y="2578608"/>
            <a:ext cx="7543800" cy="0"/>
          </a:xfrm>
          <a:prstGeom prst="line">
            <a:avLst/>
          </a:prstGeom>
          <a:noFill/>
          <a:ln w="9525">
            <a:solidFill>
              <a:srgbClr val="EEF3EC"/>
            </a:solidFill>
            <a:prstDash val="solid"/>
          </a:ln>
        </p:spPr>
      </p:sp>
      <p:sp>
        <p:nvSpPr>
          <p:cNvPr id="14" name="Shape 12"/>
          <p:cNvSpPr/>
          <p:nvPr/>
        </p:nvSpPr>
        <p:spPr>
          <a:xfrm>
            <a:off x="548640" y="2670048"/>
            <a:ext cx="329184" cy="329184"/>
          </a:xfrm>
          <a:prstGeom prst="ellipse">
            <a:avLst/>
          </a:prstGeom>
          <a:solidFill>
            <a:schemeClr val="accent2"/>
          </a:solidFill>
          <a:ln/>
        </p:spPr>
      </p:sp>
      <p:sp>
        <p:nvSpPr>
          <p:cNvPr id="15" name="Text 13"/>
          <p:cNvSpPr txBox="1"/>
          <p:nvPr/>
        </p:nvSpPr>
        <p:spPr>
          <a:xfrm>
            <a:off x="548640" y="267004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6" name="Text 14"/>
          <p:cNvSpPr txBox="1"/>
          <p:nvPr/>
        </p:nvSpPr>
        <p:spPr>
          <a:xfrm>
            <a:off x="1051560" y="2651760"/>
            <a:ext cx="2103120" cy="548640"/>
          </a:xfrm>
          <a:prstGeom prst="rect">
            <a:avLst/>
          </a:prstGeom>
          <a:noFill/>
          <a:ln/>
        </p:spPr>
        <p:txBody>
          <a:bodyPr wrap="square" lIns="0" tIns="0" rIns="0" bIns="0" rtlCol="0" anchor="t"/>
          <a:lstStyle/>
          <a:p>
            <a:pPr indent="0" marL="0">
              <a:buNone/>
            </a:pPr>
            <a:r>
              <a:rPr lang="en-US" sz="1400" b="1" dirty="0">
                <a:solidFill>
                  <a:schemeClr val="tx2"/>
                </a:solidFill>
              </a:rPr>
              <a:t>What we already knew</a:t>
            </a:r>
            <a:endParaRPr lang="en-US" sz="1400" dirty="0"/>
          </a:p>
        </p:txBody>
      </p:sp>
      <p:sp>
        <p:nvSpPr>
          <p:cNvPr id="17" name="Text 15"/>
          <p:cNvSpPr txBox="1"/>
          <p:nvPr/>
        </p:nvSpPr>
        <p:spPr>
          <a:xfrm>
            <a:off x="3246120" y="2660904"/>
            <a:ext cx="5349240" cy="585216"/>
          </a:xfrm>
          <a:prstGeom prst="rect">
            <a:avLst/>
          </a:prstGeom>
          <a:noFill/>
          <a:ln/>
        </p:spPr>
        <p:txBody>
          <a:bodyPr wrap="square" lIns="0" tIns="0" rIns="0" bIns="0" rtlCol="0" anchor="t"/>
          <a:lstStyle/>
          <a:p>
            <a:pPr indent="0" marL="0">
              <a:buNone/>
            </a:pPr>
            <a:r>
              <a:rPr lang="en-US" sz="1250" dirty="0">
                <a:solidFill>
                  <a:schemeClr val="tx1"/>
                </a:solidFill>
              </a:rPr>
              <a:t>Export is the second most-used admin feature [2025 survey], and nobody had studied why it fails.</a:t>
            </a:r>
            <a:endParaRPr lang="en-US" sz="1250" dirty="0"/>
          </a:p>
        </p:txBody>
      </p:sp>
      <p:sp>
        <p:nvSpPr>
          <p:cNvPr id="18" name="Shape 16"/>
          <p:cNvSpPr/>
          <p:nvPr/>
        </p:nvSpPr>
        <p:spPr>
          <a:xfrm>
            <a:off x="1051560" y="3218688"/>
            <a:ext cx="7543800" cy="0"/>
          </a:xfrm>
          <a:prstGeom prst="line">
            <a:avLst/>
          </a:prstGeom>
          <a:noFill/>
          <a:ln w="9525">
            <a:solidFill>
              <a:srgbClr val="EEF3EC"/>
            </a:solidFill>
            <a:prstDash val="solid"/>
          </a:ln>
        </p:spPr>
      </p:sp>
      <p:sp>
        <p:nvSpPr>
          <p:cNvPr id="19" name="Shape 17"/>
          <p:cNvSpPr/>
          <p:nvPr/>
        </p:nvSpPr>
        <p:spPr>
          <a:xfrm>
            <a:off x="548640" y="3310128"/>
            <a:ext cx="329184" cy="329184"/>
          </a:xfrm>
          <a:prstGeom prst="ellipse">
            <a:avLst/>
          </a:prstGeom>
          <a:solidFill>
            <a:schemeClr val="accent2"/>
          </a:solidFill>
          <a:ln/>
        </p:spPr>
      </p:sp>
      <p:sp>
        <p:nvSpPr>
          <p:cNvPr id="20" name="Text 18"/>
          <p:cNvSpPr txBox="1"/>
          <p:nvPr/>
        </p:nvSpPr>
        <p:spPr>
          <a:xfrm>
            <a:off x="548640" y="331012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1" name="Text 19"/>
          <p:cNvSpPr txBox="1"/>
          <p:nvPr/>
        </p:nvSpPr>
        <p:spPr>
          <a:xfrm>
            <a:off x="1051560" y="3291840"/>
            <a:ext cx="2103120" cy="548640"/>
          </a:xfrm>
          <a:prstGeom prst="rect">
            <a:avLst/>
          </a:prstGeom>
          <a:noFill/>
          <a:ln/>
        </p:spPr>
        <p:txBody>
          <a:bodyPr wrap="square" lIns="0" tIns="0" rIns="0" bIns="0" rtlCol="0" anchor="t"/>
          <a:lstStyle/>
          <a:p>
            <a:pPr indent="0" marL="0">
              <a:buNone/>
            </a:pPr>
            <a:r>
              <a:rPr lang="en-US" sz="1400" b="1" dirty="0">
                <a:solidFill>
                  <a:schemeClr val="tx2"/>
                </a:solidFill>
              </a:rPr>
              <a:t>The question</a:t>
            </a:r>
            <a:endParaRPr lang="en-US" sz="1400" dirty="0"/>
          </a:p>
        </p:txBody>
      </p:sp>
      <p:sp>
        <p:nvSpPr>
          <p:cNvPr id="22" name="Text 20"/>
          <p:cNvSpPr txBox="1"/>
          <p:nvPr/>
        </p:nvSpPr>
        <p:spPr>
          <a:xfrm>
            <a:off x="3246120" y="3300984"/>
            <a:ext cx="5349240" cy="585216"/>
          </a:xfrm>
          <a:prstGeom prst="rect">
            <a:avLst/>
          </a:prstGeom>
          <a:noFill/>
          <a:ln/>
        </p:spPr>
        <p:txBody>
          <a:bodyPr wrap="square" lIns="0" tIns="0" rIns="0" bIns="0" rtlCol="0" anchor="t"/>
          <a:lstStyle/>
          <a:p>
            <a:pPr indent="0" marL="0">
              <a:buNone/>
            </a:pPr>
            <a:r>
              <a:rPr lang="en-US" sz="1250" dirty="0">
                <a:solidFill>
                  <a:schemeClr val="tx1"/>
                </a:solidFill>
              </a:rPr>
              <a:t>Why do mid-size customers abandon exports in their first 90 days?</a:t>
            </a:r>
            <a:endParaRPr lang="en-US" sz="1250" dirty="0"/>
          </a:p>
        </p:txBody>
      </p:sp>
      <p:sp>
        <p:nvSpPr>
          <p:cNvPr id="23" name="Shape 21"/>
          <p:cNvSpPr/>
          <p:nvPr/>
        </p:nvSpPr>
        <p:spPr>
          <a:xfrm>
            <a:off x="1051560" y="3858768"/>
            <a:ext cx="7543800" cy="0"/>
          </a:xfrm>
          <a:prstGeom prst="line">
            <a:avLst/>
          </a:prstGeom>
          <a:noFill/>
          <a:ln w="9525">
            <a:solidFill>
              <a:srgbClr val="EEF3EC"/>
            </a:solidFill>
            <a:prstDash val="solid"/>
          </a:ln>
        </p:spPr>
      </p:sp>
      <p:sp>
        <p:nvSpPr>
          <p:cNvPr id="24" name="Shape 22"/>
          <p:cNvSpPr/>
          <p:nvPr/>
        </p:nvSpPr>
        <p:spPr>
          <a:xfrm>
            <a:off x="548640" y="3950208"/>
            <a:ext cx="329184" cy="329184"/>
          </a:xfrm>
          <a:prstGeom prst="ellipse">
            <a:avLst/>
          </a:prstGeom>
          <a:solidFill>
            <a:schemeClr val="accent2"/>
          </a:solidFill>
          <a:ln/>
        </p:spPr>
      </p:sp>
      <p:sp>
        <p:nvSpPr>
          <p:cNvPr id="25" name="Text 23"/>
          <p:cNvSpPr txBox="1"/>
          <p:nvPr/>
        </p:nvSpPr>
        <p:spPr>
          <a:xfrm>
            <a:off x="548640" y="395020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26" name="Text 24"/>
          <p:cNvSpPr txBox="1"/>
          <p:nvPr/>
        </p:nvSpPr>
        <p:spPr>
          <a:xfrm>
            <a:off x="1051560" y="3931920"/>
            <a:ext cx="2103120" cy="548640"/>
          </a:xfrm>
          <a:prstGeom prst="rect">
            <a:avLst/>
          </a:prstGeom>
          <a:noFill/>
          <a:ln/>
        </p:spPr>
        <p:txBody>
          <a:bodyPr wrap="square" lIns="0" tIns="0" rIns="0" bIns="0" rtlCol="0" anchor="t"/>
          <a:lstStyle/>
          <a:p>
            <a:pPr indent="0" marL="0">
              <a:buNone/>
            </a:pPr>
            <a:r>
              <a:rPr lang="en-US" sz="1400" b="1" dirty="0">
                <a:solidFill>
                  <a:schemeClr val="tx2"/>
                </a:solidFill>
              </a:rPr>
              <a:t>Where it sits</a:t>
            </a:r>
            <a:endParaRPr lang="en-US" sz="1400" dirty="0"/>
          </a:p>
        </p:txBody>
      </p:sp>
      <p:sp>
        <p:nvSpPr>
          <p:cNvPr id="27" name="Text 25"/>
          <p:cNvSpPr txBox="1"/>
          <p:nvPr/>
        </p:nvSpPr>
        <p:spPr>
          <a:xfrm>
            <a:off x="3246120" y="3941064"/>
            <a:ext cx="5349240" cy="585216"/>
          </a:xfrm>
          <a:prstGeom prst="rect">
            <a:avLst/>
          </a:prstGeom>
          <a:noFill/>
          <a:ln/>
        </p:spPr>
        <p:txBody>
          <a:bodyPr wrap="square" lIns="0" tIns="0" rIns="0" bIns="0" rtlCol="0" anchor="t"/>
          <a:lstStyle/>
          <a:p>
            <a:pPr indent="0" marL="0">
              <a:buNone/>
            </a:pPr>
            <a:r>
              <a:rPr lang="en-US" sz="1250" dirty="0">
                <a:solidFill>
                  <a:schemeClr val="tx1"/>
                </a:solidFill>
              </a:rPr>
              <a:t>Export, which report builders use weekly: step 3 of 4 of “Share a report”, for the Report builder persona.</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METHOD</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We watched 8 report builders try a real export on their own accounts</a:t>
            </a:r>
            <a:endParaRPr lang="en-US" sz="2600" dirty="0"/>
          </a:p>
        </p:txBody>
      </p:sp>
      <p:sp>
        <p:nvSpPr>
          <p:cNvPr id="4" name="Shape 2"/>
          <p:cNvSpPr/>
          <p:nvPr/>
        </p:nvSpPr>
        <p:spPr>
          <a:xfrm>
            <a:off x="548640" y="1371600"/>
            <a:ext cx="1828800" cy="1325880"/>
          </a:xfrm>
          <a:prstGeom prst="roundRect">
            <a:avLst>
              <a:gd name="adj" fmla="val 6897"/>
            </a:avLst>
          </a:prstGeom>
          <a:solidFill>
            <a:schemeClr val="bg2"/>
          </a:solidFill>
          <a:ln w="12700">
            <a:solidFill>
              <a:schemeClr val="bg2"/>
            </a:solidFill>
            <a:prstDash val="solid"/>
          </a:ln>
        </p:spPr>
      </p:sp>
      <p:sp>
        <p:nvSpPr>
          <p:cNvPr id="5" name="Text 3"/>
          <p:cNvSpPr txBox="1"/>
          <p:nvPr/>
        </p:nvSpPr>
        <p:spPr>
          <a:xfrm>
            <a:off x="548640" y="1463040"/>
            <a:ext cx="1828800" cy="731520"/>
          </a:xfrm>
          <a:prstGeom prst="rect">
            <a:avLst/>
          </a:prstGeom>
          <a:noFill/>
          <a:ln/>
        </p:spPr>
        <p:txBody>
          <a:bodyPr wrap="square" lIns="0" tIns="0" rIns="0" bIns="0" rtlCol="0" anchor="ctr"/>
          <a:lstStyle/>
          <a:p>
            <a:pPr algn="ctr" indent="0" marL="0">
              <a:buNone/>
            </a:pPr>
            <a:r>
              <a:rPr lang="en-US" sz="3200" b="1" dirty="0">
                <a:solidFill>
                  <a:schemeClr val="tx2"/>
                </a:solidFill>
              </a:rPr>
              <a:t>8</a:t>
            </a:r>
            <a:endParaRPr lang="en-US" sz="3200" dirty="0"/>
          </a:p>
        </p:txBody>
      </p:sp>
      <p:sp>
        <p:nvSpPr>
          <p:cNvPr id="6" name="Text 4"/>
          <p:cNvSpPr txBox="1"/>
          <p:nvPr/>
        </p:nvSpPr>
        <p:spPr>
          <a:xfrm>
            <a:off x="640080" y="2176272"/>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rPr>
              <a:t>remote sessions, 45 minutes</a:t>
            </a:r>
            <a:endParaRPr lang="en-US" sz="1100" dirty="0"/>
          </a:p>
        </p:txBody>
      </p:sp>
      <p:sp>
        <p:nvSpPr>
          <p:cNvPr id="7" name="Shape 5"/>
          <p:cNvSpPr/>
          <p:nvPr/>
        </p:nvSpPr>
        <p:spPr>
          <a:xfrm>
            <a:off x="2606040" y="1371600"/>
            <a:ext cx="1828800" cy="1325880"/>
          </a:xfrm>
          <a:prstGeom prst="roundRect">
            <a:avLst>
              <a:gd name="adj" fmla="val 6897"/>
            </a:avLst>
          </a:prstGeom>
          <a:solidFill>
            <a:schemeClr val="bg2"/>
          </a:solidFill>
          <a:ln w="12700">
            <a:solidFill>
              <a:schemeClr val="bg2"/>
            </a:solidFill>
            <a:prstDash val="solid"/>
          </a:ln>
        </p:spPr>
      </p:sp>
      <p:sp>
        <p:nvSpPr>
          <p:cNvPr id="8" name="Text 6"/>
          <p:cNvSpPr txBox="1"/>
          <p:nvPr/>
        </p:nvSpPr>
        <p:spPr>
          <a:xfrm>
            <a:off x="2606040" y="1463040"/>
            <a:ext cx="1828800" cy="731520"/>
          </a:xfrm>
          <a:prstGeom prst="rect">
            <a:avLst/>
          </a:prstGeom>
          <a:noFill/>
          <a:ln/>
        </p:spPr>
        <p:txBody>
          <a:bodyPr wrap="square" lIns="0" tIns="0" rIns="0" bIns="0" rtlCol="0" anchor="ctr"/>
          <a:lstStyle/>
          <a:p>
            <a:pPr algn="ctr" indent="0" marL="0">
              <a:buNone/>
            </a:pPr>
            <a:r>
              <a:rPr lang="en-US" sz="3200" b="1" dirty="0">
                <a:solidFill>
                  <a:schemeClr val="tx2"/>
                </a:solidFill>
              </a:rPr>
              <a:t>&lt;90</a:t>
            </a:r>
            <a:endParaRPr lang="en-US" sz="3200" dirty="0"/>
          </a:p>
        </p:txBody>
      </p:sp>
      <p:sp>
        <p:nvSpPr>
          <p:cNvPr id="9" name="Text 7"/>
          <p:cNvSpPr txBox="1"/>
          <p:nvPr/>
        </p:nvSpPr>
        <p:spPr>
          <a:xfrm>
            <a:off x="2697480" y="2176272"/>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rPr>
              <a:t>days since signup</a:t>
            </a:r>
            <a:endParaRPr lang="en-US" sz="1100" dirty="0"/>
          </a:p>
        </p:txBody>
      </p:sp>
      <p:sp>
        <p:nvSpPr>
          <p:cNvPr id="10" name="Shape 8"/>
          <p:cNvSpPr/>
          <p:nvPr/>
        </p:nvSpPr>
        <p:spPr>
          <a:xfrm>
            <a:off x="4663440" y="1371600"/>
            <a:ext cx="1828800" cy="1325880"/>
          </a:xfrm>
          <a:prstGeom prst="roundRect">
            <a:avLst>
              <a:gd name="adj" fmla="val 6897"/>
            </a:avLst>
          </a:prstGeom>
          <a:solidFill>
            <a:schemeClr val="bg2"/>
          </a:solidFill>
          <a:ln w="12700">
            <a:solidFill>
              <a:schemeClr val="bg2"/>
            </a:solidFill>
            <a:prstDash val="solid"/>
          </a:ln>
        </p:spPr>
      </p:sp>
      <p:sp>
        <p:nvSpPr>
          <p:cNvPr id="11" name="Text 9"/>
          <p:cNvSpPr txBox="1"/>
          <p:nvPr/>
        </p:nvSpPr>
        <p:spPr>
          <a:xfrm>
            <a:off x="4663440" y="1463040"/>
            <a:ext cx="1828800" cy="731520"/>
          </a:xfrm>
          <a:prstGeom prst="rect">
            <a:avLst/>
          </a:prstGeom>
          <a:noFill/>
          <a:ln/>
        </p:spPr>
        <p:txBody>
          <a:bodyPr wrap="square" lIns="0" tIns="0" rIns="0" bIns="0" rtlCol="0" anchor="ctr"/>
          <a:lstStyle/>
          <a:p>
            <a:pPr algn="ctr" indent="0" marL="0">
              <a:buNone/>
            </a:pPr>
            <a:r>
              <a:rPr lang="en-US" sz="3200" b="1" dirty="0">
                <a:solidFill>
                  <a:schemeClr val="tx2"/>
                </a:solidFill>
              </a:rPr>
              <a:t>50–500</a:t>
            </a:r>
            <a:endParaRPr lang="en-US" sz="3200" dirty="0"/>
          </a:p>
        </p:txBody>
      </p:sp>
      <p:sp>
        <p:nvSpPr>
          <p:cNvPr id="12" name="Text 10"/>
          <p:cNvSpPr txBox="1"/>
          <p:nvPr/>
        </p:nvSpPr>
        <p:spPr>
          <a:xfrm>
            <a:off x="4754880" y="2176272"/>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rPr>
              <a:t>seats per customer</a:t>
            </a:r>
            <a:endParaRPr lang="en-US" sz="1100" dirty="0"/>
          </a:p>
        </p:txBody>
      </p:sp>
      <p:sp>
        <p:nvSpPr>
          <p:cNvPr id="13" name="Shape 11"/>
          <p:cNvSpPr/>
          <p:nvPr/>
        </p:nvSpPr>
        <p:spPr>
          <a:xfrm>
            <a:off x="6720840" y="1371600"/>
            <a:ext cx="1828800" cy="1325880"/>
          </a:xfrm>
          <a:prstGeom prst="roundRect">
            <a:avLst>
              <a:gd name="adj" fmla="val 6897"/>
            </a:avLst>
          </a:prstGeom>
          <a:solidFill>
            <a:schemeClr val="bg2"/>
          </a:solidFill>
          <a:ln w="12700">
            <a:solidFill>
              <a:schemeClr val="bg2"/>
            </a:solidFill>
            <a:prstDash val="solid"/>
          </a:ln>
        </p:spPr>
      </p:sp>
      <p:sp>
        <p:nvSpPr>
          <p:cNvPr id="14" name="Text 12"/>
          <p:cNvSpPr txBox="1"/>
          <p:nvPr/>
        </p:nvSpPr>
        <p:spPr>
          <a:xfrm>
            <a:off x="6720840" y="1463040"/>
            <a:ext cx="1828800" cy="731520"/>
          </a:xfrm>
          <a:prstGeom prst="rect">
            <a:avLst/>
          </a:prstGeom>
          <a:noFill/>
          <a:ln/>
        </p:spPr>
        <p:txBody>
          <a:bodyPr wrap="square" lIns="0" tIns="0" rIns="0" bIns="0" rtlCol="0" anchor="ctr"/>
          <a:lstStyle/>
          <a:p>
            <a:pPr algn="ctr" indent="0" marL="0">
              <a:buNone/>
            </a:pPr>
            <a:r>
              <a:rPr lang="en-US" sz="3200" b="1" dirty="0">
                <a:solidFill>
                  <a:schemeClr val="tx2"/>
                </a:solidFill>
              </a:rPr>
              <a:t>6–10 Oct</a:t>
            </a:r>
            <a:endParaRPr lang="en-US" sz="3200" dirty="0"/>
          </a:p>
        </p:txBody>
      </p:sp>
      <p:sp>
        <p:nvSpPr>
          <p:cNvPr id="15" name="Text 13"/>
          <p:cNvSpPr txBox="1"/>
          <p:nvPr/>
        </p:nvSpPr>
        <p:spPr>
          <a:xfrm>
            <a:off x="6812280" y="2176272"/>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rPr>
              <a:t>2026</a:t>
            </a:r>
            <a:endParaRPr lang="en-US" sz="1100" dirty="0"/>
          </a:p>
        </p:txBody>
      </p:sp>
      <p:sp>
        <p:nvSpPr>
          <p:cNvPr id="16" name="Text 14"/>
          <p:cNvSpPr txBox="1"/>
          <p:nvPr/>
        </p:nvSpPr>
        <p:spPr>
          <a:xfrm>
            <a:off x="548640" y="3017520"/>
            <a:ext cx="8046720" cy="822960"/>
          </a:xfrm>
          <a:prstGeom prst="rect">
            <a:avLst/>
          </a:prstGeom>
          <a:noFill/>
          <a:ln/>
        </p:spPr>
        <p:txBody>
          <a:bodyPr wrap="square" lIns="0" tIns="0" rIns="0" bIns="0" rtlCol="0" anchor="t"/>
          <a:lstStyle/>
          <a:p>
            <a:pPr indent="0" marL="0">
              <a:buNone/>
            </a:pPr>
            <a:r>
              <a:rPr lang="en-US" sz="1400" dirty="0">
                <a:solidFill>
                  <a:schemeClr val="tx1"/>
                </a:solidFill>
              </a:rPr>
              <a:t>Report builders at mid-size customers, recruited from our own customers by the CS team. A short interview about their last export, then a live export task on their own account: export last month’s revenue report to CSV.</a:t>
            </a:r>
            <a:endParaRPr lang="en-US" sz="1400" dirty="0"/>
          </a:p>
        </p:txBody>
      </p:sp>
      <p:sp>
        <p:nvSpPr>
          <p:cNvPr id="17" name="Text 15"/>
          <p:cNvSpPr txBox="1"/>
          <p:nvPr/>
        </p:nvSpPr>
        <p:spPr>
          <a:xfrm>
            <a:off x="548640" y="3886200"/>
            <a:ext cx="8046720" cy="640080"/>
          </a:xfrm>
          <a:prstGeom prst="rect">
            <a:avLst/>
          </a:prstGeom>
          <a:noFill/>
          <a:ln/>
        </p:spPr>
        <p:txBody>
          <a:bodyPr wrap="square" lIns="0" tIns="0" rIns="0" bIns="0" rtlCol="0" anchor="t"/>
          <a:lstStyle/>
          <a:p>
            <a:pPr indent="0" marL="0">
              <a:buNone/>
            </a:pPr>
            <a:r>
              <a:rPr lang="en-US" sz="1200" i="1" dirty="0">
                <a:solidFill>
                  <a:schemeClr val="accent4"/>
                </a:solidFill>
              </a:rPr>
              <a:t>Sessions rather than a survey, because the question was why. Sessions rather than analytics alone, because the funnel shows where people stop, not what they were trying to do.</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FINDINGS</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Four findings the decision rests on, ranked</a:t>
            </a:r>
            <a:endParaRPr lang="en-US" sz="2600" dirty="0"/>
          </a:p>
        </p:txBody>
      </p:sp>
      <p:sp>
        <p:nvSpPr>
          <p:cNvPr id="4" name="Shape 2"/>
          <p:cNvSpPr/>
          <p:nvPr/>
        </p:nvSpPr>
        <p:spPr>
          <a:xfrm>
            <a:off x="548640" y="1463040"/>
            <a:ext cx="384048" cy="384048"/>
          </a:xfrm>
          <a:prstGeom prst="ellipse">
            <a:avLst/>
          </a:prstGeom>
          <a:solidFill>
            <a:schemeClr val="accent1"/>
          </a:solidFill>
          <a:ln/>
        </p:spPr>
      </p:sp>
      <p:sp>
        <p:nvSpPr>
          <p:cNvPr id="5" name="Text 3"/>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1371600"/>
            <a:ext cx="5669280" cy="566928"/>
          </a:xfrm>
          <a:prstGeom prst="rect">
            <a:avLst/>
          </a:prstGeom>
          <a:noFill/>
          <a:ln/>
        </p:spPr>
        <p:txBody>
          <a:bodyPr wrap="square" lIns="0" tIns="0" rIns="0" bIns="0" rtlCol="0" anchor="ctr"/>
          <a:lstStyle/>
          <a:p>
            <a:pPr indent="0" marL="0">
              <a:buNone/>
            </a:pPr>
            <a:r>
              <a:rPr lang="en-US" sz="1600" dirty="0">
                <a:solidFill>
                  <a:schemeClr val="tx1"/>
                </a:solidFill>
              </a:rPr>
              <a:t>For 5 of 8, export failed because import never mapped the columns</a:t>
            </a:r>
            <a:endParaRPr lang="en-US" sz="1600" dirty="0"/>
          </a:p>
        </p:txBody>
      </p:sp>
      <p:sp>
        <p:nvSpPr>
          <p:cNvPr id="7" name="Shape 5"/>
          <p:cNvSpPr/>
          <p:nvPr/>
        </p:nvSpPr>
        <p:spPr>
          <a:xfrm>
            <a:off x="6949440" y="1481328"/>
            <a:ext cx="1645920" cy="347472"/>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6949440" y="1481328"/>
            <a:ext cx="1645920" cy="347472"/>
          </a:xfrm>
          <a:prstGeom prst="rect">
            <a:avLst/>
          </a:prstGeom>
          <a:noFill/>
          <a:ln/>
        </p:spPr>
        <p:txBody>
          <a:bodyPr wrap="square" lIns="0" tIns="0" rIns="0" bIns="0" rtlCol="0" anchor="ctr"/>
          <a:lstStyle/>
          <a:p>
            <a:pPr algn="ctr" indent="0" marL="0">
              <a:buNone/>
            </a:pPr>
            <a:r>
              <a:rPr lang="en-US" sz="1050" b="1" dirty="0">
                <a:solidFill>
                  <a:schemeClr val="bg1"/>
                </a:solidFill>
              </a:rPr>
              <a:t>Strong</a:t>
            </a:r>
            <a:endParaRPr lang="en-US" sz="1050" dirty="0"/>
          </a:p>
        </p:txBody>
      </p:sp>
      <p:sp>
        <p:nvSpPr>
          <p:cNvPr id="9" name="Shape 7"/>
          <p:cNvSpPr/>
          <p:nvPr/>
        </p:nvSpPr>
        <p:spPr>
          <a:xfrm>
            <a:off x="1097280" y="1975104"/>
            <a:ext cx="7498080" cy="0"/>
          </a:xfrm>
          <a:prstGeom prst="line">
            <a:avLst/>
          </a:prstGeom>
          <a:noFill/>
          <a:ln w="9525">
            <a:solidFill>
              <a:srgbClr val="EEF3EC"/>
            </a:solidFill>
            <a:prstDash val="solid"/>
          </a:ln>
        </p:spPr>
      </p:sp>
      <p:sp>
        <p:nvSpPr>
          <p:cNvPr id="10" name="Shape 8"/>
          <p:cNvSpPr/>
          <p:nvPr/>
        </p:nvSpPr>
        <p:spPr>
          <a:xfrm>
            <a:off x="548640" y="2084832"/>
            <a:ext cx="384048" cy="384048"/>
          </a:xfrm>
          <a:prstGeom prst="ellipse">
            <a:avLst/>
          </a:prstGeom>
          <a:solidFill>
            <a:schemeClr val="accent3"/>
          </a:solidFill>
          <a:ln/>
        </p:spPr>
      </p:sp>
      <p:sp>
        <p:nvSpPr>
          <p:cNvPr id="11" name="Text 9"/>
          <p:cNvSpPr txBox="1"/>
          <p:nvPr/>
        </p:nvSpPr>
        <p:spPr>
          <a:xfrm>
            <a:off x="548640" y="2084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097280" y="1993392"/>
            <a:ext cx="5669280" cy="566928"/>
          </a:xfrm>
          <a:prstGeom prst="rect">
            <a:avLst/>
          </a:prstGeom>
          <a:noFill/>
          <a:ln/>
        </p:spPr>
        <p:txBody>
          <a:bodyPr wrap="square" lIns="0" tIns="0" rIns="0" bIns="0" rtlCol="0" anchor="ctr"/>
          <a:lstStyle/>
          <a:p>
            <a:pPr indent="0" marL="0">
              <a:buNone/>
            </a:pPr>
            <a:r>
              <a:rPr lang="en-US" sz="1600" dirty="0">
                <a:solidFill>
                  <a:schemeClr val="tx1"/>
                </a:solidFill>
              </a:rPr>
              <a:t>Both finance-team participants couldn’t get a file their finance system accepts</a:t>
            </a:r>
            <a:endParaRPr lang="en-US" sz="1600" dirty="0"/>
          </a:p>
        </p:txBody>
      </p:sp>
      <p:sp>
        <p:nvSpPr>
          <p:cNvPr id="13" name="Shape 11"/>
          <p:cNvSpPr/>
          <p:nvPr/>
        </p:nvSpPr>
        <p:spPr>
          <a:xfrm>
            <a:off x="6949440" y="2103120"/>
            <a:ext cx="1645920" cy="347472"/>
          </a:xfrm>
          <a:prstGeom prst="roundRect">
            <a:avLst>
              <a:gd name="adj" fmla="val 50000"/>
            </a:avLst>
          </a:prstGeom>
          <a:solidFill>
            <a:schemeClr val="accent3"/>
          </a:solidFill>
          <a:ln w="12700">
            <a:solidFill>
              <a:schemeClr val="accent3"/>
            </a:solidFill>
            <a:prstDash val="solid"/>
          </a:ln>
        </p:spPr>
      </p:sp>
      <p:sp>
        <p:nvSpPr>
          <p:cNvPr id="14" name="Text 12"/>
          <p:cNvSpPr txBox="1"/>
          <p:nvPr/>
        </p:nvSpPr>
        <p:spPr>
          <a:xfrm>
            <a:off x="6949440" y="2103120"/>
            <a:ext cx="1645920" cy="347472"/>
          </a:xfrm>
          <a:prstGeom prst="rect">
            <a:avLst/>
          </a:prstGeom>
          <a:noFill/>
          <a:ln/>
        </p:spPr>
        <p:txBody>
          <a:bodyPr wrap="square" lIns="0" tIns="0" rIns="0" bIns="0" rtlCol="0" anchor="ctr"/>
          <a:lstStyle/>
          <a:p>
            <a:pPr algn="ctr" indent="0" marL="0">
              <a:buNone/>
            </a:pPr>
            <a:r>
              <a:rPr lang="en-US" sz="1050" b="1" dirty="0">
                <a:solidFill>
                  <a:schemeClr val="bg1"/>
                </a:solidFill>
              </a:rPr>
              <a:t>Weak · serious case</a:t>
            </a:r>
            <a:endParaRPr lang="en-US" sz="1050" dirty="0"/>
          </a:p>
        </p:txBody>
      </p:sp>
      <p:sp>
        <p:nvSpPr>
          <p:cNvPr id="15" name="Shape 13"/>
          <p:cNvSpPr/>
          <p:nvPr/>
        </p:nvSpPr>
        <p:spPr>
          <a:xfrm>
            <a:off x="1097280" y="2596896"/>
            <a:ext cx="7498080" cy="0"/>
          </a:xfrm>
          <a:prstGeom prst="line">
            <a:avLst/>
          </a:prstGeom>
          <a:noFill/>
          <a:ln w="9525">
            <a:solidFill>
              <a:srgbClr val="EEF3EC"/>
            </a:solidFill>
            <a:prstDash val="solid"/>
          </a:ln>
        </p:spPr>
      </p:sp>
      <p:sp>
        <p:nvSpPr>
          <p:cNvPr id="16" name="Shape 14"/>
          <p:cNvSpPr/>
          <p:nvPr/>
        </p:nvSpPr>
        <p:spPr>
          <a:xfrm>
            <a:off x="548640" y="2706624"/>
            <a:ext cx="384048" cy="384048"/>
          </a:xfrm>
          <a:prstGeom prst="ellipse">
            <a:avLst/>
          </a:prstGeom>
          <a:solidFill>
            <a:schemeClr val="accent1"/>
          </a:solidFill>
          <a:ln/>
        </p:spPr>
      </p:sp>
      <p:sp>
        <p:nvSpPr>
          <p:cNvPr id="17" name="Text 15"/>
          <p:cNvSpPr txBox="1"/>
          <p:nvPr/>
        </p:nvSpPr>
        <p:spPr>
          <a:xfrm>
            <a:off x="548640" y="27066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1097280" y="2615184"/>
            <a:ext cx="5669280" cy="566928"/>
          </a:xfrm>
          <a:prstGeom prst="rect">
            <a:avLst/>
          </a:prstGeom>
          <a:noFill/>
          <a:ln/>
        </p:spPr>
        <p:txBody>
          <a:bodyPr wrap="square" lIns="0" tIns="0" rIns="0" bIns="0" rtlCol="0" anchor="ctr"/>
          <a:lstStyle/>
          <a:p>
            <a:pPr indent="0" marL="0">
              <a:buNone/>
            </a:pPr>
            <a:r>
              <a:rPr lang="en-US" sz="1600" dirty="0">
                <a:solidFill>
                  <a:schemeClr val="tx1"/>
                </a:solidFill>
              </a:rPr>
              <a:t>6 of 8 work around export by emailing the file to a colleague</a:t>
            </a:r>
            <a:endParaRPr lang="en-US" sz="1600" dirty="0"/>
          </a:p>
        </p:txBody>
      </p:sp>
      <p:sp>
        <p:nvSpPr>
          <p:cNvPr id="19" name="Shape 17"/>
          <p:cNvSpPr/>
          <p:nvPr/>
        </p:nvSpPr>
        <p:spPr>
          <a:xfrm>
            <a:off x="6949440" y="2724912"/>
            <a:ext cx="1645920" cy="347472"/>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6949440" y="2724912"/>
            <a:ext cx="1645920" cy="347472"/>
          </a:xfrm>
          <a:prstGeom prst="rect">
            <a:avLst/>
          </a:prstGeom>
          <a:noFill/>
          <a:ln/>
        </p:spPr>
        <p:txBody>
          <a:bodyPr wrap="square" lIns="0" tIns="0" rIns="0" bIns="0" rtlCol="0" anchor="ctr"/>
          <a:lstStyle/>
          <a:p>
            <a:pPr algn="ctr" indent="0" marL="0">
              <a:buNone/>
            </a:pPr>
            <a:r>
              <a:rPr lang="en-US" sz="1050" b="1" dirty="0">
                <a:solidFill>
                  <a:schemeClr val="bg1"/>
                </a:solidFill>
              </a:rPr>
              <a:t>Strong</a:t>
            </a:r>
            <a:endParaRPr lang="en-US" sz="1050" dirty="0"/>
          </a:p>
        </p:txBody>
      </p:sp>
      <p:sp>
        <p:nvSpPr>
          <p:cNvPr id="21" name="Shape 19"/>
          <p:cNvSpPr/>
          <p:nvPr/>
        </p:nvSpPr>
        <p:spPr>
          <a:xfrm>
            <a:off x="1097280" y="3218688"/>
            <a:ext cx="7498080" cy="0"/>
          </a:xfrm>
          <a:prstGeom prst="line">
            <a:avLst/>
          </a:prstGeom>
          <a:noFill/>
          <a:ln w="9525">
            <a:solidFill>
              <a:srgbClr val="EEF3EC"/>
            </a:solidFill>
            <a:prstDash val="solid"/>
          </a:ln>
        </p:spPr>
      </p:sp>
      <p:sp>
        <p:nvSpPr>
          <p:cNvPr id="22" name="Shape 20"/>
          <p:cNvSpPr/>
          <p:nvPr/>
        </p:nvSpPr>
        <p:spPr>
          <a:xfrm>
            <a:off x="548640" y="3328416"/>
            <a:ext cx="384048" cy="384048"/>
          </a:xfrm>
          <a:prstGeom prst="ellipse">
            <a:avLst/>
          </a:prstGeom>
          <a:solidFill>
            <a:schemeClr val="accent4"/>
          </a:solidFill>
          <a:ln/>
        </p:spPr>
      </p:sp>
      <p:sp>
        <p:nvSpPr>
          <p:cNvPr id="23" name="Text 21"/>
          <p:cNvSpPr txBox="1"/>
          <p:nvPr/>
        </p:nvSpPr>
        <p:spPr>
          <a:xfrm>
            <a:off x="548640" y="33284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1097280" y="3236976"/>
            <a:ext cx="5669280" cy="566928"/>
          </a:xfrm>
          <a:prstGeom prst="rect">
            <a:avLst/>
          </a:prstGeom>
          <a:noFill/>
          <a:ln/>
        </p:spPr>
        <p:txBody>
          <a:bodyPr wrap="square" lIns="0" tIns="0" rIns="0" bIns="0" rtlCol="0" anchor="ctr"/>
          <a:lstStyle/>
          <a:p>
            <a:pPr indent="0" marL="0">
              <a:buNone/>
            </a:pPr>
            <a:r>
              <a:rPr lang="en-US" sz="1600" dirty="0">
                <a:solidFill>
                  <a:schemeClr val="tx1"/>
                </a:solidFill>
              </a:rPr>
              <a:t>7 of 8 couldn’t say what “Include hidden fields” does</a:t>
            </a:r>
            <a:endParaRPr lang="en-US" sz="1600" dirty="0"/>
          </a:p>
        </p:txBody>
      </p:sp>
      <p:sp>
        <p:nvSpPr>
          <p:cNvPr id="25" name="Shape 23"/>
          <p:cNvSpPr/>
          <p:nvPr/>
        </p:nvSpPr>
        <p:spPr>
          <a:xfrm>
            <a:off x="6949440" y="3346704"/>
            <a:ext cx="1645920" cy="347472"/>
          </a:xfrm>
          <a:prstGeom prst="roundRect">
            <a:avLst>
              <a:gd name="adj" fmla="val 50000"/>
            </a:avLst>
          </a:prstGeom>
          <a:solidFill>
            <a:schemeClr val="accent4"/>
          </a:solidFill>
          <a:ln w="12700">
            <a:solidFill>
              <a:schemeClr val="accent4"/>
            </a:solidFill>
            <a:prstDash val="solid"/>
          </a:ln>
        </p:spPr>
      </p:sp>
      <p:sp>
        <p:nvSpPr>
          <p:cNvPr id="26" name="Text 24"/>
          <p:cNvSpPr txBox="1"/>
          <p:nvPr/>
        </p:nvSpPr>
        <p:spPr>
          <a:xfrm>
            <a:off x="6949440" y="3346704"/>
            <a:ext cx="1645920" cy="347472"/>
          </a:xfrm>
          <a:prstGeom prst="rect">
            <a:avLst/>
          </a:prstGeom>
          <a:noFill/>
          <a:ln/>
        </p:spPr>
        <p:txBody>
          <a:bodyPr wrap="square" lIns="0" tIns="0" rIns="0" bIns="0" rtlCol="0" anchor="ctr"/>
          <a:lstStyle/>
          <a:p>
            <a:pPr algn="ctr" indent="0" marL="0">
              <a:buNone/>
            </a:pPr>
            <a:r>
              <a:rPr lang="en-US" sz="1050" b="1" dirty="0">
                <a:solidFill>
                  <a:schemeClr val="bg1"/>
                </a:solidFill>
              </a:rPr>
              <a:t>Moderate</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FINDING 1 OF 4  ·  STRONG</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For 5 of 8, export failed because import never mapped the columns</a:t>
            </a:r>
            <a:endParaRPr lang="en-US" sz="2600" dirty="0"/>
          </a:p>
        </p:txBody>
      </p:sp>
      <p:sp>
        <p:nvSpPr>
          <p:cNvPr id="4" name="Shape 2"/>
          <p:cNvSpPr/>
          <p:nvPr/>
        </p:nvSpPr>
        <p:spPr>
          <a:xfrm>
            <a:off x="548640" y="1371600"/>
            <a:ext cx="2286000" cy="310896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548640" y="1554480"/>
            <a:ext cx="2286000" cy="822960"/>
          </a:xfrm>
          <a:prstGeom prst="rect">
            <a:avLst/>
          </a:prstGeom>
          <a:noFill/>
          <a:ln/>
        </p:spPr>
        <p:txBody>
          <a:bodyPr wrap="square" lIns="0" tIns="0" rIns="0" bIns="0" rtlCol="0" anchor="ctr"/>
          <a:lstStyle/>
          <a:p>
            <a:pPr algn="ctr" indent="0" marL="0">
              <a:buNone/>
            </a:pPr>
            <a:r>
              <a:rPr lang="en-US" sz="4400" b="1" dirty="0">
                <a:solidFill>
                  <a:schemeClr val="accent1"/>
                </a:solidFill>
              </a:rPr>
              <a:t>5 of 8</a:t>
            </a:r>
            <a:endParaRPr lang="en-US" sz="4400" dirty="0"/>
          </a:p>
        </p:txBody>
      </p:sp>
      <p:sp>
        <p:nvSpPr>
          <p:cNvPr id="6" name="Text 4"/>
          <p:cNvSpPr txBox="1"/>
          <p:nvPr/>
        </p:nvSpPr>
        <p:spPr>
          <a:xfrm>
            <a:off x="731520" y="2423160"/>
            <a:ext cx="1920240" cy="1188720"/>
          </a:xfrm>
          <a:prstGeom prst="rect">
            <a:avLst/>
          </a:prstGeom>
          <a:noFill/>
          <a:ln/>
        </p:spPr>
        <p:txBody>
          <a:bodyPr wrap="square" lIns="0" tIns="0" rIns="0" bIns="0" rtlCol="0" anchor="t"/>
          <a:lstStyle/>
          <a:p>
            <a:pPr algn="ctr" indent="0" marL="0">
              <a:buNone/>
            </a:pPr>
            <a:r>
              <a:rPr lang="en-US" sz="1150" dirty="0">
                <a:solidFill>
                  <a:schemeClr val="tx1"/>
                </a:solidFill>
              </a:rPr>
              <a:t>stopped when the preview showed empty columns that import had never mapped</a:t>
            </a:r>
            <a:endParaRPr lang="en-US" sz="1150" dirty="0"/>
          </a:p>
        </p:txBody>
      </p:sp>
      <p:sp>
        <p:nvSpPr>
          <p:cNvPr id="7" name="Shape 5"/>
          <p:cNvSpPr/>
          <p:nvPr/>
        </p:nvSpPr>
        <p:spPr>
          <a:xfrm>
            <a:off x="777240" y="3840480"/>
            <a:ext cx="1828800" cy="384048"/>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777240" y="3840480"/>
            <a:ext cx="1828800" cy="384048"/>
          </a:xfrm>
          <a:prstGeom prst="rect">
            <a:avLst/>
          </a:prstGeom>
          <a:noFill/>
          <a:ln/>
        </p:spPr>
        <p:txBody>
          <a:bodyPr wrap="square" lIns="0" tIns="0" rIns="0" bIns="0" rtlCol="0" anchor="ctr"/>
          <a:lstStyle/>
          <a:p>
            <a:pPr algn="ctr" indent="0" marL="0">
              <a:buNone/>
            </a:pPr>
            <a:r>
              <a:rPr lang="en-US" sz="1100" b="1" dirty="0">
                <a:solidFill>
                  <a:schemeClr val="bg1"/>
                </a:solidFill>
              </a:rPr>
              <a:t>Strong</a:t>
            </a:r>
            <a:endParaRPr lang="en-US" sz="1100" dirty="0"/>
          </a:p>
        </p:txBody>
      </p:sp>
      <p:sp>
        <p:nvSpPr>
          <p:cNvPr id="9" name="Text 7"/>
          <p:cNvSpPr txBox="1"/>
          <p:nvPr/>
        </p:nvSpPr>
        <p:spPr>
          <a:xfrm>
            <a:off x="3154680" y="1371600"/>
            <a:ext cx="5440680" cy="685800"/>
          </a:xfrm>
          <a:prstGeom prst="rect">
            <a:avLst/>
          </a:prstGeom>
          <a:noFill/>
          <a:ln/>
        </p:spPr>
        <p:txBody>
          <a:bodyPr wrap="square" lIns="0" tIns="0" rIns="0" bIns="0" rtlCol="0" anchor="t"/>
          <a:lstStyle/>
          <a:p>
            <a:pPr indent="0" marL="0">
              <a:buNone/>
            </a:pPr>
            <a:r>
              <a:rPr lang="en-US" sz="1400" dirty="0">
                <a:solidFill>
                  <a:schemeClr val="tx1"/>
                </a:solidFill>
              </a:rPr>
              <a:t>In all 5 accounts the import mapping had skipped those columns. We checked in the admin view during the session.</a:t>
            </a:r>
            <a:endParaRPr lang="en-US" sz="1400" dirty="0"/>
          </a:p>
        </p:txBody>
      </p:sp>
      <p:sp>
        <p:nvSpPr>
          <p:cNvPr id="10" name="Text 8"/>
          <p:cNvSpPr txBox="1"/>
          <p:nvPr/>
        </p:nvSpPr>
        <p:spPr>
          <a:xfrm>
            <a:off x="3154680" y="2011680"/>
            <a:ext cx="457200" cy="640080"/>
          </a:xfrm>
          <a:prstGeom prst="rect">
            <a:avLst/>
          </a:prstGeom>
          <a:noFill/>
          <a:ln/>
        </p:spPr>
        <p:txBody>
          <a:bodyPr wrap="square" lIns="0" tIns="0" rIns="0" bIns="0" rtlCol="0" anchor="t"/>
          <a:lstStyle/>
          <a:p>
            <a:pPr indent="0" marL="0">
              <a:buNone/>
            </a:pPr>
            <a:r>
              <a:rPr lang="en-US" sz="4400" b="1" dirty="0">
                <a:solidFill>
                  <a:schemeClr val="accent2"/>
                </a:solidFill>
              </a:rPr>
              <a:t>“</a:t>
            </a:r>
            <a:endParaRPr lang="en-US" sz="4400" dirty="0"/>
          </a:p>
        </p:txBody>
      </p:sp>
      <p:sp>
        <p:nvSpPr>
          <p:cNvPr id="11" name="Text 9"/>
          <p:cNvSpPr txBox="1"/>
          <p:nvPr/>
        </p:nvSpPr>
        <p:spPr>
          <a:xfrm>
            <a:off x="3611880" y="2103120"/>
            <a:ext cx="4983480" cy="640080"/>
          </a:xfrm>
          <a:prstGeom prst="rect">
            <a:avLst/>
          </a:prstGeom>
          <a:noFill/>
          <a:ln/>
        </p:spPr>
        <p:txBody>
          <a:bodyPr wrap="square" lIns="0" tIns="0" rIns="0" bIns="0" rtlCol="0" anchor="t"/>
          <a:lstStyle/>
          <a:p>
            <a:pPr indent="0" marL="0">
              <a:buNone/>
            </a:pPr>
            <a:r>
              <a:rPr lang="en-US" sz="1300" i="1" dirty="0">
                <a:solidFill>
                  <a:schemeClr val="tx2"/>
                </a:solidFill>
              </a:rPr>
              <a:t>“I thought export was broken, but it’s the import that never had them.”</a:t>
            </a:r>
            <a:endParaRPr lang="en-US" sz="1300" dirty="0"/>
          </a:p>
          <a:p>
            <a:pPr indent="0" marL="0">
              <a:buNone/>
            </a:pPr>
            <a:r>
              <a:rPr lang="en-US" sz="1050" b="1" dirty="0">
                <a:solidFill>
                  <a:schemeClr val="accent4"/>
                </a:solidFill>
              </a:rPr>
              <a:t>P3, operations analyst, 120 seats</a:t>
            </a:r>
            <a:endParaRPr lang="en-US" sz="1300" dirty="0"/>
          </a:p>
        </p:txBody>
      </p:sp>
      <p:sp>
        <p:nvSpPr>
          <p:cNvPr id="12" name="Text 10"/>
          <p:cNvSpPr txBox="1"/>
          <p:nvPr/>
        </p:nvSpPr>
        <p:spPr>
          <a:xfrm>
            <a:off x="3154680" y="2788920"/>
            <a:ext cx="54406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RECEIPTS</a:t>
            </a:r>
            <a:endParaRPr lang="en-US" sz="950" dirty="0"/>
          </a:p>
        </p:txBody>
      </p:sp>
      <p:sp>
        <p:nvSpPr>
          <p:cNvPr id="13" name="Text 11"/>
          <p:cNvSpPr txBox="1"/>
          <p:nvPr/>
        </p:nvSpPr>
        <p:spPr>
          <a:xfrm>
            <a:off x="3154680" y="2990088"/>
            <a:ext cx="5440680" cy="320040"/>
          </a:xfrm>
          <a:prstGeom prst="rect">
            <a:avLst/>
          </a:prstGeom>
          <a:noFill/>
          <a:ln/>
        </p:spPr>
        <p:txBody>
          <a:bodyPr wrap="square" lIns="0" tIns="0" rIns="0" bIns="0" rtlCol="0" anchor="t"/>
          <a:lstStyle/>
          <a:p>
            <a:pPr indent="0" marL="0">
              <a:buNone/>
            </a:pPr>
            <a:r>
              <a:rPr lang="en-US" sz="1050" dirty="0">
                <a:solidFill>
                  <a:schemeClr val="accent4"/>
                </a:solidFill>
              </a:rPr>
              <a:t>P1 line 13 · P3 line 41 · P4 08:15 · P6 12:40 · P8 06:02</a:t>
            </a:r>
            <a:endParaRPr lang="en-US" sz="1050" dirty="0"/>
          </a:p>
        </p:txBody>
      </p:sp>
      <p:sp>
        <p:nvSpPr>
          <p:cNvPr id="14" name="Text 12"/>
          <p:cNvSpPr txBox="1"/>
          <p:nvPr/>
        </p:nvSpPr>
        <p:spPr>
          <a:xfrm>
            <a:off x="31546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CUTS AGAINST IT</a:t>
            </a:r>
            <a:endParaRPr lang="en-US" sz="950" dirty="0"/>
          </a:p>
        </p:txBody>
      </p:sp>
      <p:sp>
        <p:nvSpPr>
          <p:cNvPr id="15" name="Text 13"/>
          <p:cNvSpPr txBox="1"/>
          <p:nvPr/>
        </p:nvSpPr>
        <p:spPr>
          <a:xfrm>
            <a:off x="31546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P2 and P5 exported every column. Both had CS run their import for them.</a:t>
            </a:r>
            <a:endParaRPr lang="en-US" sz="1100" dirty="0"/>
          </a:p>
        </p:txBody>
      </p:sp>
      <p:sp>
        <p:nvSpPr>
          <p:cNvPr id="16" name="Text 14"/>
          <p:cNvSpPr txBox="1"/>
          <p:nvPr/>
        </p:nvSpPr>
        <p:spPr>
          <a:xfrm>
            <a:off x="60121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IT MEANS</a:t>
            </a:r>
            <a:endParaRPr lang="en-US" sz="950" dirty="0"/>
          </a:p>
        </p:txBody>
      </p:sp>
      <p:sp>
        <p:nvSpPr>
          <p:cNvPr id="17" name="Text 15"/>
          <p:cNvSpPr txBox="1"/>
          <p:nvPr/>
        </p:nvSpPr>
        <p:spPr>
          <a:xfrm>
            <a:off x="60121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A new dialog wouldn’t have helped 5 of the 6 who abandoned. The fix is earlier in the journey, and belongs to a different team.</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FINDING 2 OF 4  ·  WEAK  ·  SERIOUS CASE</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Both finance-team participants couldn’t get a file their system accepts</a:t>
            </a:r>
            <a:endParaRPr lang="en-US" sz="2600" dirty="0"/>
          </a:p>
        </p:txBody>
      </p:sp>
      <p:sp>
        <p:nvSpPr>
          <p:cNvPr id="4" name="Shape 2"/>
          <p:cNvSpPr/>
          <p:nvPr/>
        </p:nvSpPr>
        <p:spPr>
          <a:xfrm>
            <a:off x="548640" y="1371600"/>
            <a:ext cx="2286000" cy="310896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548640" y="1554480"/>
            <a:ext cx="2286000" cy="822960"/>
          </a:xfrm>
          <a:prstGeom prst="rect">
            <a:avLst/>
          </a:prstGeom>
          <a:noFill/>
          <a:ln/>
        </p:spPr>
        <p:txBody>
          <a:bodyPr wrap="square" lIns="0" tIns="0" rIns="0" bIns="0" rtlCol="0" anchor="ctr"/>
          <a:lstStyle/>
          <a:p>
            <a:pPr algn="ctr" indent="0" marL="0">
              <a:buNone/>
            </a:pPr>
            <a:r>
              <a:rPr lang="en-US" sz="4400" b="1" dirty="0">
                <a:solidFill>
                  <a:schemeClr val="accent3"/>
                </a:solidFill>
              </a:rPr>
              <a:t>2 of 8</a:t>
            </a:r>
            <a:endParaRPr lang="en-US" sz="4400" dirty="0"/>
          </a:p>
        </p:txBody>
      </p:sp>
      <p:sp>
        <p:nvSpPr>
          <p:cNvPr id="6" name="Text 4"/>
          <p:cNvSpPr txBox="1"/>
          <p:nvPr/>
        </p:nvSpPr>
        <p:spPr>
          <a:xfrm>
            <a:off x="731520" y="2423160"/>
            <a:ext cx="1920240" cy="1188720"/>
          </a:xfrm>
          <a:prstGeom prst="rect">
            <a:avLst/>
          </a:prstGeom>
          <a:noFill/>
          <a:ln/>
        </p:spPr>
        <p:txBody>
          <a:bodyPr wrap="square" lIns="0" tIns="0" rIns="0" bIns="0" rtlCol="0" anchor="t"/>
          <a:lstStyle/>
          <a:p>
            <a:pPr algn="ctr" indent="0" marL="0">
              <a:buNone/>
            </a:pPr>
            <a:r>
              <a:rPr lang="en-US" sz="1150" dirty="0">
                <a:solidFill>
                  <a:schemeClr val="tx1"/>
                </a:solidFill>
              </a:rPr>
              <a:t>reconcile against an external finance system that rejects the export’s column order</a:t>
            </a:r>
            <a:endParaRPr lang="en-US" sz="1150" dirty="0"/>
          </a:p>
        </p:txBody>
      </p:sp>
      <p:sp>
        <p:nvSpPr>
          <p:cNvPr id="7" name="Shape 5"/>
          <p:cNvSpPr/>
          <p:nvPr/>
        </p:nvSpPr>
        <p:spPr>
          <a:xfrm>
            <a:off x="777240" y="3840480"/>
            <a:ext cx="1828800" cy="384048"/>
          </a:xfrm>
          <a:prstGeom prst="roundRect">
            <a:avLst>
              <a:gd name="adj" fmla="val 50000"/>
            </a:avLst>
          </a:prstGeom>
          <a:solidFill>
            <a:schemeClr val="accent3"/>
          </a:solidFill>
          <a:ln w="12700">
            <a:solidFill>
              <a:schemeClr val="accent3"/>
            </a:solidFill>
            <a:prstDash val="solid"/>
          </a:ln>
        </p:spPr>
      </p:sp>
      <p:sp>
        <p:nvSpPr>
          <p:cNvPr id="8" name="Text 6"/>
          <p:cNvSpPr txBox="1"/>
          <p:nvPr/>
        </p:nvSpPr>
        <p:spPr>
          <a:xfrm>
            <a:off x="777240" y="3840480"/>
            <a:ext cx="1828800" cy="384048"/>
          </a:xfrm>
          <a:prstGeom prst="rect">
            <a:avLst/>
          </a:prstGeom>
          <a:noFill/>
          <a:ln/>
        </p:spPr>
        <p:txBody>
          <a:bodyPr wrap="square" lIns="0" tIns="0" rIns="0" bIns="0" rtlCol="0" anchor="ctr"/>
          <a:lstStyle/>
          <a:p>
            <a:pPr algn="ctr" indent="0" marL="0">
              <a:buNone/>
            </a:pPr>
            <a:r>
              <a:rPr lang="en-US" sz="1100" b="1" dirty="0">
                <a:solidFill>
                  <a:schemeClr val="bg1"/>
                </a:solidFill>
              </a:rPr>
              <a:t>Weak · serious case</a:t>
            </a:r>
            <a:endParaRPr lang="en-US" sz="1100" dirty="0"/>
          </a:p>
        </p:txBody>
      </p:sp>
      <p:sp>
        <p:nvSpPr>
          <p:cNvPr id="9" name="Text 7"/>
          <p:cNvSpPr txBox="1"/>
          <p:nvPr/>
        </p:nvSpPr>
        <p:spPr>
          <a:xfrm>
            <a:off x="3154680" y="1371600"/>
            <a:ext cx="5440680" cy="685800"/>
          </a:xfrm>
          <a:prstGeom prst="rect">
            <a:avLst/>
          </a:prstGeom>
          <a:noFill/>
          <a:ln/>
        </p:spPr>
        <p:txBody>
          <a:bodyPr wrap="square" lIns="0" tIns="0" rIns="0" bIns="0" rtlCol="0" anchor="t"/>
          <a:lstStyle/>
          <a:p>
            <a:pPr indent="0" marL="0">
              <a:buNone/>
            </a:pPr>
            <a:r>
              <a:rPr lang="en-US" sz="1400" dirty="0">
                <a:solidFill>
                  <a:schemeClr val="tx1"/>
                </a:solidFill>
              </a:rPr>
              <a:t>P5 and P7 need a fixed column order export can’t produce. P7 gave up; P5’s file was rejected.</a:t>
            </a:r>
            <a:endParaRPr lang="en-US" sz="1400" dirty="0"/>
          </a:p>
        </p:txBody>
      </p:sp>
      <p:sp>
        <p:nvSpPr>
          <p:cNvPr id="10" name="Text 8"/>
          <p:cNvSpPr txBox="1"/>
          <p:nvPr/>
        </p:nvSpPr>
        <p:spPr>
          <a:xfrm>
            <a:off x="3154680" y="2011680"/>
            <a:ext cx="457200" cy="640080"/>
          </a:xfrm>
          <a:prstGeom prst="rect">
            <a:avLst/>
          </a:prstGeom>
          <a:noFill/>
          <a:ln/>
        </p:spPr>
        <p:txBody>
          <a:bodyPr wrap="square" lIns="0" tIns="0" rIns="0" bIns="0" rtlCol="0" anchor="t"/>
          <a:lstStyle/>
          <a:p>
            <a:pPr indent="0" marL="0">
              <a:buNone/>
            </a:pPr>
            <a:r>
              <a:rPr lang="en-US" sz="4400" b="1" dirty="0">
                <a:solidFill>
                  <a:schemeClr val="accent2"/>
                </a:solidFill>
              </a:rPr>
              <a:t>“</a:t>
            </a:r>
            <a:endParaRPr lang="en-US" sz="4400" dirty="0"/>
          </a:p>
        </p:txBody>
      </p:sp>
      <p:sp>
        <p:nvSpPr>
          <p:cNvPr id="11" name="Text 9"/>
          <p:cNvSpPr txBox="1"/>
          <p:nvPr/>
        </p:nvSpPr>
        <p:spPr>
          <a:xfrm>
            <a:off x="3611880" y="2103120"/>
            <a:ext cx="4983480" cy="640080"/>
          </a:xfrm>
          <a:prstGeom prst="rect">
            <a:avLst/>
          </a:prstGeom>
          <a:noFill/>
          <a:ln/>
        </p:spPr>
        <p:txBody>
          <a:bodyPr wrap="square" lIns="0" tIns="0" rIns="0" bIns="0" rtlCol="0" anchor="t"/>
          <a:lstStyle/>
          <a:p>
            <a:pPr indent="0" marL="0">
              <a:buNone/>
            </a:pPr>
            <a:r>
              <a:rPr lang="en-US" sz="1300" i="1" dirty="0">
                <a:solidFill>
                  <a:schemeClr val="tx2"/>
                </a:solidFill>
              </a:rPr>
              <a:t>“If the order’s wrong the reconciliation tool rejects the whole file.”</a:t>
            </a:r>
            <a:endParaRPr lang="en-US" sz="1300" dirty="0"/>
          </a:p>
          <a:p>
            <a:pPr indent="0" marL="0">
              <a:buNone/>
            </a:pPr>
            <a:r>
              <a:rPr lang="en-US" sz="1050" b="1" dirty="0">
                <a:solidFill>
                  <a:schemeClr val="accent4"/>
                </a:solidFill>
              </a:rPr>
              <a:t>P7, finance controller, 450 seats</a:t>
            </a:r>
            <a:endParaRPr lang="en-US" sz="1300" dirty="0"/>
          </a:p>
        </p:txBody>
      </p:sp>
      <p:sp>
        <p:nvSpPr>
          <p:cNvPr id="12" name="Text 10"/>
          <p:cNvSpPr txBox="1"/>
          <p:nvPr/>
        </p:nvSpPr>
        <p:spPr>
          <a:xfrm>
            <a:off x="3154680" y="2788920"/>
            <a:ext cx="54406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RECEIPTS</a:t>
            </a:r>
            <a:endParaRPr lang="en-US" sz="950" dirty="0"/>
          </a:p>
        </p:txBody>
      </p:sp>
      <p:sp>
        <p:nvSpPr>
          <p:cNvPr id="13" name="Text 11"/>
          <p:cNvSpPr txBox="1"/>
          <p:nvPr/>
        </p:nvSpPr>
        <p:spPr>
          <a:xfrm>
            <a:off x="3154680" y="2990088"/>
            <a:ext cx="5440680" cy="320040"/>
          </a:xfrm>
          <a:prstGeom prst="rect">
            <a:avLst/>
          </a:prstGeom>
          <a:noFill/>
          <a:ln/>
        </p:spPr>
        <p:txBody>
          <a:bodyPr wrap="square" lIns="0" tIns="0" rIns="0" bIns="0" rtlCol="0" anchor="t"/>
          <a:lstStyle/>
          <a:p>
            <a:pPr indent="0" marL="0">
              <a:buNone/>
            </a:pPr>
            <a:r>
              <a:rPr lang="en-US" sz="1050" dirty="0">
                <a:solidFill>
                  <a:schemeClr val="accent4"/>
                </a:solidFill>
              </a:rPr>
              <a:t>P5 18:05 · P7 22:10</a:t>
            </a:r>
            <a:endParaRPr lang="en-US" sz="1050" dirty="0"/>
          </a:p>
        </p:txBody>
      </p:sp>
      <p:sp>
        <p:nvSpPr>
          <p:cNvPr id="14" name="Text 12"/>
          <p:cNvSpPr txBox="1"/>
          <p:nvPr/>
        </p:nvSpPr>
        <p:spPr>
          <a:xfrm>
            <a:off x="31546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CUTS AGAINST IT</a:t>
            </a:r>
            <a:endParaRPr lang="en-US" sz="950" dirty="0"/>
          </a:p>
        </p:txBody>
      </p:sp>
      <p:sp>
        <p:nvSpPr>
          <p:cNvPr id="15" name="Text 13"/>
          <p:cNvSpPr txBox="1"/>
          <p:nvPr/>
        </p:nvSpPr>
        <p:spPr>
          <a:xfrm>
            <a:off x="31546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The other 6 had no column-order need. This may be one segment’s problem, not everyone’s.</a:t>
            </a:r>
            <a:endParaRPr lang="en-US" sz="1100" dirty="0"/>
          </a:p>
        </p:txBody>
      </p:sp>
      <p:sp>
        <p:nvSpPr>
          <p:cNvPr id="16" name="Text 14"/>
          <p:cNvSpPr txBox="1"/>
          <p:nvPr/>
        </p:nvSpPr>
        <p:spPr>
          <a:xfrm>
            <a:off x="60121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IT MEANS</a:t>
            </a:r>
            <a:endParaRPr lang="en-US" sz="950" dirty="0"/>
          </a:p>
        </p:txBody>
      </p:sp>
      <p:sp>
        <p:nvSpPr>
          <p:cNvPr id="17" name="Text 15"/>
          <p:cNvSpPr txBox="1"/>
          <p:nvPr/>
        </p:nvSpPr>
        <p:spPr>
          <a:xfrm>
            <a:off x="60121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A small group is fully blocked. Size it before deciding: Support can count the finance-team customers who’ve raised this.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FINDING 3 OF 4  ·  STRONG</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6 of 8 work around export by emailing the file to a colleague</a:t>
            </a:r>
            <a:endParaRPr lang="en-US" sz="2600" dirty="0"/>
          </a:p>
        </p:txBody>
      </p:sp>
      <p:sp>
        <p:nvSpPr>
          <p:cNvPr id="4" name="Shape 2"/>
          <p:cNvSpPr/>
          <p:nvPr/>
        </p:nvSpPr>
        <p:spPr>
          <a:xfrm>
            <a:off x="548640" y="1371600"/>
            <a:ext cx="2286000" cy="310896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548640" y="1554480"/>
            <a:ext cx="2286000" cy="822960"/>
          </a:xfrm>
          <a:prstGeom prst="rect">
            <a:avLst/>
          </a:prstGeom>
          <a:noFill/>
          <a:ln/>
        </p:spPr>
        <p:txBody>
          <a:bodyPr wrap="square" lIns="0" tIns="0" rIns="0" bIns="0" rtlCol="0" anchor="ctr"/>
          <a:lstStyle/>
          <a:p>
            <a:pPr algn="ctr" indent="0" marL="0">
              <a:buNone/>
            </a:pPr>
            <a:r>
              <a:rPr lang="en-US" sz="4400" b="1" dirty="0">
                <a:solidFill>
                  <a:schemeClr val="accent1"/>
                </a:solidFill>
              </a:rPr>
              <a:t>6 of 8</a:t>
            </a:r>
            <a:endParaRPr lang="en-US" sz="4400" dirty="0"/>
          </a:p>
        </p:txBody>
      </p:sp>
      <p:sp>
        <p:nvSpPr>
          <p:cNvPr id="6" name="Text 4"/>
          <p:cNvSpPr txBox="1"/>
          <p:nvPr/>
        </p:nvSpPr>
        <p:spPr>
          <a:xfrm>
            <a:off x="731520" y="2423160"/>
            <a:ext cx="1920240" cy="1188720"/>
          </a:xfrm>
          <a:prstGeom prst="rect">
            <a:avLst/>
          </a:prstGeom>
          <a:noFill/>
          <a:ln/>
        </p:spPr>
        <p:txBody>
          <a:bodyPr wrap="square" lIns="0" tIns="0" rIns="0" bIns="0" rtlCol="0" anchor="t"/>
          <a:lstStyle/>
          <a:p>
            <a:pPr algn="ctr" indent="0" marL="0">
              <a:buNone/>
            </a:pPr>
            <a:r>
              <a:rPr lang="en-US" sz="1150" dirty="0">
                <a:solidFill>
                  <a:schemeClr val="tx1"/>
                </a:solidFill>
              </a:rPr>
              <a:t>had sent a raw file to a colleague to fix by hand</a:t>
            </a:r>
            <a:endParaRPr lang="en-US" sz="1150" dirty="0"/>
          </a:p>
        </p:txBody>
      </p:sp>
      <p:sp>
        <p:nvSpPr>
          <p:cNvPr id="7" name="Shape 5"/>
          <p:cNvSpPr/>
          <p:nvPr/>
        </p:nvSpPr>
        <p:spPr>
          <a:xfrm>
            <a:off x="777240" y="3840480"/>
            <a:ext cx="1828800" cy="384048"/>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777240" y="3840480"/>
            <a:ext cx="1828800" cy="384048"/>
          </a:xfrm>
          <a:prstGeom prst="rect">
            <a:avLst/>
          </a:prstGeom>
          <a:noFill/>
          <a:ln/>
        </p:spPr>
        <p:txBody>
          <a:bodyPr wrap="square" lIns="0" tIns="0" rIns="0" bIns="0" rtlCol="0" anchor="ctr"/>
          <a:lstStyle/>
          <a:p>
            <a:pPr algn="ctr" indent="0" marL="0">
              <a:buNone/>
            </a:pPr>
            <a:r>
              <a:rPr lang="en-US" sz="1100" b="1" dirty="0">
                <a:solidFill>
                  <a:schemeClr val="bg1"/>
                </a:solidFill>
              </a:rPr>
              <a:t>Strong</a:t>
            </a:r>
            <a:endParaRPr lang="en-US" sz="1100" dirty="0"/>
          </a:p>
        </p:txBody>
      </p:sp>
      <p:sp>
        <p:nvSpPr>
          <p:cNvPr id="9" name="Text 7"/>
          <p:cNvSpPr txBox="1"/>
          <p:nvPr/>
        </p:nvSpPr>
        <p:spPr>
          <a:xfrm>
            <a:off x="3154680" y="1371600"/>
            <a:ext cx="5440680" cy="685800"/>
          </a:xfrm>
          <a:prstGeom prst="rect">
            <a:avLst/>
          </a:prstGeom>
          <a:noFill/>
          <a:ln/>
        </p:spPr>
        <p:txBody>
          <a:bodyPr wrap="square" lIns="0" tIns="0" rIns="0" bIns="0" rtlCol="0" anchor="t"/>
          <a:lstStyle/>
          <a:p>
            <a:pPr indent="0" marL="0">
              <a:buNone/>
            </a:pPr>
            <a:r>
              <a:rPr lang="en-US" sz="1400" dirty="0">
                <a:solidFill>
                  <a:schemeClr val="tx1"/>
                </a:solidFill>
              </a:rPr>
              <a:t>Described without being asked. The funnel counts these exports as complete; the real work then happens in email.</a:t>
            </a:r>
            <a:endParaRPr lang="en-US" sz="1400" dirty="0"/>
          </a:p>
        </p:txBody>
      </p:sp>
      <p:sp>
        <p:nvSpPr>
          <p:cNvPr id="10" name="Text 8"/>
          <p:cNvSpPr txBox="1"/>
          <p:nvPr/>
        </p:nvSpPr>
        <p:spPr>
          <a:xfrm>
            <a:off x="3154680" y="2011680"/>
            <a:ext cx="457200" cy="640080"/>
          </a:xfrm>
          <a:prstGeom prst="rect">
            <a:avLst/>
          </a:prstGeom>
          <a:noFill/>
          <a:ln/>
        </p:spPr>
        <p:txBody>
          <a:bodyPr wrap="square" lIns="0" tIns="0" rIns="0" bIns="0" rtlCol="0" anchor="t"/>
          <a:lstStyle/>
          <a:p>
            <a:pPr indent="0" marL="0">
              <a:buNone/>
            </a:pPr>
            <a:r>
              <a:rPr lang="en-US" sz="4400" b="1" dirty="0">
                <a:solidFill>
                  <a:schemeClr val="accent2"/>
                </a:solidFill>
              </a:rPr>
              <a:t>“</a:t>
            </a:r>
            <a:endParaRPr lang="en-US" sz="4400" dirty="0"/>
          </a:p>
        </p:txBody>
      </p:sp>
      <p:sp>
        <p:nvSpPr>
          <p:cNvPr id="11" name="Text 9"/>
          <p:cNvSpPr txBox="1"/>
          <p:nvPr/>
        </p:nvSpPr>
        <p:spPr>
          <a:xfrm>
            <a:off x="3611880" y="2103120"/>
            <a:ext cx="4983480" cy="640080"/>
          </a:xfrm>
          <a:prstGeom prst="rect">
            <a:avLst/>
          </a:prstGeom>
          <a:noFill/>
          <a:ln/>
        </p:spPr>
        <p:txBody>
          <a:bodyPr wrap="square" lIns="0" tIns="0" rIns="0" bIns="0" rtlCol="0" anchor="t"/>
          <a:lstStyle/>
          <a:p>
            <a:pPr indent="0" marL="0">
              <a:buNone/>
            </a:pPr>
            <a:r>
              <a:rPr lang="en-US" sz="1300" i="1" dirty="0">
                <a:solidFill>
                  <a:schemeClr val="tx2"/>
                </a:solidFill>
              </a:rPr>
              <a:t>“Sent the raw file to [name] and asked them to fix it.”</a:t>
            </a:r>
            <a:endParaRPr lang="en-US" sz="1300" dirty="0"/>
          </a:p>
          <a:p>
            <a:pPr indent="0" marL="0">
              <a:buNone/>
            </a:pPr>
            <a:r>
              <a:rPr lang="en-US" sz="1050" b="1" dirty="0">
                <a:solidFill>
                  <a:schemeClr val="accent4"/>
                </a:solidFill>
              </a:rPr>
              <a:t>P1, operations manager, 80 seats</a:t>
            </a:r>
            <a:endParaRPr lang="en-US" sz="1300" dirty="0"/>
          </a:p>
        </p:txBody>
      </p:sp>
      <p:sp>
        <p:nvSpPr>
          <p:cNvPr id="12" name="Text 10"/>
          <p:cNvSpPr txBox="1"/>
          <p:nvPr/>
        </p:nvSpPr>
        <p:spPr>
          <a:xfrm>
            <a:off x="3154680" y="2788920"/>
            <a:ext cx="54406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RECEIPTS</a:t>
            </a:r>
            <a:endParaRPr lang="en-US" sz="950" dirty="0"/>
          </a:p>
        </p:txBody>
      </p:sp>
      <p:sp>
        <p:nvSpPr>
          <p:cNvPr id="13" name="Text 11"/>
          <p:cNvSpPr txBox="1"/>
          <p:nvPr/>
        </p:nvSpPr>
        <p:spPr>
          <a:xfrm>
            <a:off x="3154680" y="2990088"/>
            <a:ext cx="5440680" cy="320040"/>
          </a:xfrm>
          <a:prstGeom prst="rect">
            <a:avLst/>
          </a:prstGeom>
          <a:noFill/>
          <a:ln/>
        </p:spPr>
        <p:txBody>
          <a:bodyPr wrap="square" lIns="0" tIns="0" rIns="0" bIns="0" rtlCol="0" anchor="t"/>
          <a:lstStyle/>
          <a:p>
            <a:pPr indent="0" marL="0">
              <a:buNone/>
            </a:pPr>
            <a:r>
              <a:rPr lang="en-US" sz="1050" dirty="0">
                <a:solidFill>
                  <a:schemeClr val="accent4"/>
                </a:solidFill>
              </a:rPr>
              <a:t>P1 line 15 · P3 line 48 · P4 11:00 · P6 14:20 · P7 25:00 · P8 07:30</a:t>
            </a:r>
            <a:endParaRPr lang="en-US" sz="1050" dirty="0"/>
          </a:p>
        </p:txBody>
      </p:sp>
      <p:sp>
        <p:nvSpPr>
          <p:cNvPr id="14" name="Text 12"/>
          <p:cNvSpPr txBox="1"/>
          <p:nvPr/>
        </p:nvSpPr>
        <p:spPr>
          <a:xfrm>
            <a:off x="31546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CUTS AGAINST IT</a:t>
            </a:r>
            <a:endParaRPr lang="en-US" sz="950" dirty="0"/>
          </a:p>
        </p:txBody>
      </p:sp>
      <p:sp>
        <p:nvSpPr>
          <p:cNvPr id="15" name="Text 13"/>
          <p:cNvSpPr txBox="1"/>
          <p:nvPr/>
        </p:nvSpPr>
        <p:spPr>
          <a:xfrm>
            <a:off x="31546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P2 and P5 reported no workaround. P2 rarely exports.</a:t>
            </a:r>
            <a:endParaRPr lang="en-US" sz="1100" dirty="0"/>
          </a:p>
        </p:txBody>
      </p:sp>
      <p:sp>
        <p:nvSpPr>
          <p:cNvPr id="16" name="Text 14"/>
          <p:cNvSpPr txBox="1"/>
          <p:nvPr/>
        </p:nvSpPr>
        <p:spPr>
          <a:xfrm>
            <a:off x="60121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IT MEANS</a:t>
            </a:r>
            <a:endParaRPr lang="en-US" sz="950" dirty="0"/>
          </a:p>
        </p:txBody>
      </p:sp>
      <p:sp>
        <p:nvSpPr>
          <p:cNvPr id="17" name="Text 15"/>
          <p:cNvSpPr txBox="1"/>
          <p:nvPr/>
        </p:nvSpPr>
        <p:spPr>
          <a:xfrm>
            <a:off x="60121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The 212 tickets understate the problem. Most people route around it without telling us.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FINDING 4 OF 4  ·  MODERATE</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7 of 8 couldn’t say what “Include hidden fields” does</a:t>
            </a:r>
            <a:endParaRPr lang="en-US" sz="2600" dirty="0"/>
          </a:p>
        </p:txBody>
      </p:sp>
      <p:sp>
        <p:nvSpPr>
          <p:cNvPr id="4" name="Shape 2"/>
          <p:cNvSpPr/>
          <p:nvPr/>
        </p:nvSpPr>
        <p:spPr>
          <a:xfrm>
            <a:off x="548640" y="1371600"/>
            <a:ext cx="2286000" cy="310896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548640" y="1554480"/>
            <a:ext cx="2286000" cy="822960"/>
          </a:xfrm>
          <a:prstGeom prst="rect">
            <a:avLst/>
          </a:prstGeom>
          <a:noFill/>
          <a:ln/>
        </p:spPr>
        <p:txBody>
          <a:bodyPr wrap="square" lIns="0" tIns="0" rIns="0" bIns="0" rtlCol="0" anchor="ctr"/>
          <a:lstStyle/>
          <a:p>
            <a:pPr algn="ctr" indent="0" marL="0">
              <a:buNone/>
            </a:pPr>
            <a:r>
              <a:rPr lang="en-US" sz="4400" b="1" dirty="0">
                <a:solidFill>
                  <a:schemeClr val="accent4"/>
                </a:solidFill>
              </a:rPr>
              <a:t>7 of 8</a:t>
            </a:r>
            <a:endParaRPr lang="en-US" sz="4400" dirty="0"/>
          </a:p>
        </p:txBody>
      </p:sp>
      <p:sp>
        <p:nvSpPr>
          <p:cNvPr id="6" name="Text 4"/>
          <p:cNvSpPr txBox="1"/>
          <p:nvPr/>
        </p:nvSpPr>
        <p:spPr>
          <a:xfrm>
            <a:off x="731520" y="2423160"/>
            <a:ext cx="1920240" cy="1188720"/>
          </a:xfrm>
          <a:prstGeom prst="rect">
            <a:avLst/>
          </a:prstGeom>
          <a:noFill/>
          <a:ln/>
        </p:spPr>
        <p:txBody>
          <a:bodyPr wrap="square" lIns="0" tIns="0" rIns="0" bIns="0" rtlCol="0" anchor="t"/>
          <a:lstStyle/>
          <a:p>
            <a:pPr algn="ctr" indent="0" marL="0">
              <a:buNone/>
            </a:pPr>
            <a:r>
              <a:rPr lang="en-US" sz="1150" dirty="0">
                <a:solidFill>
                  <a:schemeClr val="tx1"/>
                </a:solidFill>
              </a:rPr>
              <a:t>skipped the checkbox or guessed what it did</a:t>
            </a:r>
            <a:endParaRPr lang="en-US" sz="1150" dirty="0"/>
          </a:p>
        </p:txBody>
      </p:sp>
      <p:sp>
        <p:nvSpPr>
          <p:cNvPr id="7" name="Shape 5"/>
          <p:cNvSpPr/>
          <p:nvPr/>
        </p:nvSpPr>
        <p:spPr>
          <a:xfrm>
            <a:off x="777240" y="3840480"/>
            <a:ext cx="1828800" cy="384048"/>
          </a:xfrm>
          <a:prstGeom prst="roundRect">
            <a:avLst>
              <a:gd name="adj" fmla="val 50000"/>
            </a:avLst>
          </a:prstGeom>
          <a:solidFill>
            <a:schemeClr val="accent4"/>
          </a:solidFill>
          <a:ln w="12700">
            <a:solidFill>
              <a:schemeClr val="accent4"/>
            </a:solidFill>
            <a:prstDash val="solid"/>
          </a:ln>
        </p:spPr>
      </p:sp>
      <p:sp>
        <p:nvSpPr>
          <p:cNvPr id="8" name="Text 6"/>
          <p:cNvSpPr txBox="1"/>
          <p:nvPr/>
        </p:nvSpPr>
        <p:spPr>
          <a:xfrm>
            <a:off x="777240" y="3840480"/>
            <a:ext cx="1828800" cy="384048"/>
          </a:xfrm>
          <a:prstGeom prst="rect">
            <a:avLst/>
          </a:prstGeom>
          <a:noFill/>
          <a:ln/>
        </p:spPr>
        <p:txBody>
          <a:bodyPr wrap="square" lIns="0" tIns="0" rIns="0" bIns="0" rtlCol="0" anchor="ctr"/>
          <a:lstStyle/>
          <a:p>
            <a:pPr algn="ctr" indent="0" marL="0">
              <a:buNone/>
            </a:pPr>
            <a:r>
              <a:rPr lang="en-US" sz="1100" b="1" dirty="0">
                <a:solidFill>
                  <a:schemeClr val="bg1"/>
                </a:solidFill>
              </a:rPr>
              <a:t>Moderate</a:t>
            </a:r>
            <a:endParaRPr lang="en-US" sz="1100" dirty="0"/>
          </a:p>
        </p:txBody>
      </p:sp>
      <p:sp>
        <p:nvSpPr>
          <p:cNvPr id="9" name="Text 7"/>
          <p:cNvSpPr txBox="1"/>
          <p:nvPr/>
        </p:nvSpPr>
        <p:spPr>
          <a:xfrm>
            <a:off x="3154680" y="1371600"/>
            <a:ext cx="5440680" cy="685800"/>
          </a:xfrm>
          <a:prstGeom prst="rect">
            <a:avLst/>
          </a:prstGeom>
          <a:noFill/>
          <a:ln/>
        </p:spPr>
        <p:txBody>
          <a:bodyPr wrap="square" lIns="0" tIns="0" rIns="0" bIns="0" rtlCol="0" anchor="t"/>
          <a:lstStyle/>
          <a:p>
            <a:pPr indent="0" marL="0">
              <a:buNone/>
            </a:pPr>
            <a:r>
              <a:rPr lang="en-US" sz="1400" dirty="0">
                <a:solidFill>
                  <a:schemeClr val="tx1"/>
                </a:solidFill>
              </a:rPr>
              <a:t>None of the 7 could say what a hidden field was. We didn’t test other labels.</a:t>
            </a:r>
            <a:endParaRPr lang="en-US" sz="1400" dirty="0"/>
          </a:p>
        </p:txBody>
      </p:sp>
      <p:sp>
        <p:nvSpPr>
          <p:cNvPr id="10" name="Text 8"/>
          <p:cNvSpPr txBox="1"/>
          <p:nvPr/>
        </p:nvSpPr>
        <p:spPr>
          <a:xfrm>
            <a:off x="3154680" y="2011680"/>
            <a:ext cx="457200" cy="640080"/>
          </a:xfrm>
          <a:prstGeom prst="rect">
            <a:avLst/>
          </a:prstGeom>
          <a:noFill/>
          <a:ln/>
        </p:spPr>
        <p:txBody>
          <a:bodyPr wrap="square" lIns="0" tIns="0" rIns="0" bIns="0" rtlCol="0" anchor="t"/>
          <a:lstStyle/>
          <a:p>
            <a:pPr indent="0" marL="0">
              <a:buNone/>
            </a:pPr>
            <a:r>
              <a:rPr lang="en-US" sz="4400" b="1" dirty="0">
                <a:solidFill>
                  <a:schemeClr val="accent2"/>
                </a:solidFill>
              </a:rPr>
              <a:t>“</a:t>
            </a:r>
            <a:endParaRPr lang="en-US" sz="4400" dirty="0"/>
          </a:p>
        </p:txBody>
      </p:sp>
      <p:sp>
        <p:nvSpPr>
          <p:cNvPr id="11" name="Text 9"/>
          <p:cNvSpPr txBox="1"/>
          <p:nvPr/>
        </p:nvSpPr>
        <p:spPr>
          <a:xfrm>
            <a:off x="3611880" y="2103120"/>
            <a:ext cx="4983480" cy="640080"/>
          </a:xfrm>
          <a:prstGeom prst="rect">
            <a:avLst/>
          </a:prstGeom>
          <a:noFill/>
          <a:ln/>
        </p:spPr>
        <p:txBody>
          <a:bodyPr wrap="square" lIns="0" tIns="0" rIns="0" bIns="0" rtlCol="0" anchor="t"/>
          <a:lstStyle/>
          <a:p>
            <a:pPr indent="0" marL="0">
              <a:buNone/>
            </a:pPr>
            <a:r>
              <a:rPr lang="en-US" sz="1300" i="1" dirty="0">
                <a:solidFill>
                  <a:schemeClr val="tx2"/>
                </a:solidFill>
              </a:rPr>
              <a:t>“Hidden from who?”</a:t>
            </a:r>
            <a:endParaRPr lang="en-US" sz="1300" dirty="0"/>
          </a:p>
          <a:p>
            <a:pPr indent="0" marL="0">
              <a:buNone/>
            </a:pPr>
            <a:r>
              <a:rPr lang="en-US" sz="1050" b="1" dirty="0">
                <a:solidFill>
                  <a:schemeClr val="accent4"/>
                </a:solidFill>
              </a:rPr>
              <a:t>P4, reporting lead, 310 seats</a:t>
            </a:r>
            <a:endParaRPr lang="en-US" sz="1300" dirty="0"/>
          </a:p>
        </p:txBody>
      </p:sp>
      <p:sp>
        <p:nvSpPr>
          <p:cNvPr id="12" name="Text 10"/>
          <p:cNvSpPr txBox="1"/>
          <p:nvPr/>
        </p:nvSpPr>
        <p:spPr>
          <a:xfrm>
            <a:off x="3154680" y="2788920"/>
            <a:ext cx="54406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RECEIPTS</a:t>
            </a:r>
            <a:endParaRPr lang="en-US" sz="950" dirty="0"/>
          </a:p>
        </p:txBody>
      </p:sp>
      <p:sp>
        <p:nvSpPr>
          <p:cNvPr id="13" name="Text 11"/>
          <p:cNvSpPr txBox="1"/>
          <p:nvPr/>
        </p:nvSpPr>
        <p:spPr>
          <a:xfrm>
            <a:off x="3154680" y="2990088"/>
            <a:ext cx="5440680" cy="320040"/>
          </a:xfrm>
          <a:prstGeom prst="rect">
            <a:avLst/>
          </a:prstGeom>
          <a:noFill/>
          <a:ln/>
        </p:spPr>
        <p:txBody>
          <a:bodyPr wrap="square" lIns="0" tIns="0" rIns="0" bIns="0" rtlCol="0" anchor="t"/>
          <a:lstStyle/>
          <a:p>
            <a:pPr indent="0" marL="0">
              <a:buNone/>
            </a:pPr>
            <a:r>
              <a:rPr lang="en-US" sz="1050" dirty="0">
                <a:solidFill>
                  <a:schemeClr val="accent4"/>
                </a:solidFill>
              </a:rPr>
              <a:t>P1 line 30 · P2 line 22 · P3 line 55 · P4 09:30 · P5 16:00 · P6 15:10 · P7 27:40</a:t>
            </a:r>
            <a:endParaRPr lang="en-US" sz="1050" dirty="0"/>
          </a:p>
        </p:txBody>
      </p:sp>
      <p:sp>
        <p:nvSpPr>
          <p:cNvPr id="14" name="Text 12"/>
          <p:cNvSpPr txBox="1"/>
          <p:nvPr/>
        </p:nvSpPr>
        <p:spPr>
          <a:xfrm>
            <a:off x="31546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CUTS AGAINST IT</a:t>
            </a:r>
            <a:endParaRPr lang="en-US" sz="950" dirty="0"/>
          </a:p>
        </p:txBody>
      </p:sp>
      <p:sp>
        <p:nvSpPr>
          <p:cNvPr id="15" name="Text 13"/>
          <p:cNvSpPr txBox="1"/>
          <p:nvPr/>
        </p:nvSpPr>
        <p:spPr>
          <a:xfrm>
            <a:off x="31546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P8 used it correctly after reading the help article.</a:t>
            </a:r>
            <a:endParaRPr lang="en-US" sz="1100" dirty="0"/>
          </a:p>
        </p:txBody>
      </p:sp>
      <p:sp>
        <p:nvSpPr>
          <p:cNvPr id="16" name="Text 14"/>
          <p:cNvSpPr txBox="1"/>
          <p:nvPr/>
        </p:nvSpPr>
        <p:spPr>
          <a:xfrm>
            <a:off x="6012180" y="3429000"/>
            <a:ext cx="2583180" cy="201168"/>
          </a:xfrm>
          <a:prstGeom prst="rect">
            <a:avLst/>
          </a:prstGeom>
          <a:noFill/>
          <a:ln/>
        </p:spPr>
        <p:txBody>
          <a:bodyPr wrap="square" lIns="0" tIns="0" rIns="0" bIns="0" rtlCol="0" anchor="ctr"/>
          <a:lstStyle/>
          <a:p>
            <a:pPr indent="0" marL="0">
              <a:buNone/>
            </a:pPr>
            <a:r>
              <a:rPr lang="en-US" sz="950" b="1" spc="150" kern="0" dirty="0">
                <a:solidFill>
                  <a:schemeClr val="accent4"/>
                </a:solidFill>
              </a:rPr>
              <a:t>WHAT IT MEANS</a:t>
            </a:r>
            <a:endParaRPr lang="en-US" sz="950" dirty="0"/>
          </a:p>
        </p:txBody>
      </p:sp>
      <p:sp>
        <p:nvSpPr>
          <p:cNvPr id="17" name="Text 15"/>
          <p:cNvSpPr txBox="1"/>
          <p:nvPr/>
        </p:nvSpPr>
        <p:spPr>
          <a:xfrm>
            <a:off x="6012180" y="3630168"/>
            <a:ext cx="2583180" cy="914400"/>
          </a:xfrm>
          <a:prstGeom prst="rect">
            <a:avLst/>
          </a:prstGeom>
          <a:noFill/>
          <a:ln/>
        </p:spPr>
        <p:txBody>
          <a:bodyPr wrap="square" lIns="0" tIns="0" rIns="0" bIns="0" rtlCol="0" anchor="t"/>
          <a:lstStyle/>
          <a:p>
            <a:pPr indent="0" marL="0">
              <a:buNone/>
            </a:pPr>
            <a:r>
              <a:rPr lang="en-US" sz="1100" dirty="0">
                <a:solidFill>
                  <a:schemeClr val="tx1"/>
                </a:solidFill>
              </a:rPr>
              <a:t>A cheap labelling fix inside the dialog. Not why people abandon, and it costs little.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OTHER FINDINGS</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Three more findings, kept so nothing is lost</a:t>
            </a:r>
            <a:endParaRPr lang="en-US" sz="2600" dirty="0"/>
          </a:p>
        </p:txBody>
      </p:sp>
      <p:sp>
        <p:nvSpPr>
          <p:cNvPr id="4" name="Shape 2"/>
          <p:cNvSpPr/>
          <p:nvPr/>
        </p:nvSpPr>
        <p:spPr>
          <a:xfrm>
            <a:off x="548640" y="1417320"/>
            <a:ext cx="1371600" cy="347472"/>
          </a:xfrm>
          <a:prstGeom prst="roundRect">
            <a:avLst>
              <a:gd name="adj" fmla="val 50000"/>
            </a:avLst>
          </a:prstGeom>
          <a:solidFill>
            <a:schemeClr val="accent6"/>
          </a:solidFill>
          <a:ln w="12700">
            <a:solidFill>
              <a:schemeClr val="accent6"/>
            </a:solidFill>
            <a:prstDash val="solid"/>
          </a:ln>
        </p:spPr>
      </p:sp>
      <p:sp>
        <p:nvSpPr>
          <p:cNvPr id="5" name="Text 3"/>
          <p:cNvSpPr txBox="1"/>
          <p:nvPr/>
        </p:nvSpPr>
        <p:spPr>
          <a:xfrm>
            <a:off x="548640" y="1417320"/>
            <a:ext cx="1371600" cy="347472"/>
          </a:xfrm>
          <a:prstGeom prst="rect">
            <a:avLst/>
          </a:prstGeom>
          <a:noFill/>
          <a:ln/>
        </p:spPr>
        <p:txBody>
          <a:bodyPr wrap="square" lIns="0" tIns="0" rIns="0" bIns="0" rtlCol="0" anchor="ctr"/>
          <a:lstStyle/>
          <a:p>
            <a:pPr algn="ctr" indent="0" marL="0">
              <a:buNone/>
            </a:pPr>
            <a:r>
              <a:rPr lang="en-US" sz="1050" b="1" dirty="0">
                <a:solidFill>
                  <a:schemeClr val="bg1"/>
                </a:solidFill>
              </a:rPr>
              <a:t>Weak</a:t>
            </a:r>
            <a:endParaRPr lang="en-US" sz="1050" dirty="0"/>
          </a:p>
        </p:txBody>
      </p:sp>
      <p:sp>
        <p:nvSpPr>
          <p:cNvPr id="6" name="Text 4"/>
          <p:cNvSpPr txBox="1"/>
          <p:nvPr/>
        </p:nvSpPr>
        <p:spPr>
          <a:xfrm>
            <a:off x="2103120" y="1371600"/>
            <a:ext cx="6492240" cy="457200"/>
          </a:xfrm>
          <a:prstGeom prst="rect">
            <a:avLst/>
          </a:prstGeom>
          <a:noFill/>
          <a:ln/>
        </p:spPr>
        <p:txBody>
          <a:bodyPr wrap="square" lIns="0" tIns="0" rIns="0" bIns="0" rtlCol="0" anchor="ctr"/>
          <a:lstStyle/>
          <a:p>
            <a:pPr indent="0" marL="0">
              <a:buNone/>
            </a:pPr>
            <a:r>
              <a:rPr lang="en-US" sz="1600" dirty="0">
                <a:solidFill>
                  <a:schemeClr val="tx1"/>
                </a:solidFill>
              </a:rPr>
              <a:t>2 of 8 expected export to run on a monthly schedule by itself</a:t>
            </a:r>
            <a:endParaRPr lang="en-US" sz="1600" dirty="0"/>
          </a:p>
        </p:txBody>
      </p:sp>
      <p:sp>
        <p:nvSpPr>
          <p:cNvPr id="7" name="Text 5"/>
          <p:cNvSpPr txBox="1"/>
          <p:nvPr/>
        </p:nvSpPr>
        <p:spPr>
          <a:xfrm>
            <a:off x="2103120" y="1847088"/>
            <a:ext cx="6492240" cy="457200"/>
          </a:xfrm>
          <a:prstGeom prst="rect">
            <a:avLst/>
          </a:prstGeom>
          <a:noFill/>
          <a:ln/>
        </p:spPr>
        <p:txBody>
          <a:bodyPr wrap="square" lIns="0" tIns="0" rIns="0" bIns="0" rtlCol="0" anchor="t"/>
          <a:lstStyle/>
          <a:p>
            <a:pPr indent="0" marL="0">
              <a:buNone/>
            </a:pPr>
            <a:r>
              <a:rPr lang="en-US" sz="1200" dirty="0">
                <a:solidFill>
                  <a:schemeClr val="accent4"/>
                </a:solidFill>
              </a:rPr>
              <a:t>Unexpected: outside the research questions. Worth a line in the roadmap discussion.</a:t>
            </a:r>
            <a:endParaRPr lang="en-US" sz="1200" dirty="0"/>
          </a:p>
        </p:txBody>
      </p:sp>
      <p:sp>
        <p:nvSpPr>
          <p:cNvPr id="8" name="Shape 6"/>
          <p:cNvSpPr/>
          <p:nvPr/>
        </p:nvSpPr>
        <p:spPr>
          <a:xfrm>
            <a:off x="2103120" y="2194560"/>
            <a:ext cx="6492240" cy="0"/>
          </a:xfrm>
          <a:prstGeom prst="line">
            <a:avLst/>
          </a:prstGeom>
          <a:noFill/>
          <a:ln w="9525">
            <a:solidFill>
              <a:srgbClr val="EEF3EC"/>
            </a:solidFill>
            <a:prstDash val="solid"/>
          </a:ln>
        </p:spPr>
      </p:sp>
      <p:sp>
        <p:nvSpPr>
          <p:cNvPr id="9" name="Shape 7"/>
          <p:cNvSpPr/>
          <p:nvPr/>
        </p:nvSpPr>
        <p:spPr>
          <a:xfrm>
            <a:off x="548640" y="2331720"/>
            <a:ext cx="1371600" cy="347472"/>
          </a:xfrm>
          <a:prstGeom prst="roundRect">
            <a:avLst>
              <a:gd name="adj" fmla="val 50000"/>
            </a:avLst>
          </a:prstGeom>
          <a:solidFill>
            <a:schemeClr val="accent6"/>
          </a:solidFill>
          <a:ln w="12700">
            <a:solidFill>
              <a:schemeClr val="accent6"/>
            </a:solidFill>
            <a:prstDash val="solid"/>
          </a:ln>
        </p:spPr>
      </p:sp>
      <p:sp>
        <p:nvSpPr>
          <p:cNvPr id="10" name="Text 8"/>
          <p:cNvSpPr txBox="1"/>
          <p:nvPr/>
        </p:nvSpPr>
        <p:spPr>
          <a:xfrm>
            <a:off x="548640" y="2331720"/>
            <a:ext cx="1371600" cy="347472"/>
          </a:xfrm>
          <a:prstGeom prst="rect">
            <a:avLst/>
          </a:prstGeom>
          <a:noFill/>
          <a:ln/>
        </p:spPr>
        <p:txBody>
          <a:bodyPr wrap="square" lIns="0" tIns="0" rIns="0" bIns="0" rtlCol="0" anchor="ctr"/>
          <a:lstStyle/>
          <a:p>
            <a:pPr algn="ctr" indent="0" marL="0">
              <a:buNone/>
            </a:pPr>
            <a:r>
              <a:rPr lang="en-US" sz="1050" b="1" dirty="0">
                <a:solidFill>
                  <a:schemeClr val="bg1"/>
                </a:solidFill>
              </a:rPr>
              <a:t>Weak</a:t>
            </a:r>
            <a:endParaRPr lang="en-US" sz="1050" dirty="0"/>
          </a:p>
        </p:txBody>
      </p:sp>
      <p:sp>
        <p:nvSpPr>
          <p:cNvPr id="11" name="Text 9"/>
          <p:cNvSpPr txBox="1"/>
          <p:nvPr/>
        </p:nvSpPr>
        <p:spPr>
          <a:xfrm>
            <a:off x="2103120" y="2286000"/>
            <a:ext cx="6492240" cy="457200"/>
          </a:xfrm>
          <a:prstGeom prst="rect">
            <a:avLst/>
          </a:prstGeom>
          <a:noFill/>
          <a:ln/>
        </p:spPr>
        <p:txBody>
          <a:bodyPr wrap="square" lIns="0" tIns="0" rIns="0" bIns="0" rtlCol="0" anchor="ctr"/>
          <a:lstStyle/>
          <a:p>
            <a:pPr indent="0" marL="0">
              <a:buNone/>
            </a:pPr>
            <a:r>
              <a:rPr lang="en-US" sz="1600" dirty="0">
                <a:solidFill>
                  <a:schemeClr val="tx1"/>
                </a:solidFill>
              </a:rPr>
              <a:t>3 of 8 re-selected the same columns every time</a:t>
            </a:r>
            <a:endParaRPr lang="en-US" sz="1600" dirty="0"/>
          </a:p>
        </p:txBody>
      </p:sp>
      <p:sp>
        <p:nvSpPr>
          <p:cNvPr id="12" name="Text 10"/>
          <p:cNvSpPr txBox="1"/>
          <p:nvPr/>
        </p:nvSpPr>
        <p:spPr>
          <a:xfrm>
            <a:off x="2103120" y="2761488"/>
            <a:ext cx="6492240" cy="457200"/>
          </a:xfrm>
          <a:prstGeom prst="rect">
            <a:avLst/>
          </a:prstGeom>
          <a:noFill/>
          <a:ln/>
        </p:spPr>
        <p:txBody>
          <a:bodyPr wrap="square" lIns="0" tIns="0" rIns="0" bIns="0" rtlCol="0" anchor="t"/>
          <a:lstStyle/>
          <a:p>
            <a:pPr indent="0" marL="0">
              <a:buNone/>
            </a:pPr>
            <a:r>
              <a:rPr lang="en-US" sz="1200" dirty="0">
                <a:solidFill>
                  <a:schemeClr val="accent4"/>
                </a:solidFill>
              </a:rPr>
              <a:t>The dialog doesn’t remember the last choice. Not why anyone abandoned; logged for the dialog work.</a:t>
            </a:r>
            <a:endParaRPr lang="en-US" sz="1200" dirty="0"/>
          </a:p>
        </p:txBody>
      </p:sp>
      <p:sp>
        <p:nvSpPr>
          <p:cNvPr id="8" name="Shape 6"/>
          <p:cNvSpPr/>
          <p:nvPr/>
        </p:nvSpPr>
        <p:spPr>
          <a:xfrm>
            <a:off x="2103120" y="3108960"/>
            <a:ext cx="6492240" cy="0"/>
          </a:xfrm>
          <a:prstGeom prst="line">
            <a:avLst/>
          </a:prstGeom>
          <a:noFill/>
          <a:ln w="9525">
            <a:solidFill>
              <a:srgbClr val="EEF3EC"/>
            </a:solidFill>
            <a:prstDash val="solid"/>
          </a:ln>
        </p:spPr>
      </p:sp>
      <p:sp>
        <p:nvSpPr>
          <p:cNvPr id="9" name="Shape 7"/>
          <p:cNvSpPr/>
          <p:nvPr/>
        </p:nvSpPr>
        <p:spPr>
          <a:xfrm>
            <a:off x="548640" y="3246120"/>
            <a:ext cx="1371600" cy="347472"/>
          </a:xfrm>
          <a:prstGeom prst="roundRect">
            <a:avLst>
              <a:gd name="adj" fmla="val 50000"/>
            </a:avLst>
          </a:prstGeom>
          <a:solidFill>
            <a:schemeClr val="accent6"/>
          </a:solidFill>
          <a:ln w="12700">
            <a:solidFill>
              <a:schemeClr val="accent6"/>
            </a:solidFill>
            <a:prstDash val="solid"/>
          </a:ln>
        </p:spPr>
      </p:sp>
      <p:sp>
        <p:nvSpPr>
          <p:cNvPr id="10" name="Text 8"/>
          <p:cNvSpPr txBox="1"/>
          <p:nvPr/>
        </p:nvSpPr>
        <p:spPr>
          <a:xfrm>
            <a:off x="548640" y="3246120"/>
            <a:ext cx="1371600" cy="347472"/>
          </a:xfrm>
          <a:prstGeom prst="rect">
            <a:avLst/>
          </a:prstGeom>
          <a:noFill/>
          <a:ln/>
        </p:spPr>
        <p:txBody>
          <a:bodyPr wrap="square" lIns="0" tIns="0" rIns="0" bIns="0" rtlCol="0" anchor="ctr"/>
          <a:lstStyle/>
          <a:p>
            <a:pPr algn="ctr" indent="0" marL="0">
              <a:buNone/>
            </a:pPr>
            <a:r>
              <a:rPr lang="en-US" sz="1050" b="1" dirty="0">
                <a:solidFill>
                  <a:schemeClr val="bg1"/>
                </a:solidFill>
              </a:rPr>
              <a:t>Weak</a:t>
            </a:r>
            <a:endParaRPr lang="en-US" sz="1050" dirty="0"/>
          </a:p>
        </p:txBody>
      </p:sp>
      <p:sp>
        <p:nvSpPr>
          <p:cNvPr id="11" name="Text 9"/>
          <p:cNvSpPr txBox="1"/>
          <p:nvPr/>
        </p:nvSpPr>
        <p:spPr>
          <a:xfrm>
            <a:off x="2103120" y="3200400"/>
            <a:ext cx="6492240" cy="457200"/>
          </a:xfrm>
          <a:prstGeom prst="rect">
            <a:avLst/>
          </a:prstGeom>
          <a:noFill/>
          <a:ln/>
        </p:spPr>
        <p:txBody>
          <a:bodyPr wrap="square" lIns="0" tIns="0" rIns="0" bIns="0" rtlCol="0" anchor="ctr"/>
          <a:lstStyle/>
          <a:p>
            <a:pPr indent="0" marL="0">
              <a:buNone/>
            </a:pPr>
            <a:r>
              <a:rPr lang="en-US" sz="1600" dirty="0">
                <a:solidFill>
                  <a:schemeClr val="tx1"/>
                </a:solidFill>
              </a:rPr>
              <a:t>3 of 8 renamed the default filename</a:t>
            </a:r>
            <a:endParaRPr lang="en-US" sz="1600" dirty="0"/>
          </a:p>
        </p:txBody>
      </p:sp>
      <p:sp>
        <p:nvSpPr>
          <p:cNvPr id="12" name="Text 10"/>
          <p:cNvSpPr txBox="1"/>
          <p:nvPr/>
        </p:nvSpPr>
        <p:spPr>
          <a:xfrm>
            <a:off x="2103120" y="3675888"/>
            <a:ext cx="6492240" cy="457200"/>
          </a:xfrm>
          <a:prstGeom prst="rect">
            <a:avLst/>
          </a:prstGeom>
          <a:noFill/>
          <a:ln/>
        </p:spPr>
        <p:txBody>
          <a:bodyPr wrap="square" lIns="0" tIns="0" rIns="0" bIns="0" rtlCol="0" anchor="t"/>
          <a:lstStyle/>
          <a:p>
            <a:pPr indent="0" marL="0">
              <a:buNone/>
            </a:pPr>
            <a:r>
              <a:rPr lang="en-US" sz="1200" dirty="0">
                <a:solidFill>
                  <a:schemeClr val="accent4"/>
                </a:solidFill>
              </a:rPr>
              <a:t>Nobody stopped because of it. Recorded so it isn’t raised again as a priority.</a:t>
            </a:r>
            <a:endParaRPr lang="en-US" sz="1200" dirty="0"/>
          </a:p>
        </p:txBody>
      </p:sp>
      <p:sp>
        <p:nvSpPr>
          <p:cNvPr id="13" name="Text 11"/>
          <p:cNvSpPr txBox="1"/>
          <p:nvPr/>
        </p:nvSpPr>
        <p:spPr>
          <a:xfrm>
            <a:off x="548640" y="4069080"/>
            <a:ext cx="8046720" cy="548640"/>
          </a:xfrm>
          <a:prstGeom prst="rect">
            <a:avLst/>
          </a:prstGeom>
          <a:noFill/>
          <a:ln/>
        </p:spPr>
        <p:txBody>
          <a:bodyPr wrap="square" lIns="0" tIns="0" rIns="0" bIns="0" rtlCol="0" anchor="ctr"/>
          <a:lstStyle/>
          <a:p>
            <a:pPr indent="0" marL="0">
              <a:buNone/>
            </a:pPr>
            <a:r>
              <a:rPr lang="en-US" sz="1200" dirty="0">
                <a:solidFill>
                  <a:schemeClr val="tx1"/>
                </a:solidFill>
              </a:rPr>
              <a:t>Every finding that met the evidence bar is in this deck: the four above, or here. The full table is in the appendix.</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8046720" cy="274320"/>
          </a:xfrm>
          <a:prstGeom prst="rect">
            <a:avLst/>
          </a:prstGeom>
          <a:noFill/>
          <a:ln/>
        </p:spPr>
        <p:txBody>
          <a:bodyPr wrap="square" lIns="0" tIns="0" rIns="0" bIns="0" rtlCol="0" anchor="b"/>
          <a:lstStyle/>
          <a:p>
            <a:pPr indent="0" marL="0">
              <a:buNone/>
            </a:pPr>
            <a:r>
              <a:rPr lang="en-US" sz="1050" b="1" spc="200" kern="0" dirty="0">
                <a:solidFill>
                  <a:schemeClr val="accent2"/>
                </a:solidFill>
              </a:rPr>
              <a:t>SUMMARY</a:t>
            </a:r>
            <a:endParaRPr lang="en-US" sz="1050" dirty="0"/>
          </a:p>
        </p:txBody>
      </p:sp>
      <p:sp>
        <p:nvSpPr>
          <p:cNvPr id="3" name="Text 0"/>
          <p:cNvSpPr/>
          <p:nvPr>
            <p:ph idx="101" type="title" hasCustomPrompt="1"/>
          </p:nvPr>
        </p:nvSpPr>
        <p:spPr>
          <a:xfrm>
            <a:off x="548640" y="169164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Most exports fail at import, so fix import first</a:t>
            </a:r>
            <a:endParaRPr lang="en-US" sz="3400" dirty="0"/>
          </a:p>
        </p:txBody>
      </p:sp>
      <p:sp>
        <p:nvSpPr>
          <p:cNvPr id="4" name="Text 0"/>
          <p:cNvSpPr/>
          <p:nvPr>
            <p:ph idx="102" type="body" hasCustomPrompt="1"/>
          </p:nvPr>
        </p:nvSpPr>
        <p:spPr>
          <a:xfrm>
            <a:off x="548640" y="2971800"/>
            <a:ext cx="8046720" cy="146304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We asked why people abandon export. Mostly they fail at import and only notice it at export.</a:t>
            </a:r>
            <a:endParaRPr lang="en-US" sz="1600" dirty="0"/>
          </a:p>
          <a:p>
            <a:pPr indent="0" marL="0">
              <a:spcAft>
                <a:spcPts val="600"/>
              </a:spcAft>
              <a:buNone/>
            </a:pPr>
            <a:r>
              <a:rPr lang="en-US" sz="1600" dirty="0">
                <a:solidFill>
                  <a:schemeClr val="bg2"/>
                </a:solidFill>
              </a:rPr>
              <a:t>A smaller group, finance teams, is fully blocked by column order.</a:t>
            </a:r>
            <a:endParaRPr lang="en-US" sz="1600" dirty="0"/>
          </a:p>
          <a:p>
            <a:pPr indent="0" marL="0">
              <a:buNone/>
            </a:pPr>
            <a:r>
              <a:rPr lang="en-US" sz="1600" dirty="0">
                <a:solidFill>
                  <a:schemeClr val="bg2"/>
                </a:solidFill>
              </a:rPr>
              <a:t>Confidence is moderate overall: 8 sessions, all recruited through CS.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WHAT TO DO</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Four actions, each with an owner</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11480"/>
                <a:gridCol w="3520440"/>
                <a:gridCol w="1554480"/>
                <a:gridCol w="1005840"/>
                <a:gridCol w="1554480"/>
              </a:tblGrid>
              <a:tr h="0">
                <a:tc>
                  <a:txBody>
                    <a:bodyPr/>
                    <a:lstStyle/>
                    <a:p>
                      <a:pPr indent="0" marL="0">
                        <a:buNone/>
                      </a:pPr>
                      <a:r>
                        <a:rPr lang="en-US" sz="1100" b="1" spc="100" kern="0" dirty="0">
                          <a:solidFill>
                            <a:schemeClr val="bg1"/>
                          </a:solidFill>
                        </a:rPr>
                        <a:t>#</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spc="100" kern="0" dirty="0">
                          <a:solidFill>
                            <a:schemeClr val="bg1"/>
                          </a:solidFill>
                        </a:rPr>
                        <a:t>Action</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spc="100" kern="0" dirty="0">
                          <a:solidFill>
                            <a:schemeClr val="bg1"/>
                          </a:solidFill>
                        </a:rPr>
                        <a:t>Owner</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spc="100" kern="0" dirty="0">
                          <a:solidFill>
                            <a:schemeClr val="bg1"/>
                          </a:solidFill>
                        </a:rPr>
                        <a:t>Rests on</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spc="100" kern="0" dirty="0">
                          <a:solidFill>
                            <a:schemeClr val="bg1"/>
                          </a:solidFill>
                        </a:rPr>
                        <a:t>Moves</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chemeClr val="tx2"/>
                    </a:solidFill>
                  </a:tcPr>
                </a:tc>
              </a:tr>
              <a:tr h="0">
                <a:tc>
                  <a:txBody>
                    <a:bodyPr/>
                    <a:lstStyle/>
                    <a:p>
                      <a:pPr algn="ctr" indent="0" marL="0">
                        <a:buNone/>
                      </a:pPr>
                      <a:r>
                        <a:rPr lang="en-US" sz="1200" b="1" dirty="0">
                          <a:solidFill>
                            <a:schemeClr val="tx2"/>
                          </a:solidFill>
                        </a:rPr>
                        <a:t>1</a:t>
                      </a:r>
                      <a:endParaRPr lang="en-US" sz="12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chemeClr val="tx1"/>
                          </a:solidFill>
                        </a:rPr>
                        <a:t>Warn at import when saved reports use unmapped columns</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Data Pipeline (Lena)</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Finding 1</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Weekly active sharers; export tickets</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1200" b="1" dirty="0">
                          <a:solidFill>
                            <a:schemeClr val="tx2"/>
                          </a:solidFill>
                        </a:rPr>
                        <a:t>2</a:t>
                      </a:r>
                      <a:endParaRPr lang="en-US" sz="12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b="1" dirty="0">
                          <a:solidFill>
                            <a:schemeClr val="tx1"/>
                          </a:solidFill>
                        </a:rPr>
                        <a:t>Defer the dialog rebuild until the import check ships and is measured</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Sam</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Findings 1 and 3</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Q1 capacity</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r>
              <a:tr h="0">
                <a:tc>
                  <a:txBody>
                    <a:bodyPr/>
                    <a:lstStyle/>
                    <a:p>
                      <a:pPr algn="ctr" indent="0" marL="0">
                        <a:buNone/>
                      </a:pPr>
                      <a:r>
                        <a:rPr lang="en-US" sz="1200" b="1" dirty="0">
                          <a:solidFill>
                            <a:schemeClr val="tx2"/>
                          </a:solidFill>
                        </a:rPr>
                        <a:t>3</a:t>
                      </a:r>
                      <a:endParaRPr lang="en-US" sz="12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chemeClr val="tx1"/>
                          </a:solidFill>
                        </a:rPr>
                        <a:t>Count finance-team customers who need a fixed column order</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Support (Marco), with CS</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Finding 2</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dirty="0">
                          <a:solidFill>
                            <a:schemeClr val="tx1"/>
                          </a:solidFill>
                        </a:rPr>
                        <a:t>Whether column order goes in Q1 or later</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1200" b="1" dirty="0">
                          <a:solidFill>
                            <a:schemeClr val="tx2"/>
                          </a:solidFill>
                        </a:rPr>
                        <a:t>4</a:t>
                      </a:r>
                      <a:endParaRPr lang="en-US" sz="12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b="1" dirty="0">
                          <a:solidFill>
                            <a:schemeClr val="tx1"/>
                          </a:solidFill>
                        </a:rPr>
                        <a:t>Relabel “Include hidden fields” with a plain description</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Design (Aisha)</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Finding 4</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c>
                  <a:txBody>
                    <a:bodyPr/>
                    <a:lstStyle/>
                    <a:p>
                      <a:pPr indent="0" marL="0">
                        <a:buNone/>
                      </a:pPr>
                      <a:r>
                        <a:rPr lang="en-US" sz="1100" dirty="0">
                          <a:solidFill>
                            <a:schemeClr val="tx1"/>
                          </a:solidFill>
                        </a:rPr>
                        <a:t>Export completion</a:t>
                      </a:r>
                      <a:endParaRPr lang="en-US" sz="1100" dirty="0"/>
                    </a:p>
                  </a:txBody>
                  <a:tcPr marL="91440" marR="91440" marT="54864" marB="54864" anchor="ctr">
                    <a:lnL w="0" cap="flat" cmpd="sng" algn="ctr">
                      <a:noFill/>
                    </a:lnL>
                    <a:lnR w="0" cap="flat" cmpd="sng" algn="ctr">
                      <a:noFill/>
                    </a:lnR>
                    <a:lnT w="0" cap="flat" cmpd="sng" algn="ctr">
                      <a:noFill/>
                    </a:lnT>
                    <a:lnB w="0" cap="flat" cmpd="sng" algn="ctr">
                      <a:noFill/>
                    </a:lnB>
                    <a:solidFill>
                      <a:srgbClr val="EEF3EC"/>
                    </a:solidFill>
                  </a:tcPr>
                </a:tc>
              </a:tr>
            </a:tbl>
          </a:graphicData>
        </a:graphic>
      </p:graphicFrame>
      <p:sp>
        <p:nvSpPr>
          <p:cNvPr id="5" name="Text 2"/>
          <p:cNvSpPr txBox="1"/>
          <p:nvPr/>
        </p:nvSpPr>
        <p:spPr>
          <a:xfrm>
            <a:off x="548640" y="3977640"/>
            <a:ext cx="8046720" cy="548640"/>
          </a:xfrm>
          <a:prstGeom prst="rect">
            <a:avLst/>
          </a:prstGeom>
          <a:noFill/>
          <a:ln/>
        </p:spPr>
        <p:txBody>
          <a:bodyPr wrap="square" lIns="0" tIns="0" rIns="0" bIns="0" rtlCol="0" anchor="t"/>
          <a:lstStyle/>
          <a:p>
            <a:pPr indent="0" marL="0">
              <a:buNone/>
            </a:pPr>
            <a:r>
              <a:rPr lang="en-US" sz="1200" b="1" dirty="0">
                <a:solidFill>
                  <a:schemeClr val="accent4"/>
                </a:solidFill>
              </a:rPr>
              <a:t>Action 2 is the uncomfortable one: the study was commissioned for a dialog rebuild, and the evidence says the rebuild would miss the cause.</a:t>
            </a:r>
            <a:pPr indent="0" marL="0">
              <a:buNone/>
            </a:pP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WHAT HAPPENS NOW</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Sam decides on 30 October, after Support sizes finding 2</a:t>
            </a:r>
            <a:endParaRPr lang="en-US" sz="2600" dirty="0"/>
          </a:p>
        </p:txBody>
      </p:sp>
      <p:sp>
        <p:nvSpPr>
          <p:cNvPr id="4" name="Shape 2"/>
          <p:cNvSpPr/>
          <p:nvPr/>
        </p:nvSpPr>
        <p:spPr>
          <a:xfrm>
            <a:off x="713232" y="1627632"/>
            <a:ext cx="6172200" cy="0"/>
          </a:xfrm>
          <a:prstGeom prst="line">
            <a:avLst/>
          </a:prstGeom>
          <a:noFill/>
          <a:ln w="19050">
            <a:solidFill>
              <a:srgbClr val="A7BEAE"/>
            </a:solidFill>
            <a:prstDash val="solid"/>
          </a:ln>
        </p:spPr>
      </p:sp>
      <p:sp>
        <p:nvSpPr>
          <p:cNvPr id="5" name="Shape 3"/>
          <p:cNvSpPr/>
          <p:nvPr/>
        </p:nvSpPr>
        <p:spPr>
          <a:xfrm>
            <a:off x="548640" y="1463040"/>
            <a:ext cx="329184" cy="329184"/>
          </a:xfrm>
          <a:prstGeom prst="ellipse">
            <a:avLst/>
          </a:prstGeom>
          <a:solidFill>
            <a:schemeClr val="accent2"/>
          </a:solidFill>
          <a:ln/>
        </p:spPr>
      </p:sp>
      <p:sp>
        <p:nvSpPr>
          <p:cNvPr id="6" name="Text 4"/>
          <p:cNvSpPr txBox="1"/>
          <p:nvPr/>
        </p:nvSpPr>
        <p:spPr>
          <a:xfrm>
            <a:off x="54864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7" name="Shape 5"/>
          <p:cNvSpPr/>
          <p:nvPr/>
        </p:nvSpPr>
        <p:spPr>
          <a:xfrm>
            <a:off x="548640" y="1965960"/>
            <a:ext cx="1828800" cy="237744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685800" y="2103120"/>
            <a:ext cx="1554480" cy="411480"/>
          </a:xfrm>
          <a:prstGeom prst="rect">
            <a:avLst/>
          </a:prstGeom>
          <a:noFill/>
          <a:ln/>
        </p:spPr>
        <p:txBody>
          <a:bodyPr wrap="square" lIns="0" tIns="0" rIns="0" bIns="0" rtlCol="0" anchor="t"/>
          <a:lstStyle/>
          <a:p>
            <a:pPr indent="0" marL="0">
              <a:buNone/>
            </a:pPr>
            <a:r>
              <a:rPr lang="en-US" sz="1800" b="1" dirty="0">
                <a:solidFill>
                  <a:schemeClr val="tx2"/>
                </a:solidFill>
              </a:rPr>
              <a:t>24 Oct</a:t>
            </a:r>
            <a:endParaRPr lang="en-US" sz="1800" dirty="0"/>
          </a:p>
        </p:txBody>
      </p:sp>
      <p:sp>
        <p:nvSpPr>
          <p:cNvPr id="9" name="Text 7"/>
          <p:cNvSpPr txBox="1"/>
          <p:nvPr/>
        </p:nvSpPr>
        <p:spPr>
          <a:xfrm>
            <a:off x="685800" y="2560320"/>
            <a:ext cx="1554480" cy="731520"/>
          </a:xfrm>
          <a:prstGeom prst="rect">
            <a:avLst/>
          </a:prstGeom>
          <a:noFill/>
          <a:ln/>
        </p:spPr>
        <p:txBody>
          <a:bodyPr wrap="square" lIns="0" tIns="0" rIns="0" bIns="0" rtlCol="0" anchor="t"/>
          <a:lstStyle/>
          <a:p>
            <a:pPr indent="0" marL="0">
              <a:buNone/>
            </a:pPr>
            <a:r>
              <a:rPr lang="en-US" sz="1300" b="1" dirty="0">
                <a:solidFill>
                  <a:schemeClr val="tx1"/>
                </a:solidFill>
              </a:rPr>
              <a:t>Marco returns the finance-team count</a:t>
            </a:r>
            <a:endParaRPr lang="en-US" sz="1300" dirty="0"/>
          </a:p>
        </p:txBody>
      </p:sp>
      <p:sp>
        <p:nvSpPr>
          <p:cNvPr id="10" name="Text 8"/>
          <p:cNvSpPr txBox="1"/>
          <p:nvPr/>
        </p:nvSpPr>
        <p:spPr>
          <a:xfrm>
            <a:off x="685800" y="3291840"/>
            <a:ext cx="1554480" cy="960120"/>
          </a:xfrm>
          <a:prstGeom prst="rect">
            <a:avLst/>
          </a:prstGeom>
          <a:noFill/>
          <a:ln/>
        </p:spPr>
        <p:txBody>
          <a:bodyPr wrap="square" lIns="0" tIns="0" rIns="0" bIns="0" rtlCol="0" anchor="t"/>
          <a:lstStyle/>
          <a:p>
            <a:pPr indent="0" marL="0">
              <a:buNone/>
            </a:pPr>
            <a:r>
              <a:rPr lang="en-US" sz="1100" dirty="0">
                <a:solidFill>
                  <a:schemeClr val="tx1"/>
                </a:solidFill>
              </a:rPr>
              <a:t>Sizes finding 2 before the decision.</a:t>
            </a:r>
            <a:endParaRPr lang="en-US" sz="1100" dirty="0"/>
          </a:p>
        </p:txBody>
      </p:sp>
      <p:sp>
        <p:nvSpPr>
          <p:cNvPr id="11" name="Shape 9"/>
          <p:cNvSpPr/>
          <p:nvPr/>
        </p:nvSpPr>
        <p:spPr>
          <a:xfrm>
            <a:off x="2606040" y="1463040"/>
            <a:ext cx="329184" cy="329184"/>
          </a:xfrm>
          <a:prstGeom prst="ellipse">
            <a:avLst/>
          </a:prstGeom>
          <a:solidFill>
            <a:schemeClr val="accent2"/>
          </a:solidFill>
          <a:ln/>
        </p:spPr>
      </p:sp>
      <p:sp>
        <p:nvSpPr>
          <p:cNvPr id="12" name="Text 10"/>
          <p:cNvSpPr txBox="1"/>
          <p:nvPr/>
        </p:nvSpPr>
        <p:spPr>
          <a:xfrm>
            <a:off x="260604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3" name="Shape 11"/>
          <p:cNvSpPr/>
          <p:nvPr/>
        </p:nvSpPr>
        <p:spPr>
          <a:xfrm>
            <a:off x="2606040" y="1965960"/>
            <a:ext cx="1828800" cy="23774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2743200" y="2103120"/>
            <a:ext cx="1554480" cy="411480"/>
          </a:xfrm>
          <a:prstGeom prst="rect">
            <a:avLst/>
          </a:prstGeom>
          <a:noFill/>
          <a:ln/>
        </p:spPr>
        <p:txBody>
          <a:bodyPr wrap="square" lIns="0" tIns="0" rIns="0" bIns="0" rtlCol="0" anchor="t"/>
          <a:lstStyle/>
          <a:p>
            <a:pPr indent="0" marL="0">
              <a:buNone/>
            </a:pPr>
            <a:r>
              <a:rPr lang="en-US" sz="1800" b="1" dirty="0">
                <a:solidFill>
                  <a:schemeClr val="tx2"/>
                </a:solidFill>
              </a:rPr>
              <a:t>30 Oct</a:t>
            </a:r>
            <a:endParaRPr lang="en-US" sz="1800" dirty="0"/>
          </a:p>
        </p:txBody>
      </p:sp>
      <p:sp>
        <p:nvSpPr>
          <p:cNvPr id="15" name="Text 13"/>
          <p:cNvSpPr txBox="1"/>
          <p:nvPr/>
        </p:nvSpPr>
        <p:spPr>
          <a:xfrm>
            <a:off x="2743200" y="2560320"/>
            <a:ext cx="1554480" cy="731520"/>
          </a:xfrm>
          <a:prstGeom prst="rect">
            <a:avLst/>
          </a:prstGeom>
          <a:noFill/>
          <a:ln/>
        </p:spPr>
        <p:txBody>
          <a:bodyPr wrap="square" lIns="0" tIns="0" rIns="0" bIns="0" rtlCol="0" anchor="t"/>
          <a:lstStyle/>
          <a:p>
            <a:pPr indent="0" marL="0">
              <a:buNone/>
            </a:pPr>
            <a:r>
              <a:rPr lang="en-US" sz="1300" b="1" dirty="0">
                <a:solidFill>
                  <a:schemeClr val="tx1"/>
                </a:solidFill>
              </a:rPr>
              <a:t>Sam decides</a:t>
            </a:r>
            <a:endParaRPr lang="en-US" sz="1300" dirty="0"/>
          </a:p>
        </p:txBody>
      </p:sp>
      <p:sp>
        <p:nvSpPr>
          <p:cNvPr id="16" name="Text 14"/>
          <p:cNvSpPr txBox="1"/>
          <p:nvPr/>
        </p:nvSpPr>
        <p:spPr>
          <a:xfrm>
            <a:off x="2743200" y="3291840"/>
            <a:ext cx="1554480" cy="960120"/>
          </a:xfrm>
          <a:prstGeom prst="rect">
            <a:avLst/>
          </a:prstGeom>
          <a:noFill/>
          <a:ln/>
        </p:spPr>
        <p:txBody>
          <a:bodyPr wrap="square" lIns="0" tIns="0" rIns="0" bIns="0" rtlCol="0" anchor="t"/>
          <a:lstStyle/>
          <a:p>
            <a:pPr indent="0" marL="0">
              <a:buNone/>
            </a:pPr>
            <a:r>
              <a:rPr lang="en-US" sz="1100" dirty="0">
                <a:solidFill>
                  <a:schemeClr val="tx1"/>
                </a:solidFill>
              </a:rPr>
              <a:t>This deck and the report are the inputs.</a:t>
            </a:r>
            <a:endParaRPr lang="en-US" sz="1100" dirty="0"/>
          </a:p>
        </p:txBody>
      </p:sp>
      <p:sp>
        <p:nvSpPr>
          <p:cNvPr id="17" name="Shape 15"/>
          <p:cNvSpPr/>
          <p:nvPr/>
        </p:nvSpPr>
        <p:spPr>
          <a:xfrm>
            <a:off x="4663440" y="1463040"/>
            <a:ext cx="329184" cy="329184"/>
          </a:xfrm>
          <a:prstGeom prst="ellipse">
            <a:avLst/>
          </a:prstGeom>
          <a:solidFill>
            <a:schemeClr val="accent2"/>
          </a:solidFill>
          <a:ln/>
        </p:spPr>
      </p:sp>
      <p:sp>
        <p:nvSpPr>
          <p:cNvPr id="18" name="Text 16"/>
          <p:cNvSpPr txBox="1"/>
          <p:nvPr/>
        </p:nvSpPr>
        <p:spPr>
          <a:xfrm>
            <a:off x="466344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9" name="Shape 17"/>
          <p:cNvSpPr/>
          <p:nvPr/>
        </p:nvSpPr>
        <p:spPr>
          <a:xfrm>
            <a:off x="4663440" y="1965960"/>
            <a:ext cx="1828800" cy="2377440"/>
          </a:xfrm>
          <a:prstGeom prst="roundRect">
            <a:avLst>
              <a:gd name="adj" fmla="val 5000"/>
            </a:avLst>
          </a:prstGeom>
          <a:solidFill>
            <a:schemeClr val="bg2"/>
          </a:solidFill>
          <a:ln w="12700">
            <a:solidFill>
              <a:schemeClr val="bg2"/>
            </a:solidFill>
            <a:prstDash val="solid"/>
          </a:ln>
        </p:spPr>
      </p:sp>
      <p:sp>
        <p:nvSpPr>
          <p:cNvPr id="20" name="Text 18"/>
          <p:cNvSpPr txBox="1"/>
          <p:nvPr/>
        </p:nvSpPr>
        <p:spPr>
          <a:xfrm>
            <a:off x="4800600" y="2103120"/>
            <a:ext cx="1554480" cy="411480"/>
          </a:xfrm>
          <a:prstGeom prst="rect">
            <a:avLst/>
          </a:prstGeom>
          <a:noFill/>
          <a:ln/>
        </p:spPr>
        <p:txBody>
          <a:bodyPr wrap="square" lIns="0" tIns="0" rIns="0" bIns="0" rtlCol="0" anchor="t"/>
          <a:lstStyle/>
          <a:p>
            <a:pPr indent="0" marL="0">
              <a:buNone/>
            </a:pPr>
            <a:r>
              <a:rPr lang="en-US" sz="1800" b="1" dirty="0">
                <a:solidFill>
                  <a:schemeClr val="tx2"/>
                </a:solidFill>
              </a:rPr>
              <a:t>November</a:t>
            </a:r>
            <a:endParaRPr lang="en-US" sz="1800" dirty="0"/>
          </a:p>
        </p:txBody>
      </p:sp>
      <p:sp>
        <p:nvSpPr>
          <p:cNvPr id="21" name="Text 19"/>
          <p:cNvSpPr txBox="1"/>
          <p:nvPr/>
        </p:nvSpPr>
        <p:spPr>
          <a:xfrm>
            <a:off x="4800600" y="2560320"/>
            <a:ext cx="1554480" cy="731520"/>
          </a:xfrm>
          <a:prstGeom prst="rect">
            <a:avLst/>
          </a:prstGeom>
          <a:noFill/>
          <a:ln/>
        </p:spPr>
        <p:txBody>
          <a:bodyPr wrap="square" lIns="0" tIns="0" rIns="0" bIns="0" rtlCol="0" anchor="t"/>
          <a:lstStyle/>
          <a:p>
            <a:pPr indent="0" marL="0">
              <a:buNone/>
            </a:pPr>
            <a:r>
              <a:rPr lang="en-US" sz="1300" b="1" dirty="0">
                <a:solidFill>
                  <a:schemeClr val="tx1"/>
                </a:solidFill>
              </a:rPr>
              <a:t>3 follow-up sessions</a:t>
            </a:r>
            <a:endParaRPr lang="en-US" sz="1300" dirty="0"/>
          </a:p>
        </p:txBody>
      </p:sp>
      <p:sp>
        <p:nvSpPr>
          <p:cNvPr id="22" name="Text 20"/>
          <p:cNvSpPr txBox="1"/>
          <p:nvPr/>
        </p:nvSpPr>
        <p:spPr>
          <a:xfrm>
            <a:off x="4800600" y="3291840"/>
            <a:ext cx="1554480" cy="960120"/>
          </a:xfrm>
          <a:prstGeom prst="rect">
            <a:avLst/>
          </a:prstGeom>
          <a:noFill/>
          <a:ln/>
        </p:spPr>
        <p:txBody>
          <a:bodyPr wrap="square" lIns="0" tIns="0" rIns="0" bIns="0" rtlCol="0" anchor="t"/>
          <a:lstStyle/>
          <a:p>
            <a:pPr indent="0" marL="0">
              <a:buNone/>
            </a:pPr>
            <a:r>
              <a:rPr lang="en-US" sz="1100" dirty="0">
                <a:solidFill>
                  <a:schemeClr val="tx1"/>
                </a:solidFill>
              </a:rPr>
              <a:t>With finance-team customers, if the import check is approved.</a:t>
            </a:r>
            <a:endParaRPr lang="en-US" sz="1100" dirty="0"/>
          </a:p>
        </p:txBody>
      </p:sp>
      <p:sp>
        <p:nvSpPr>
          <p:cNvPr id="23" name="Shape 21"/>
          <p:cNvSpPr/>
          <p:nvPr/>
        </p:nvSpPr>
        <p:spPr>
          <a:xfrm>
            <a:off x="6720840" y="1463040"/>
            <a:ext cx="329184" cy="329184"/>
          </a:xfrm>
          <a:prstGeom prst="ellipse">
            <a:avLst/>
          </a:prstGeom>
          <a:solidFill>
            <a:schemeClr val="accent2"/>
          </a:solidFill>
          <a:ln/>
        </p:spPr>
      </p:sp>
      <p:sp>
        <p:nvSpPr>
          <p:cNvPr id="24" name="Text 22"/>
          <p:cNvSpPr txBox="1"/>
          <p:nvPr/>
        </p:nvSpPr>
        <p:spPr>
          <a:xfrm>
            <a:off x="672084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5" name="Shape 23"/>
          <p:cNvSpPr/>
          <p:nvPr/>
        </p:nvSpPr>
        <p:spPr>
          <a:xfrm>
            <a:off x="6720840" y="1965960"/>
            <a:ext cx="1828800" cy="2377440"/>
          </a:xfrm>
          <a:prstGeom prst="roundRect">
            <a:avLst>
              <a:gd name="adj" fmla="val 5000"/>
            </a:avLst>
          </a:prstGeom>
          <a:solidFill>
            <a:schemeClr val="bg2"/>
          </a:solidFill>
          <a:ln w="12700">
            <a:solidFill>
              <a:schemeClr val="bg2"/>
            </a:solidFill>
            <a:prstDash val="solid"/>
          </a:ln>
        </p:spPr>
      </p:sp>
      <p:sp>
        <p:nvSpPr>
          <p:cNvPr id="26" name="Text 24"/>
          <p:cNvSpPr txBox="1"/>
          <p:nvPr/>
        </p:nvSpPr>
        <p:spPr>
          <a:xfrm>
            <a:off x="6858000" y="2103120"/>
            <a:ext cx="1554480" cy="411480"/>
          </a:xfrm>
          <a:prstGeom prst="rect">
            <a:avLst/>
          </a:prstGeom>
          <a:noFill/>
          <a:ln/>
        </p:spPr>
        <p:txBody>
          <a:bodyPr wrap="square" lIns="0" tIns="0" rIns="0" bIns="0" rtlCol="0" anchor="t"/>
          <a:lstStyle/>
          <a:p>
            <a:pPr indent="0" marL="0">
              <a:buNone/>
            </a:pPr>
            <a:r>
              <a:rPr lang="en-US" sz="1800" b="1" dirty="0">
                <a:solidFill>
                  <a:schemeClr val="tx2"/>
                </a:solidFill>
              </a:rPr>
              <a:t>Backlog</a:t>
            </a:r>
            <a:endParaRPr lang="en-US" sz="1800" dirty="0"/>
          </a:p>
        </p:txBody>
      </p:sp>
      <p:sp>
        <p:nvSpPr>
          <p:cNvPr id="27" name="Text 25"/>
          <p:cNvSpPr txBox="1"/>
          <p:nvPr/>
        </p:nvSpPr>
        <p:spPr>
          <a:xfrm>
            <a:off x="6858000" y="2560320"/>
            <a:ext cx="1554480" cy="731520"/>
          </a:xfrm>
          <a:prstGeom prst="rect">
            <a:avLst/>
          </a:prstGeom>
          <a:noFill/>
          <a:ln/>
        </p:spPr>
        <p:txBody>
          <a:bodyPr wrap="square" lIns="0" tIns="0" rIns="0" bIns="0" rtlCol="0" anchor="t"/>
          <a:lstStyle/>
          <a:p>
            <a:pPr indent="0" marL="0">
              <a:buNone/>
            </a:pPr>
            <a:r>
              <a:rPr lang="en-US" sz="1300" b="1" dirty="0">
                <a:solidFill>
                  <a:schemeClr val="tx1"/>
                </a:solidFill>
              </a:rPr>
              <a:t>Open question</a:t>
            </a:r>
            <a:endParaRPr lang="en-US" sz="1300" dirty="0"/>
          </a:p>
        </p:txBody>
      </p:sp>
      <p:sp>
        <p:nvSpPr>
          <p:cNvPr id="28" name="Text 26"/>
          <p:cNvSpPr txBox="1"/>
          <p:nvPr/>
        </p:nvSpPr>
        <p:spPr>
          <a:xfrm>
            <a:off x="6858000" y="3291840"/>
            <a:ext cx="1554480" cy="960120"/>
          </a:xfrm>
          <a:prstGeom prst="rect">
            <a:avLst/>
          </a:prstGeom>
          <a:noFill/>
          <a:ln/>
        </p:spPr>
        <p:txBody>
          <a:bodyPr wrap="square" lIns="0" tIns="0" rIns="0" bIns="0" rtlCol="0" anchor="t"/>
          <a:lstStyle/>
          <a:p>
            <a:pPr indent="0" marL="0">
              <a:buNone/>
            </a:pPr>
            <a:r>
              <a:rPr lang="en-US" sz="1100" dirty="0">
                <a:solidFill>
                  <a:schemeClr val="tx1"/>
                </a:solidFill>
              </a:rPr>
              <a:t>Does the import gap also affect scheduled reports?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nchor="b"/>
          <a:lstStyle/>
          <a:p>
            <a:pPr indent="0" marL="0">
              <a:buNone/>
            </a:pPr>
            <a:r>
              <a:rPr lang="en-US" sz="1050" b="1" spc="200" kern="0" dirty="0">
                <a:solidFill>
                  <a:schemeClr val="accent4"/>
                </a:solidFill>
              </a:rPr>
              <a:t>READ WITH CARE</a:t>
            </a:r>
            <a:endParaRPr lang="en-US" sz="1050" dirty="0"/>
          </a:p>
        </p:txBody>
      </p:sp>
      <p:sp>
        <p:nvSpPr>
          <p:cNvPr id="3" name="Text 0"/>
          <p:cNvSpPr/>
          <p:nvPr>
            <p:ph idx="101" type="title" hasCustomPrompt="1"/>
          </p:nvPr>
        </p:nvSpPr>
        <p:spPr>
          <a:xfrm>
            <a:off x="548640" y="640080"/>
            <a:ext cx="8046720" cy="548640"/>
          </a:xfrm>
          <a:prstGeom prst="rect">
            <a:avLst/>
          </a:prstGeom>
          <a:noFill/>
          <a:ln/>
        </p:spPr>
        <p:txBody>
          <a:bodyPr wrap="square" lIns="0" tIns="0" rIns="0" bIns="0" rtlCol="0" anchor="t">
            <a:normAutofit/>
          </a:bodyPr>
          <a:lstStyle/>
          <a:p>
            <a:pPr algn="l" indent="0" marL="0">
              <a:buNone/>
            </a:pPr>
            <a:r>
              <a:rPr lang="en-US" sz="2600" b="1" dirty="0">
                <a:solidFill>
                  <a:schemeClr val="tx2"/>
                </a:solidFill>
              </a:rPr>
              <a:t>What this study can’t tell us</a:t>
            </a:r>
            <a:endParaRPr lang="en-US" sz="2600" dirty="0"/>
          </a:p>
        </p:txBody>
      </p:sp>
      <p:sp>
        <p:nvSpPr>
          <p:cNvPr id="4" name="Text 2"/>
          <p:cNvSpPr txBox="1"/>
          <p:nvPr/>
        </p:nvSpPr>
        <p:spPr>
          <a:xfrm>
            <a:off x="548640" y="1371600"/>
            <a:ext cx="512064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All 8 participants were recruited through CS, so self-serve customers may differ.</a:t>
            </a:r>
            <a:endParaRPr lang="en-US" sz="1400" dirty="0"/>
          </a:p>
          <a:p>
            <a:pPr marL="342900" indent="-342900">
              <a:spcAft>
                <a:spcPts val="600"/>
              </a:spcAft>
              <a:buSzPct val="100000"/>
              <a:buChar char="•"/>
            </a:pPr>
            <a:r>
              <a:rPr lang="en-US" sz="1400" dirty="0">
                <a:solidFill>
                  <a:schemeClr val="tx1"/>
                </a:solidFill>
              </a:rPr>
              <a:t>Only 2 were from finance teams, so finding 2 could be bigger or smaller than it looks.</a:t>
            </a:r>
            <a:endParaRPr lang="en-US" sz="1400" dirty="0"/>
          </a:p>
          <a:p>
            <a:pPr marL="342900" indent="-342900">
              <a:spcAft>
                <a:spcPts val="600"/>
              </a:spcAft>
              <a:buSzPct val="100000"/>
              <a:buChar char="•"/>
            </a:pPr>
            <a:r>
              <a:rPr lang="en-US" sz="1400" dirty="0">
                <a:solidFill>
                  <a:schemeClr val="tx1"/>
                </a:solidFill>
              </a:rPr>
              <a:t>We didn’t pull the export funnel before recruiting, so we can’t say what share of customers hit finding 1.</a:t>
            </a:r>
            <a:endParaRPr lang="en-US" sz="1400" dirty="0"/>
          </a:p>
        </p:txBody>
      </p:sp>
      <p:sp>
        <p:nvSpPr>
          <p:cNvPr id="5" name="Shape 3"/>
          <p:cNvSpPr/>
          <p:nvPr/>
        </p:nvSpPr>
        <p:spPr>
          <a:xfrm>
            <a:off x="6035040" y="1371600"/>
            <a:ext cx="2560320" cy="1737360"/>
          </a:xfrm>
          <a:prstGeom prst="roundRect">
            <a:avLst>
              <a:gd name="adj" fmla="val 5263"/>
            </a:avLst>
          </a:prstGeom>
          <a:solidFill>
            <a:schemeClr val="bg2"/>
          </a:solidFill>
          <a:ln w="12700">
            <a:solidFill>
              <a:schemeClr val="bg2"/>
            </a:solidFill>
            <a:prstDash val="solid"/>
          </a:ln>
        </p:spPr>
      </p:sp>
      <p:sp>
        <p:nvSpPr>
          <p:cNvPr id="6" name="Text 4"/>
          <p:cNvSpPr txBox="1"/>
          <p:nvPr/>
        </p:nvSpPr>
        <p:spPr>
          <a:xfrm>
            <a:off x="6217920" y="1371600"/>
            <a:ext cx="457200" cy="548640"/>
          </a:xfrm>
          <a:prstGeom prst="rect">
            <a:avLst/>
          </a:prstGeom>
          <a:noFill/>
          <a:ln/>
        </p:spPr>
        <p:txBody>
          <a:bodyPr wrap="square" lIns="0" tIns="0" rIns="0" bIns="0" rtlCol="0" anchor="t"/>
          <a:lstStyle/>
          <a:p>
            <a:pPr indent="0" marL="0">
              <a:buNone/>
            </a:pPr>
            <a:r>
              <a:rPr lang="en-US" sz="4000" b="1" dirty="0">
                <a:solidFill>
                  <a:schemeClr val="accent2"/>
                </a:solidFill>
              </a:rPr>
              <a:t>“</a:t>
            </a:r>
            <a:endParaRPr lang="en-US" sz="4000" dirty="0"/>
          </a:p>
        </p:txBody>
      </p:sp>
      <p:sp>
        <p:nvSpPr>
          <p:cNvPr id="7" name="Text 5"/>
          <p:cNvSpPr txBox="1"/>
          <p:nvPr/>
        </p:nvSpPr>
        <p:spPr>
          <a:xfrm>
            <a:off x="6217920" y="1874520"/>
            <a:ext cx="2194560" cy="1188720"/>
          </a:xfrm>
          <a:prstGeom prst="rect">
            <a:avLst/>
          </a:prstGeom>
          <a:noFill/>
          <a:ln/>
        </p:spPr>
        <p:txBody>
          <a:bodyPr wrap="square" lIns="0" tIns="0" rIns="0" bIns="0" rtlCol="0" anchor="t"/>
          <a:lstStyle/>
          <a:p>
            <a:pPr indent="0" marL="0">
              <a:buNone/>
            </a:pPr>
            <a:r>
              <a:rPr lang="en-US" sz="1200" i="1" dirty="0">
                <a:solidFill>
                  <a:schemeClr val="tx2"/>
                </a:solidFill>
              </a:rPr>
              <a:t>Magpie drafted this slide and the researcher chose to keep it in. The limits are in the report either way.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8046720" cy="274320"/>
          </a:xfrm>
          <a:prstGeom prst="rect">
            <a:avLst/>
          </a:prstGeom>
          <a:noFill/>
          <a:ln/>
        </p:spPr>
        <p:txBody>
          <a:bodyPr wrap="square" lIns="0" tIns="0" rIns="0" bIns="0" rtlCol="0" anchor="b"/>
          <a:lstStyle/>
          <a:p>
            <a:pPr indent="0" marL="0">
              <a:buNone/>
            </a:pPr>
            <a:r>
              <a:rPr lang="en-US" sz="1050" b="1" spc="200" kern="0" dirty="0">
                <a:solidFill>
                  <a:schemeClr val="accent2"/>
                </a:solidFill>
              </a:rPr>
              <a:t>FOR THE DEEPER DIVE</a:t>
            </a:r>
            <a:endParaRPr lang="en-US" sz="1050" dirty="0"/>
          </a:p>
        </p:txBody>
      </p:sp>
      <p:sp>
        <p:nvSpPr>
          <p:cNvPr id="3" name="Text 0"/>
          <p:cNvSpPr/>
          <p:nvPr>
            <p:ph idx="101" type="title" hasCustomPrompt="1"/>
          </p:nvPr>
        </p:nvSpPr>
        <p:spPr>
          <a:xfrm>
            <a:off x="548640" y="169164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Appendix: for the deeper dive</a:t>
            </a:r>
            <a:endParaRPr lang="en-US" sz="3400" dirty="0"/>
          </a:p>
        </p:txBody>
      </p:sp>
      <p:sp>
        <p:nvSpPr>
          <p:cNvPr id="4" name="Text 0"/>
          <p:cNvSpPr/>
          <p:nvPr>
            <p:ph idx="102" type="body" hasCustomPrompt="1"/>
          </p:nvPr>
        </p:nvSpPr>
        <p:spPr>
          <a:xfrm>
            <a:off x="548640" y="2971800"/>
            <a:ext cx="8046720" cy="1463040"/>
          </a:xfrm>
          <a:prstGeom prst="rect">
            <a:avLst/>
          </a:prstGeom>
          <a:noFill/>
          <a:ln/>
        </p:spPr>
        <p:txBody>
          <a:bodyPr wrap="square" lIns="0" tIns="0" rIns="0" bIns="0" rtlCol="0" anchor="t"/>
          <a:lstStyle/>
          <a:p>
            <a:pPr marL="342900" indent="-342900">
              <a:buSzPct val="100000"/>
              <a:buChar char="•"/>
            </a:pPr>
            <a:r>
              <a:rPr lang="en-US" sz="1600" dirty="0">
                <a:solidFill>
                  <a:schemeClr val="bg2"/>
                </a:solidFill>
              </a:rPr>
              <a:t>Participant profile, with role, seats and team for P1 to P8</a:t>
            </a:r>
            <a:endParaRPr lang="en-US" sz="1600" dirty="0"/>
          </a:p>
          <a:p>
            <a:pPr marL="342900" indent="-342900">
              <a:buSzPct val="100000"/>
              <a:buChar char="•"/>
            </a:pPr>
            <a:r>
              <a:rPr lang="en-US" sz="1600" dirty="0">
                <a:solidFill>
                  <a:schemeClr val="bg2"/>
                </a:solidFill>
              </a:rPr>
              <a:t>Full findings with the coding frame and every quote</a:t>
            </a:r>
            <a:endParaRPr lang="en-US" sz="1600" dirty="0"/>
          </a:p>
          <a:p>
            <a:pPr marL="342900" indent="-342900">
              <a:buSzPct val="100000"/>
              <a:buChar char="•"/>
            </a:pPr>
            <a:r>
              <a:rPr lang="en-US" sz="1600" dirty="0">
                <a:solidFill>
                  <a:schemeClr val="bg2"/>
                </a:solidFill>
              </a:rPr>
              <a:t>The interview guide and task script</a:t>
            </a:r>
            <a:endParaRPr lang="en-US" sz="1600" dirty="0"/>
          </a:p>
          <a:p>
            <a:pPr marL="342900" indent="-342900">
              <a:buSzPct val="100000"/>
              <a:buChar char="•"/>
            </a:pPr>
            <a:r>
              <a:rPr lang="en-US" sz="1600" dirty="0">
                <a:solidFill>
                  <a:schemeClr val="bg2"/>
                </a:solidFill>
              </a:rPr>
              <a:t>Independent review: 11 points, 8 accepted, 3 answered</a:t>
            </a:r>
            <a:endParaRPr lang="en-US" sz="1600" dirty="0"/>
          </a:p>
          <a:p>
            <a:pPr marL="342900" indent="-342900">
              <a:buSzPct val="100000"/>
              <a:buChar char="•"/>
            </a:pPr>
            <a:r>
              <a:rPr lang="en-US" sz="1600" dirty="0">
                <a:solidFill>
                  <a:schemeClr val="bg2"/>
                </a:solidFill>
              </a:rPr>
              <a:t>Links to the study record, the report and the recordings (access-controlled)</a:t>
            </a:r>
            <a:endParaRPr lang="en-US" sz="16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731520"/>
            <a:ext cx="8046720" cy="274320"/>
          </a:xfrm>
          <a:prstGeom prst="rect">
            <a:avLst/>
          </a:prstGeom>
          <a:noFill/>
          <a:ln/>
        </p:spPr>
        <p:txBody>
          <a:bodyPr wrap="square" lIns="0" tIns="0" rIns="0" bIns="0" rtlCol="0" anchor="b"/>
          <a:lstStyle/>
          <a:p>
            <a:pPr indent="0" marL="0">
              <a:buNone/>
            </a:pPr>
            <a:r>
              <a:rPr lang="en-US" sz="1050" b="1" spc="200" kern="0" dirty="0">
                <a:solidFill>
                  <a:schemeClr val="accent2"/>
                </a:solidFill>
              </a:rPr>
              <a:t>APPENDIX</a:t>
            </a:r>
            <a:endParaRPr lang="en-US" sz="1050" dirty="0"/>
          </a:p>
        </p:txBody>
      </p:sp>
      <p:sp>
        <p:nvSpPr>
          <p:cNvPr id="3" name="Text 0"/>
          <p:cNvSpPr/>
          <p:nvPr>
            <p:ph idx="101" type="title" hasCustomPrompt="1"/>
          </p:nvPr>
        </p:nvSpPr>
        <p:spPr>
          <a:xfrm>
            <a:off x="548640" y="1051560"/>
            <a:ext cx="8046720" cy="1188720"/>
          </a:xfrm>
          <a:prstGeom prst="rect">
            <a:avLst/>
          </a:prstGeom>
          <a:noFill/>
          <a:ln/>
        </p:spPr>
        <p:txBody>
          <a:bodyPr wrap="square" lIns="0" tIns="0" rIns="0" bIns="0" rtlCol="0" anchor="t"/>
          <a:lstStyle/>
          <a:p>
            <a:pPr algn="l" indent="0" marL="0">
              <a:buNone/>
            </a:pPr>
            <a:r>
              <a:rPr lang="en-US" sz="3400" b="1" dirty="0">
                <a:solidFill>
                  <a:schemeClr val="bg1"/>
                </a:solidFill>
              </a:rPr>
              <a:t>How AI was used</a:t>
            </a:r>
            <a:endParaRPr lang="en-US" sz="3400" dirty="0"/>
          </a:p>
        </p:txBody>
      </p:sp>
      <p:sp>
        <p:nvSpPr>
          <p:cNvPr id="4" name="Text 0"/>
          <p:cNvSpPr/>
          <p:nvPr>
            <p:ph idx="102" type="body" hasCustomPrompt="1"/>
          </p:nvPr>
        </p:nvSpPr>
        <p:spPr>
          <a:xfrm>
            <a:off x="548640" y="2331720"/>
            <a:ext cx="8046720" cy="1463040"/>
          </a:xfrm>
          <a:prstGeom prst="rect">
            <a:avLst/>
          </a:prstGeom>
          <a:noFill/>
          <a:ln/>
        </p:spPr>
        <p:txBody>
          <a:bodyPr wrap="square" lIns="0" tIns="0" rIns="0" bIns="0" rtlCol="0" anchor="t"/>
          <a:lstStyle/>
          <a:p>
            <a:pPr marL="342900" indent="-342900">
              <a:buSzPct val="100000"/>
              <a:buChar char="•"/>
            </a:pPr>
            <a:r>
              <a:rPr lang="en-US" sz="1600" dirty="0">
                <a:solidFill>
                  <a:schemeClr val="bg2"/>
                </a:solidFill>
              </a:rPr>
              <a:t>Magpie, in Claude Code, drafted the plan, guide, findings, report and this deck.</a:t>
            </a:r>
            <a:endParaRPr lang="en-US" sz="1600" dirty="0"/>
          </a:p>
          <a:p>
            <a:pPr marL="342900" indent="-342900">
              <a:buSzPct val="100000"/>
              <a:buChar char="•"/>
            </a:pPr>
            <a:r>
              <a:rPr lang="en-US" sz="1600" dirty="0">
                <a:solidFill>
                  <a:schemeClr val="bg2"/>
                </a:solidFill>
              </a:rPr>
              <a:t>Priya ran every session, named her own patterns first, decided each theme, and wrote the recommendations.</a:t>
            </a:r>
            <a:endParaRPr lang="en-US" sz="1600" dirty="0"/>
          </a:p>
          <a:p>
            <a:pPr marL="342900" indent="-342900">
              <a:buSzPct val="100000"/>
              <a:buChar char="•"/>
            </a:pPr>
            <a:r>
              <a:rPr lang="en-US" sz="1600" dirty="0">
                <a:solidFill>
                  <a:schemeClr val="bg2"/>
                </a:solidFill>
              </a:rPr>
              <a:t>She reviewed the findings on 12 October and this deck on 14 October.</a:t>
            </a:r>
            <a:endParaRPr lang="en-US" sz="1600" dirty="0"/>
          </a:p>
          <a:p>
            <a:pPr marL="342900" indent="-342900">
              <a:buSzPct val="100000"/>
              <a:buChar char="•"/>
            </a:pPr>
            <a:r>
              <a:rPr lang="en-US" sz="1600" dirty="0">
                <a:solidFill>
                  <a:schemeClr val="bg2"/>
                </a:solidFill>
              </a:rPr>
              <a:t>Quotes and counts were checked by code; an AI reviewer raised 11 points and 8 changed the findings.</a:t>
            </a:r>
            <a:endParaRPr lang="en-US" sz="1600" dirty="0"/>
          </a:p>
          <a:p>
            <a:pPr marL="342900" indent="-342900">
              <a:buSzPct val="100000"/>
              <a:buChar char="•"/>
            </a:pPr>
            <a:r>
              <a:rPr lang="en-US" sz="1600" dirty="0">
                <a:solidFill>
                  <a:schemeClr val="bg2"/>
                </a:solidFill>
              </a:rPr>
              <a:t>The reviewer is a model too and can be wrong. The video tool transcribed the sessions.</a:t>
            </a:r>
            <a:endParaRPr lang="en-US" sz="1600" dirty="0"/>
          </a:p>
        </p:txBody>
      </p:sp>
    </p:spTree>
  </p:cSld>
  <p:clrMapOvr>
    <a:masterClrMapping/>
  </p:clrMapOvr>
</p:sld>
</file>

<file path=ppt/theme/theme1.xml><?xml version="1.0" encoding="utf-8"?>
<a:theme xmlns:a="http://schemas.openxmlformats.org/drawingml/2006/main" name="Magpie readout">
  <a:themeElements>
    <a:clrScheme name="Magpie readout">
      <a:dk1>
        <a:srgbClr val="1F2A24"/>
      </a:dk1>
      <a:lt1>
        <a:srgbClr val="FFFFFF"/>
      </a:lt1>
      <a:dk2>
        <a:srgbClr val="2C5F2D"/>
      </a:dk2>
      <a:lt2>
        <a:srgbClr val="EEF3EC"/>
      </a:lt2>
      <a:accent1>
        <a:srgbClr val="2C5F2D"/>
      </a:accent1>
      <a:accent2>
        <a:srgbClr val="97BC62"/>
      </a:accent2>
      <a:accent3>
        <a:srgbClr val="B85042"/>
      </a:accent3>
      <a:accent4>
        <a:srgbClr val="50808E"/>
      </a:accent4>
      <a:accent5>
        <a:srgbClr val="D9C97A"/>
      </a:accent5>
      <a:accent6>
        <a:srgbClr val="A7BEAE"/>
      </a:accent6>
      <a:hlink>
        <a:srgbClr val="2C5F2D"/>
      </a:hlink>
      <a:folHlink>
        <a:srgbClr val="50808E"/>
      </a:folHlink>
    </a:clrScheme>
    <a:fontScheme name="Magpie read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mid-size customers abandon export</dc:title>
  <dc:subject>PptxGenJS Presentation</dc:subject>
  <dc:creator>Priya Nair</dc:creator>
  <cp:lastModifiedBy>Priya Nair</cp:lastModifiedBy>
  <cp:revision>1</cp:revision>
  <dcterms:created xsi:type="dcterms:W3CDTF">2026-10-27T13:48:20Z</dcterms:created>
  <dcterms:modified xsi:type="dcterms:W3CDTF">2026-10-27T13:48:20Z</dcterms:modified>
</cp:coreProperties>
</file>