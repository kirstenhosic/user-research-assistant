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5a06f43-4e91-72b0-05de-248771050b7e}">
          <p14:sldIdLst>
            <p14:sldId id="256"/>
            <p14:sldId id="257"/>
            <p14:sldId id="258"/>
          </p14:sldIdLst>
        </p14:section>
        <p14:section name="Findings" id="{f9fcda90-f36c-c1a2-8640-68ae0a787f18}">
          <p14:sldIdLst>
            <p14:sldId id="259"/>
            <p14:sldId id="260"/>
            <p14:sldId id="261"/>
            <p14:sldId id="262"/>
            <p14:sldId id="263"/>
          </p14:sldIdLst>
        </p14:section>
        <p14:section name="What it means" id="{758e3a03-0ccf-2f00-51a8-a8a2137d0a7a}">
          <p14:sldIdLst>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1. In every case the account’s import mapping had skipped those columns. We checked in the admin view during the session. P2 and P5 exported fine. Both had CS run their import for them. A new dialog wouldn’t have helped five of the six who abandoned. The fix is earlier in the journey, and belongs to a different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2. P5 and P7 need a fixed column order the export can’t produce. Both tried twice. The other six had no column-order need. This may be a segment problem, not a general one. A small group is fully blocked. Size it before deciding: Support can count the finance-team customers who’ve raised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3. Described unprompted. The export funnel shows a completion; the real work then happens in email. P2 and P5 reported no workaround; P2 exports rarely. The 212 tickets understate the problem. Most people route around it without telling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4. Nobody could say what a hidden field was. We didn’t test alternative labels. P8 used it correctly, having read the help article. A cheap labelling fix inside the dialog. Not why people abandon, but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371600"/>
            <a:ext cx="8046720" cy="274320"/>
          </a:xfrm>
          <a:prstGeom prst="rect">
            <a:avLst/>
          </a:prstGeom>
          <a:noFill/>
          <a:ln/>
        </p:spPr>
        <p:txBody>
          <a:bodyPr wrap="square" rtlCol="0"/>
          <a:lstStyle>
            <a:lvl1pPr indent="0" marL="0">
              <a:buNone/>
              <a:defRPr lang="en-US" sz="1050" b="1" spc="200" kern="0" dirty="0">
                <a:solidFill>
                  <a:schemeClr val="accent2"/>
                </a:solidFill>
              </a:defRPr>
            </a:lvl1pPr>
          </a:lstStyle>
          <a:p>
            <a:pPr indent="0" marL="0">
              <a:buNone/>
            </a:pPr>
            <a:endParaRPr lang="en-US" sz="1050" dirty="0"/>
          </a:p>
        </p:txBody>
      </p:sp>
      <p:sp>
        <p:nvSpPr>
          <p:cNvPr id="3" name="Text 0"/>
          <p:cNvSpPr/>
          <p:nvPr>
            <p:ph idx="101" type="title" hasCustomPrompt="1"/>
          </p:nvPr>
        </p:nvSpPr>
        <p:spPr>
          <a:xfrm>
            <a:off x="548640" y="1691640"/>
            <a:ext cx="8046720" cy="11887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4" name="Text 0"/>
          <p:cNvSpPr/>
          <p:nvPr>
            <p:ph idx="102" type="body" hasCustomPrompt="1"/>
          </p:nvPr>
        </p:nvSpPr>
        <p:spPr>
          <a:xfrm>
            <a:off x="548640" y="2971800"/>
            <a:ext cx="8046720" cy="146304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
        <p:nvSpPr>
          <p:cNvPr id="5" name="Text 0"/>
          <p:cNvSpPr/>
          <p:nvPr/>
        </p:nvSpPr>
        <p:spPr>
          <a:xfrm>
            <a:off x="548640" y="470916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Fictional example · Magpie readout template</a:t>
            </a:r>
            <a:endParaRPr lang="en-US" sz="9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046720" cy="274320"/>
          </a:xfrm>
          <a:prstGeom prst="rect">
            <a:avLst/>
          </a:prstGeom>
          <a:noFill/>
          <a:ln/>
        </p:spPr>
        <p:txBody>
          <a:bodyPr wrap="square" rtlCol="0"/>
          <a:lstStyle>
            <a:lvl1pPr indent="0" marL="0">
              <a:buNone/>
              <a:defRPr lang="en-US" sz="1050" b="1" spc="200" kern="0" dirty="0">
                <a:solidFill>
                  <a:schemeClr val="accent4"/>
                </a:solidFill>
              </a:defRPr>
            </a:lvl1pPr>
          </a:lstStyle>
          <a:p>
            <a:pPr indent="0" marL="0">
              <a:buNone/>
            </a:pPr>
            <a:endParaRPr lang="en-US" sz="1050" dirty="0"/>
          </a:p>
        </p:txBody>
      </p:sp>
      <p:sp>
        <p:nvSpPr>
          <p:cNvPr id="3" name="Text 0"/>
          <p:cNvSpPr/>
          <p:nvPr>
            <p:ph idx="101" type="title" hasCustomPrompt="1"/>
          </p:nvPr>
        </p:nvSpPr>
        <p:spPr>
          <a:xfrm>
            <a:off x="548640" y="640080"/>
            <a:ext cx="8046720" cy="54864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4" name="Text 0"/>
          <p:cNvSpPr/>
          <p:nvPr/>
        </p:nvSpPr>
        <p:spPr>
          <a:xfrm>
            <a:off x="548640" y="4754880"/>
            <a:ext cx="6400800" cy="274320"/>
          </a:xfrm>
          <a:prstGeom prst="rect">
            <a:avLst/>
          </a:prstGeom>
          <a:noFill/>
          <a:ln/>
        </p:spPr>
        <p:txBody>
          <a:bodyPr wrap="square" lIns="0" tIns="0" rIns="0" bIns="0" rtlCol="0" anchor="ctr"/>
          <a:lstStyle/>
          <a:p>
            <a:pPr indent="0" marL="0">
              <a:buNone/>
            </a:pPr>
            <a:r>
              <a:rPr lang="en-US" sz="900" dirty="0">
                <a:solidFill>
                  <a:schemeClr val="accent4"/>
                </a:solidFill>
              </a:rPr>
              <a:t>Fictional example · Magpie readout template</a:t>
            </a:r>
            <a:endParaRPr lang="en-US" sz="9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1371600"/>
            <a:ext cx="8046720" cy="274320"/>
          </a:xfrm>
          <a:prstGeom prst="rect">
            <a:avLst/>
          </a:prstGeom>
          <a:noFill/>
          <a:ln/>
        </p:spPr>
        <p:txBody>
          <a:bodyPr wrap="square" lIns="0" tIns="0" rIns="0" bIns="0" rtlCol="0" anchor="b"/>
          <a:lstStyle/>
          <a:p>
            <a:pPr indent="0" marL="0">
              <a:buNone/>
            </a:pPr>
            <a:r>
              <a:rPr lang="en-US" sz="1050" b="1" spc="200" kern="0" dirty="0">
                <a:solidFill>
                  <a:schemeClr val="accent2"/>
                </a:solidFill>
              </a:rPr>
              <a:t>UX RESEARCH READOUT</a:t>
            </a:r>
            <a:endParaRPr lang="en-US" sz="1050" dirty="0"/>
          </a:p>
        </p:txBody>
      </p:sp>
      <p:sp>
        <p:nvSpPr>
          <p:cNvPr id="3" name="Text 0"/>
          <p:cNvSpPr/>
          <p:nvPr>
            <p:ph idx="101" type="title" hasCustomPrompt="1"/>
          </p:nvPr>
        </p:nvSpPr>
        <p:spPr>
          <a:xfrm>
            <a:off x="548640" y="1691640"/>
            <a:ext cx="8046720" cy="1188720"/>
          </a:xfrm>
          <a:prstGeom prst="rect">
            <a:avLst/>
          </a:prstGeom>
          <a:noFill/>
          <a:ln/>
        </p:spPr>
        <p:txBody>
          <a:bodyPr wrap="square" lIns="0" tIns="0" rIns="0" bIns="0" rtlCol="0" anchor="t"/>
          <a:lstStyle/>
          <a:p>
            <a:pPr algn="l" indent="0" marL="0">
              <a:buNone/>
            </a:pPr>
            <a:r>
              <a:rPr lang="en-US" sz="3400" b="1" dirty="0">
                <a:solidFill>
                  <a:schemeClr val="bg1"/>
                </a:solidFill>
              </a:rPr>
              <a:t>Why mid-size customers abandon export in Ledgerline</a:t>
            </a:r>
            <a:endParaRPr lang="en-US" sz="3400" dirty="0"/>
          </a:p>
        </p:txBody>
      </p:sp>
      <p:sp>
        <p:nvSpPr>
          <p:cNvPr id="4" name="Text 0"/>
          <p:cNvSpPr/>
          <p:nvPr>
            <p:ph idx="102" type="body" hasCustomPrompt="1"/>
          </p:nvPr>
        </p:nvSpPr>
        <p:spPr>
          <a:xfrm>
            <a:off x="548640" y="2971800"/>
            <a:ext cx="8046720" cy="1463040"/>
          </a:xfrm>
          <a:prstGeom prst="rect">
            <a:avLst/>
          </a:prstGeom>
          <a:noFill/>
          <a:ln/>
        </p:spPr>
        <p:txBody>
          <a:bodyPr wrap="square" lIns="0" tIns="0" rIns="0" bIns="0" rtlCol="0" anchor="t"/>
          <a:lstStyle/>
          <a:p>
            <a:pPr indent="0" marL="0">
              <a:buNone/>
            </a:pPr>
            <a:r>
              <a:rPr lang="en-US" sz="1600" dirty="0">
                <a:solidFill>
                  <a:schemeClr val="bg2"/>
                </a:solidFill>
              </a:rPr>
              <a:t>Readout · 14 October 2026</a:t>
            </a:r>
            <a:endParaRPr lang="en-US" sz="1600" dirty="0"/>
          </a:p>
          <a:p>
            <a:pPr indent="0" marL="0">
              <a:buNone/>
            </a:pPr>
            <a:r>
              <a:rPr lang="en-US" sz="1600" dirty="0">
                <a:solidFill>
                  <a:schemeClr val="bg2"/>
                </a:solidFill>
              </a:rPr>
              <a:t>Priya Nair, UX Research · Decision owner: Sam Okafor, PM Reporting</a:t>
            </a:r>
            <a:endParaRPr lang="en-US" sz="1600" dirty="0"/>
          </a:p>
          <a:p>
            <a:pPr indent="0" marL="0">
              <a:buNone/>
            </a:pPr>
            <a:r>
              <a:rPr lang="en-US" sz="1600" dirty="0">
                <a:solidFill>
                  <a:schemeClr val="bg2"/>
                </a:solidFill>
              </a:rPr>
              <a:t>Eight sessions · 6 to 10 October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046720" cy="274320"/>
          </a:xfrm>
          <a:prstGeom prst="rect">
            <a:avLst/>
          </a:prstGeom>
          <a:noFill/>
          <a:ln/>
        </p:spPr>
        <p:txBody>
          <a:bodyPr wrap="square" lIns="0" tIns="0" rIns="0" bIns="0" rtlCol="0" anchor="b"/>
          <a:lstStyle/>
          <a:p>
            <a:pPr indent="0" marL="0">
              <a:buNone/>
            </a:pPr>
            <a:r>
              <a:rPr lang="en-US" sz="1050" b="1" spc="200" kern="0" dirty="0">
                <a:solidFill>
                  <a:schemeClr val="accent4"/>
                </a:solidFill>
              </a:rPr>
              <a:t>CONTEXT</a:t>
            </a:r>
            <a:endParaRPr lang="en-US" sz="1050" dirty="0"/>
          </a:p>
        </p:txBody>
      </p:sp>
      <p:sp>
        <p:nvSpPr>
          <p:cNvPr id="3" name="Text 0"/>
          <p:cNvSpPr/>
          <p:nvPr>
            <p:ph idx="101" type="title" hasCustomPrompt="1"/>
          </p:nvPr>
        </p:nvSpPr>
        <p:spPr>
          <a:xfrm>
            <a:off x="548640" y="640080"/>
            <a:ext cx="8046720" cy="548640"/>
          </a:xfrm>
          <a:prstGeom prst="rect">
            <a:avLst/>
          </a:prstGeom>
          <a:noFill/>
          <a:ln/>
        </p:spPr>
        <p:txBody>
          <a:bodyPr wrap="square" lIns="0" tIns="0" rIns="0" bIns="0" rtlCol="0" anchor="t">
            <a:normAutofit/>
          </a:bodyPr>
          <a:lstStyle/>
          <a:p>
            <a:pPr algn="l" indent="0" marL="0">
              <a:buNone/>
            </a:pPr>
            <a:r>
              <a:rPr lang="en-US" sz="2600" b="1" dirty="0">
                <a:solidFill>
                  <a:schemeClr val="tx2"/>
                </a:solidFill>
              </a:rPr>
              <a:t>Why we did this</a:t>
            </a:r>
            <a:endParaRPr lang="en-US" sz="2600" dirty="0"/>
          </a:p>
        </p:txBody>
      </p:sp>
      <p:sp>
        <p:nvSpPr>
          <p:cNvPr id="4" name="Shape 2"/>
          <p:cNvSpPr/>
          <p:nvPr/>
        </p:nvSpPr>
        <p:spPr>
          <a:xfrm>
            <a:off x="548640" y="1389888"/>
            <a:ext cx="329184" cy="329184"/>
          </a:xfrm>
          <a:prstGeom prst="ellipse">
            <a:avLst/>
          </a:prstGeom>
          <a:solidFill>
            <a:schemeClr val="accent2"/>
          </a:solidFill>
          <a:ln/>
        </p:spPr>
      </p:sp>
      <p:sp>
        <p:nvSpPr>
          <p:cNvPr id="5" name="Text 3"/>
          <p:cNvSpPr txBox="1"/>
          <p:nvPr/>
        </p:nvSpPr>
        <p:spPr>
          <a:xfrm>
            <a:off x="548640" y="1389888"/>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1</a:t>
            </a:r>
            <a:endParaRPr lang="en-US" sz="1200" dirty="0"/>
          </a:p>
        </p:txBody>
      </p:sp>
      <p:sp>
        <p:nvSpPr>
          <p:cNvPr id="6" name="Text 4"/>
          <p:cNvSpPr txBox="1"/>
          <p:nvPr/>
        </p:nvSpPr>
        <p:spPr>
          <a:xfrm>
            <a:off x="1051560" y="1371600"/>
            <a:ext cx="2103120" cy="548640"/>
          </a:xfrm>
          <a:prstGeom prst="rect">
            <a:avLst/>
          </a:prstGeom>
          <a:noFill/>
          <a:ln/>
        </p:spPr>
        <p:txBody>
          <a:bodyPr wrap="square" lIns="0" tIns="0" rIns="0" bIns="0" rtlCol="0" anchor="t"/>
          <a:lstStyle/>
          <a:p>
            <a:pPr indent="0" marL="0">
              <a:buNone/>
            </a:pPr>
            <a:r>
              <a:rPr lang="en-US" sz="1400" b="1" dirty="0">
                <a:solidFill>
                  <a:schemeClr val="tx2"/>
                </a:solidFill>
              </a:rPr>
              <a:t>The decision</a:t>
            </a:r>
            <a:endParaRPr lang="en-US" sz="1400" dirty="0"/>
          </a:p>
        </p:txBody>
      </p:sp>
      <p:sp>
        <p:nvSpPr>
          <p:cNvPr id="7" name="Text 5"/>
          <p:cNvSpPr txBox="1"/>
          <p:nvPr/>
        </p:nvSpPr>
        <p:spPr>
          <a:xfrm>
            <a:off x="3246120" y="1380744"/>
            <a:ext cx="5349240" cy="585216"/>
          </a:xfrm>
          <a:prstGeom prst="rect">
            <a:avLst/>
          </a:prstGeom>
          <a:noFill/>
          <a:ln/>
        </p:spPr>
        <p:txBody>
          <a:bodyPr wrap="square" lIns="0" tIns="0" rIns="0" bIns="0" rtlCol="0" anchor="t"/>
          <a:lstStyle/>
          <a:p>
            <a:pPr indent="0" marL="0">
              <a:buNone/>
            </a:pPr>
            <a:r>
              <a:rPr lang="en-US" sz="1250" dirty="0">
                <a:solidFill>
                  <a:schemeClr val="tx1"/>
                </a:solidFill>
              </a:rPr>
              <a:t>Sam decides by 30 October whether Q1 goes to a redesigned export dialog or to the import step.</a:t>
            </a:r>
            <a:endParaRPr lang="en-US" sz="1250" dirty="0"/>
          </a:p>
        </p:txBody>
      </p:sp>
      <p:sp>
        <p:nvSpPr>
          <p:cNvPr id="8" name="Shape 6"/>
          <p:cNvSpPr/>
          <p:nvPr/>
        </p:nvSpPr>
        <p:spPr>
          <a:xfrm>
            <a:off x="1051560" y="1938528"/>
            <a:ext cx="7543800" cy="0"/>
          </a:xfrm>
          <a:prstGeom prst="line">
            <a:avLst/>
          </a:prstGeom>
          <a:noFill/>
          <a:ln w="9525">
            <a:solidFill>
              <a:srgbClr val="EEF3EC"/>
            </a:solidFill>
            <a:prstDash val="solid"/>
          </a:ln>
        </p:spPr>
      </p:sp>
      <p:sp>
        <p:nvSpPr>
          <p:cNvPr id="9" name="Shape 7"/>
          <p:cNvSpPr/>
          <p:nvPr/>
        </p:nvSpPr>
        <p:spPr>
          <a:xfrm>
            <a:off x="548640" y="2029968"/>
            <a:ext cx="329184" cy="329184"/>
          </a:xfrm>
          <a:prstGeom prst="ellipse">
            <a:avLst/>
          </a:prstGeom>
          <a:solidFill>
            <a:schemeClr val="accent2"/>
          </a:solidFill>
          <a:ln/>
        </p:spPr>
      </p:sp>
      <p:sp>
        <p:nvSpPr>
          <p:cNvPr id="10" name="Text 8"/>
          <p:cNvSpPr txBox="1"/>
          <p:nvPr/>
        </p:nvSpPr>
        <p:spPr>
          <a:xfrm>
            <a:off x="548640" y="2029968"/>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2</a:t>
            </a:r>
            <a:endParaRPr lang="en-US" sz="1200" dirty="0"/>
          </a:p>
        </p:txBody>
      </p:sp>
      <p:sp>
        <p:nvSpPr>
          <p:cNvPr id="11" name="Text 9"/>
          <p:cNvSpPr txBox="1"/>
          <p:nvPr/>
        </p:nvSpPr>
        <p:spPr>
          <a:xfrm>
            <a:off x="1051560" y="2011680"/>
            <a:ext cx="2103120" cy="548640"/>
          </a:xfrm>
          <a:prstGeom prst="rect">
            <a:avLst/>
          </a:prstGeom>
          <a:noFill/>
          <a:ln/>
        </p:spPr>
        <p:txBody>
          <a:bodyPr wrap="square" lIns="0" tIns="0" rIns="0" bIns="0" rtlCol="0" anchor="t"/>
          <a:lstStyle/>
          <a:p>
            <a:pPr indent="0" marL="0">
              <a:buNone/>
            </a:pPr>
            <a:r>
              <a:rPr lang="en-US" sz="1400" b="1" dirty="0">
                <a:solidFill>
                  <a:schemeClr val="tx2"/>
                </a:solidFill>
              </a:rPr>
              <a:t>The business need</a:t>
            </a:r>
            <a:endParaRPr lang="en-US" sz="1400" dirty="0"/>
          </a:p>
        </p:txBody>
      </p:sp>
      <p:sp>
        <p:nvSpPr>
          <p:cNvPr id="12" name="Text 10"/>
          <p:cNvSpPr txBox="1"/>
          <p:nvPr/>
        </p:nvSpPr>
        <p:spPr>
          <a:xfrm>
            <a:off x="3246120" y="2020824"/>
            <a:ext cx="5349240" cy="585216"/>
          </a:xfrm>
          <a:prstGeom prst="rect">
            <a:avLst/>
          </a:prstGeom>
          <a:noFill/>
          <a:ln/>
        </p:spPr>
        <p:txBody>
          <a:bodyPr wrap="square" lIns="0" tIns="0" rIns="0" bIns="0" rtlCol="0" anchor="t"/>
          <a:lstStyle/>
          <a:p>
            <a:pPr indent="0" marL="0">
              <a:buNone/>
            </a:pPr>
            <a:r>
              <a:rPr lang="en-US" sz="1250" dirty="0">
                <a:solidFill>
                  <a:schemeClr val="tx1"/>
                </a:solidFill>
              </a:rPr>
              <a:t>“Weekly active sharers” is our H2 goal. 212 export tickets in Q3 [Support].</a:t>
            </a:r>
            <a:endParaRPr lang="en-US" sz="1250" dirty="0"/>
          </a:p>
        </p:txBody>
      </p:sp>
      <p:sp>
        <p:nvSpPr>
          <p:cNvPr id="13" name="Shape 11"/>
          <p:cNvSpPr/>
          <p:nvPr/>
        </p:nvSpPr>
        <p:spPr>
          <a:xfrm>
            <a:off x="1051560" y="2578608"/>
            <a:ext cx="7543800" cy="0"/>
          </a:xfrm>
          <a:prstGeom prst="line">
            <a:avLst/>
          </a:prstGeom>
          <a:noFill/>
          <a:ln w="9525">
            <a:solidFill>
              <a:srgbClr val="EEF3EC"/>
            </a:solidFill>
            <a:prstDash val="solid"/>
          </a:ln>
        </p:spPr>
      </p:sp>
      <p:sp>
        <p:nvSpPr>
          <p:cNvPr id="14" name="Shape 12"/>
          <p:cNvSpPr/>
          <p:nvPr/>
        </p:nvSpPr>
        <p:spPr>
          <a:xfrm>
            <a:off x="548640" y="2670048"/>
            <a:ext cx="329184" cy="329184"/>
          </a:xfrm>
          <a:prstGeom prst="ellipse">
            <a:avLst/>
          </a:prstGeom>
          <a:solidFill>
            <a:schemeClr val="accent2"/>
          </a:solidFill>
          <a:ln/>
        </p:spPr>
      </p:sp>
      <p:sp>
        <p:nvSpPr>
          <p:cNvPr id="15" name="Text 13"/>
          <p:cNvSpPr txBox="1"/>
          <p:nvPr/>
        </p:nvSpPr>
        <p:spPr>
          <a:xfrm>
            <a:off x="548640" y="2670048"/>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3</a:t>
            </a:r>
            <a:endParaRPr lang="en-US" sz="1200" dirty="0"/>
          </a:p>
        </p:txBody>
      </p:sp>
      <p:sp>
        <p:nvSpPr>
          <p:cNvPr id="16" name="Text 14"/>
          <p:cNvSpPr txBox="1"/>
          <p:nvPr/>
        </p:nvSpPr>
        <p:spPr>
          <a:xfrm>
            <a:off x="1051560" y="2651760"/>
            <a:ext cx="2103120" cy="548640"/>
          </a:xfrm>
          <a:prstGeom prst="rect">
            <a:avLst/>
          </a:prstGeom>
          <a:noFill/>
          <a:ln/>
        </p:spPr>
        <p:txBody>
          <a:bodyPr wrap="square" lIns="0" tIns="0" rIns="0" bIns="0" rtlCol="0" anchor="t"/>
          <a:lstStyle/>
          <a:p>
            <a:pPr indent="0" marL="0">
              <a:buNone/>
            </a:pPr>
            <a:r>
              <a:rPr lang="en-US" sz="1400" b="1" dirty="0">
                <a:solidFill>
                  <a:schemeClr val="tx2"/>
                </a:solidFill>
              </a:rPr>
              <a:t>What we already knew</a:t>
            </a:r>
            <a:endParaRPr lang="en-US" sz="1400" dirty="0"/>
          </a:p>
        </p:txBody>
      </p:sp>
      <p:sp>
        <p:nvSpPr>
          <p:cNvPr id="17" name="Text 15"/>
          <p:cNvSpPr txBox="1"/>
          <p:nvPr/>
        </p:nvSpPr>
        <p:spPr>
          <a:xfrm>
            <a:off x="3246120" y="2660904"/>
            <a:ext cx="5349240" cy="585216"/>
          </a:xfrm>
          <a:prstGeom prst="rect">
            <a:avLst/>
          </a:prstGeom>
          <a:noFill/>
          <a:ln/>
        </p:spPr>
        <p:txBody>
          <a:bodyPr wrap="square" lIns="0" tIns="0" rIns="0" bIns="0" rtlCol="0" anchor="t"/>
          <a:lstStyle/>
          <a:p>
            <a:pPr indent="0" marL="0">
              <a:buNone/>
            </a:pPr>
            <a:r>
              <a:rPr lang="en-US" sz="1250" dirty="0">
                <a:solidFill>
                  <a:schemeClr val="tx1"/>
                </a:solidFill>
              </a:rPr>
              <a:t>Export is the second most-used admin feature [2025 survey]. No research on why it fails. Field reps: “customers hate the export” [indirect].</a:t>
            </a:r>
            <a:endParaRPr lang="en-US" sz="1250" dirty="0"/>
          </a:p>
        </p:txBody>
      </p:sp>
      <p:sp>
        <p:nvSpPr>
          <p:cNvPr id="18" name="Shape 16"/>
          <p:cNvSpPr/>
          <p:nvPr/>
        </p:nvSpPr>
        <p:spPr>
          <a:xfrm>
            <a:off x="1051560" y="3218688"/>
            <a:ext cx="7543800" cy="0"/>
          </a:xfrm>
          <a:prstGeom prst="line">
            <a:avLst/>
          </a:prstGeom>
          <a:noFill/>
          <a:ln w="9525">
            <a:solidFill>
              <a:srgbClr val="EEF3EC"/>
            </a:solidFill>
            <a:prstDash val="solid"/>
          </a:ln>
        </p:spPr>
      </p:sp>
      <p:sp>
        <p:nvSpPr>
          <p:cNvPr id="19" name="Shape 17"/>
          <p:cNvSpPr/>
          <p:nvPr/>
        </p:nvSpPr>
        <p:spPr>
          <a:xfrm>
            <a:off x="548640" y="3310128"/>
            <a:ext cx="329184" cy="329184"/>
          </a:xfrm>
          <a:prstGeom prst="ellipse">
            <a:avLst/>
          </a:prstGeom>
          <a:solidFill>
            <a:schemeClr val="accent2"/>
          </a:solidFill>
          <a:ln/>
        </p:spPr>
      </p:sp>
      <p:sp>
        <p:nvSpPr>
          <p:cNvPr id="20" name="Text 18"/>
          <p:cNvSpPr txBox="1"/>
          <p:nvPr/>
        </p:nvSpPr>
        <p:spPr>
          <a:xfrm>
            <a:off x="548640" y="3310128"/>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4</a:t>
            </a:r>
            <a:endParaRPr lang="en-US" sz="1200" dirty="0"/>
          </a:p>
        </p:txBody>
      </p:sp>
      <p:sp>
        <p:nvSpPr>
          <p:cNvPr id="21" name="Text 19"/>
          <p:cNvSpPr txBox="1"/>
          <p:nvPr/>
        </p:nvSpPr>
        <p:spPr>
          <a:xfrm>
            <a:off x="1051560" y="3291840"/>
            <a:ext cx="2103120" cy="548640"/>
          </a:xfrm>
          <a:prstGeom prst="rect">
            <a:avLst/>
          </a:prstGeom>
          <a:noFill/>
          <a:ln/>
        </p:spPr>
        <p:txBody>
          <a:bodyPr wrap="square" lIns="0" tIns="0" rIns="0" bIns="0" rtlCol="0" anchor="t"/>
          <a:lstStyle/>
          <a:p>
            <a:pPr indent="0" marL="0">
              <a:buNone/>
            </a:pPr>
            <a:r>
              <a:rPr lang="en-US" sz="1400" b="1" dirty="0">
                <a:solidFill>
                  <a:schemeClr val="tx2"/>
                </a:solidFill>
              </a:rPr>
              <a:t>The question</a:t>
            </a:r>
            <a:endParaRPr lang="en-US" sz="1400" dirty="0"/>
          </a:p>
        </p:txBody>
      </p:sp>
      <p:sp>
        <p:nvSpPr>
          <p:cNvPr id="22" name="Text 20"/>
          <p:cNvSpPr txBox="1"/>
          <p:nvPr/>
        </p:nvSpPr>
        <p:spPr>
          <a:xfrm>
            <a:off x="3246120" y="3300984"/>
            <a:ext cx="5349240" cy="585216"/>
          </a:xfrm>
          <a:prstGeom prst="rect">
            <a:avLst/>
          </a:prstGeom>
          <a:noFill/>
          <a:ln/>
        </p:spPr>
        <p:txBody>
          <a:bodyPr wrap="square" lIns="0" tIns="0" rIns="0" bIns="0" rtlCol="0" anchor="t"/>
          <a:lstStyle/>
          <a:p>
            <a:pPr indent="0" marL="0">
              <a:buNone/>
            </a:pPr>
            <a:r>
              <a:rPr lang="en-US" sz="1250" dirty="0">
                <a:solidFill>
                  <a:schemeClr val="tx1"/>
                </a:solidFill>
              </a:rPr>
              <a:t>Why do mid-size customers abandon exports in their first 90 days?</a:t>
            </a:r>
            <a:endParaRPr lang="en-US" sz="1250" dirty="0"/>
          </a:p>
        </p:txBody>
      </p:sp>
      <p:sp>
        <p:nvSpPr>
          <p:cNvPr id="23" name="Shape 21"/>
          <p:cNvSpPr/>
          <p:nvPr/>
        </p:nvSpPr>
        <p:spPr>
          <a:xfrm>
            <a:off x="1051560" y="3858768"/>
            <a:ext cx="7543800" cy="0"/>
          </a:xfrm>
          <a:prstGeom prst="line">
            <a:avLst/>
          </a:prstGeom>
          <a:noFill/>
          <a:ln w="9525">
            <a:solidFill>
              <a:srgbClr val="EEF3EC"/>
            </a:solidFill>
            <a:prstDash val="solid"/>
          </a:ln>
        </p:spPr>
      </p:sp>
      <p:sp>
        <p:nvSpPr>
          <p:cNvPr id="24" name="Shape 22"/>
          <p:cNvSpPr/>
          <p:nvPr/>
        </p:nvSpPr>
        <p:spPr>
          <a:xfrm>
            <a:off x="548640" y="3950208"/>
            <a:ext cx="329184" cy="329184"/>
          </a:xfrm>
          <a:prstGeom prst="ellipse">
            <a:avLst/>
          </a:prstGeom>
          <a:solidFill>
            <a:schemeClr val="accent2"/>
          </a:solidFill>
          <a:ln/>
        </p:spPr>
      </p:sp>
      <p:sp>
        <p:nvSpPr>
          <p:cNvPr id="25" name="Text 23"/>
          <p:cNvSpPr txBox="1"/>
          <p:nvPr/>
        </p:nvSpPr>
        <p:spPr>
          <a:xfrm>
            <a:off x="548640" y="3950208"/>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5</a:t>
            </a:r>
            <a:endParaRPr lang="en-US" sz="1200" dirty="0"/>
          </a:p>
        </p:txBody>
      </p:sp>
      <p:sp>
        <p:nvSpPr>
          <p:cNvPr id="26" name="Text 24"/>
          <p:cNvSpPr txBox="1"/>
          <p:nvPr/>
        </p:nvSpPr>
        <p:spPr>
          <a:xfrm>
            <a:off x="1051560" y="3931920"/>
            <a:ext cx="2103120" cy="548640"/>
          </a:xfrm>
          <a:prstGeom prst="rect">
            <a:avLst/>
          </a:prstGeom>
          <a:noFill/>
          <a:ln/>
        </p:spPr>
        <p:txBody>
          <a:bodyPr wrap="square" lIns="0" tIns="0" rIns="0" bIns="0" rtlCol="0" anchor="t"/>
          <a:lstStyle/>
          <a:p>
            <a:pPr indent="0" marL="0">
              <a:buNone/>
            </a:pPr>
            <a:r>
              <a:rPr lang="en-US" sz="1400" b="1" dirty="0">
                <a:solidFill>
                  <a:schemeClr val="tx2"/>
                </a:solidFill>
              </a:rPr>
              <a:t>Where it sits</a:t>
            </a:r>
            <a:endParaRPr lang="en-US" sz="1400" dirty="0"/>
          </a:p>
        </p:txBody>
      </p:sp>
      <p:sp>
        <p:nvSpPr>
          <p:cNvPr id="27" name="Text 25"/>
          <p:cNvSpPr txBox="1"/>
          <p:nvPr/>
        </p:nvSpPr>
        <p:spPr>
          <a:xfrm>
            <a:off x="3246120" y="3941064"/>
            <a:ext cx="5349240" cy="585216"/>
          </a:xfrm>
          <a:prstGeom prst="rect">
            <a:avLst/>
          </a:prstGeom>
          <a:noFill/>
          <a:ln/>
        </p:spPr>
        <p:txBody>
          <a:bodyPr wrap="square" lIns="0" tIns="0" rIns="0" bIns="0" rtlCol="0" anchor="t"/>
          <a:lstStyle/>
          <a:p>
            <a:pPr indent="0" marL="0">
              <a:buNone/>
            </a:pPr>
            <a:r>
              <a:rPr lang="en-US" sz="1250" dirty="0">
                <a:solidFill>
                  <a:schemeClr val="tx1"/>
                </a:solidFill>
              </a:rPr>
              <a:t>Job: get the month’s numbers into finance. Journey: Share a report, step 3 of 4. Persona: Report builder.</a:t>
            </a:r>
            <a:endParaRPr lang="en-US" sz="12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046720" cy="274320"/>
          </a:xfrm>
          <a:prstGeom prst="rect">
            <a:avLst/>
          </a:prstGeom>
          <a:noFill/>
          <a:ln/>
        </p:spPr>
        <p:txBody>
          <a:bodyPr wrap="square" lIns="0" tIns="0" rIns="0" bIns="0" rtlCol="0" anchor="b"/>
          <a:lstStyle/>
          <a:p>
            <a:pPr indent="0" marL="0">
              <a:buNone/>
            </a:pPr>
            <a:r>
              <a:rPr lang="en-US" sz="1050" b="1" spc="200" kern="0" dirty="0">
                <a:solidFill>
                  <a:schemeClr val="accent4"/>
                </a:solidFill>
              </a:rPr>
              <a:t>METHOD</a:t>
            </a:r>
            <a:endParaRPr lang="en-US" sz="1050" dirty="0"/>
          </a:p>
        </p:txBody>
      </p:sp>
      <p:sp>
        <p:nvSpPr>
          <p:cNvPr id="3" name="Text 0"/>
          <p:cNvSpPr/>
          <p:nvPr>
            <p:ph idx="101" type="title" hasCustomPrompt="1"/>
          </p:nvPr>
        </p:nvSpPr>
        <p:spPr>
          <a:xfrm>
            <a:off x="548640" y="640080"/>
            <a:ext cx="8046720" cy="548640"/>
          </a:xfrm>
          <a:prstGeom prst="rect">
            <a:avLst/>
          </a:prstGeom>
          <a:noFill/>
          <a:ln/>
        </p:spPr>
        <p:txBody>
          <a:bodyPr wrap="square" lIns="0" tIns="0" rIns="0" bIns="0" rtlCol="0" anchor="t">
            <a:normAutofit/>
          </a:bodyPr>
          <a:lstStyle/>
          <a:p>
            <a:pPr algn="l" indent="0" marL="0">
              <a:buNone/>
            </a:pPr>
            <a:r>
              <a:rPr lang="en-US" sz="2600" b="1" dirty="0">
                <a:solidFill>
                  <a:schemeClr val="tx2"/>
                </a:solidFill>
              </a:rPr>
              <a:t>What we did</a:t>
            </a:r>
            <a:endParaRPr lang="en-US" sz="2600" dirty="0"/>
          </a:p>
        </p:txBody>
      </p:sp>
      <p:sp>
        <p:nvSpPr>
          <p:cNvPr id="4" name="Shape 2"/>
          <p:cNvSpPr/>
          <p:nvPr/>
        </p:nvSpPr>
        <p:spPr>
          <a:xfrm>
            <a:off x="548640" y="1371600"/>
            <a:ext cx="1828800" cy="1325880"/>
          </a:xfrm>
          <a:prstGeom prst="roundRect">
            <a:avLst>
              <a:gd name="adj" fmla="val 6897"/>
            </a:avLst>
          </a:prstGeom>
          <a:solidFill>
            <a:schemeClr val="bg2"/>
          </a:solidFill>
          <a:ln w="12700">
            <a:solidFill>
              <a:schemeClr val="bg2"/>
            </a:solidFill>
            <a:prstDash val="solid"/>
          </a:ln>
        </p:spPr>
      </p:sp>
      <p:sp>
        <p:nvSpPr>
          <p:cNvPr id="5" name="Text 3"/>
          <p:cNvSpPr txBox="1"/>
          <p:nvPr/>
        </p:nvSpPr>
        <p:spPr>
          <a:xfrm>
            <a:off x="548640" y="1463040"/>
            <a:ext cx="1828800" cy="731520"/>
          </a:xfrm>
          <a:prstGeom prst="rect">
            <a:avLst/>
          </a:prstGeom>
          <a:noFill/>
          <a:ln/>
        </p:spPr>
        <p:txBody>
          <a:bodyPr wrap="square" lIns="0" tIns="0" rIns="0" bIns="0" rtlCol="0" anchor="ctr"/>
          <a:lstStyle/>
          <a:p>
            <a:pPr algn="ctr" indent="0" marL="0">
              <a:buNone/>
            </a:pPr>
            <a:r>
              <a:rPr lang="en-US" sz="3200" b="1" dirty="0">
                <a:solidFill>
                  <a:schemeClr val="tx2"/>
                </a:solidFill>
              </a:rPr>
              <a:t>8</a:t>
            </a:r>
            <a:endParaRPr lang="en-US" sz="3200" dirty="0"/>
          </a:p>
        </p:txBody>
      </p:sp>
      <p:sp>
        <p:nvSpPr>
          <p:cNvPr id="6" name="Text 4"/>
          <p:cNvSpPr txBox="1"/>
          <p:nvPr/>
        </p:nvSpPr>
        <p:spPr>
          <a:xfrm>
            <a:off x="640080" y="2176272"/>
            <a:ext cx="1645920" cy="457200"/>
          </a:xfrm>
          <a:prstGeom prst="rect">
            <a:avLst/>
          </a:prstGeom>
          <a:noFill/>
          <a:ln/>
        </p:spPr>
        <p:txBody>
          <a:bodyPr wrap="square" lIns="0" tIns="0" rIns="0" bIns="0" rtlCol="0" anchor="t"/>
          <a:lstStyle/>
          <a:p>
            <a:pPr algn="ctr" indent="0" marL="0">
              <a:buNone/>
            </a:pPr>
            <a:r>
              <a:rPr lang="en-US" sz="1100" dirty="0">
                <a:solidFill>
                  <a:schemeClr val="accent4"/>
                </a:solidFill>
              </a:rPr>
              <a:t>remote sessions, 45 minutes</a:t>
            </a:r>
            <a:endParaRPr lang="en-US" sz="1100" dirty="0"/>
          </a:p>
        </p:txBody>
      </p:sp>
      <p:sp>
        <p:nvSpPr>
          <p:cNvPr id="7" name="Shape 5"/>
          <p:cNvSpPr/>
          <p:nvPr/>
        </p:nvSpPr>
        <p:spPr>
          <a:xfrm>
            <a:off x="2606040" y="1371600"/>
            <a:ext cx="1828800" cy="1325880"/>
          </a:xfrm>
          <a:prstGeom prst="roundRect">
            <a:avLst>
              <a:gd name="adj" fmla="val 6897"/>
            </a:avLst>
          </a:prstGeom>
          <a:solidFill>
            <a:schemeClr val="bg2"/>
          </a:solidFill>
          <a:ln w="12700">
            <a:solidFill>
              <a:schemeClr val="bg2"/>
            </a:solidFill>
            <a:prstDash val="solid"/>
          </a:ln>
        </p:spPr>
      </p:sp>
      <p:sp>
        <p:nvSpPr>
          <p:cNvPr id="8" name="Text 6"/>
          <p:cNvSpPr txBox="1"/>
          <p:nvPr/>
        </p:nvSpPr>
        <p:spPr>
          <a:xfrm>
            <a:off x="2606040" y="1463040"/>
            <a:ext cx="1828800" cy="731520"/>
          </a:xfrm>
          <a:prstGeom prst="rect">
            <a:avLst/>
          </a:prstGeom>
          <a:noFill/>
          <a:ln/>
        </p:spPr>
        <p:txBody>
          <a:bodyPr wrap="square" lIns="0" tIns="0" rIns="0" bIns="0" rtlCol="0" anchor="ctr"/>
          <a:lstStyle/>
          <a:p>
            <a:pPr algn="ctr" indent="0" marL="0">
              <a:buNone/>
            </a:pPr>
            <a:r>
              <a:rPr lang="en-US" sz="3200" b="1" dirty="0">
                <a:solidFill>
                  <a:schemeClr val="tx2"/>
                </a:solidFill>
              </a:rPr>
              <a:t>&lt;90</a:t>
            </a:r>
            <a:endParaRPr lang="en-US" sz="3200" dirty="0"/>
          </a:p>
        </p:txBody>
      </p:sp>
      <p:sp>
        <p:nvSpPr>
          <p:cNvPr id="9" name="Text 7"/>
          <p:cNvSpPr txBox="1"/>
          <p:nvPr/>
        </p:nvSpPr>
        <p:spPr>
          <a:xfrm>
            <a:off x="2697480" y="2176272"/>
            <a:ext cx="1645920" cy="457200"/>
          </a:xfrm>
          <a:prstGeom prst="rect">
            <a:avLst/>
          </a:prstGeom>
          <a:noFill/>
          <a:ln/>
        </p:spPr>
        <p:txBody>
          <a:bodyPr wrap="square" lIns="0" tIns="0" rIns="0" bIns="0" rtlCol="0" anchor="t"/>
          <a:lstStyle/>
          <a:p>
            <a:pPr algn="ctr" indent="0" marL="0">
              <a:buNone/>
            </a:pPr>
            <a:r>
              <a:rPr lang="en-US" sz="1100" dirty="0">
                <a:solidFill>
                  <a:schemeClr val="accent4"/>
                </a:solidFill>
              </a:rPr>
              <a:t>days since signup</a:t>
            </a:r>
            <a:endParaRPr lang="en-US" sz="1100" dirty="0"/>
          </a:p>
        </p:txBody>
      </p:sp>
      <p:sp>
        <p:nvSpPr>
          <p:cNvPr id="10" name="Shape 8"/>
          <p:cNvSpPr/>
          <p:nvPr/>
        </p:nvSpPr>
        <p:spPr>
          <a:xfrm>
            <a:off x="4663440" y="1371600"/>
            <a:ext cx="1828800" cy="1325880"/>
          </a:xfrm>
          <a:prstGeom prst="roundRect">
            <a:avLst>
              <a:gd name="adj" fmla="val 6897"/>
            </a:avLst>
          </a:prstGeom>
          <a:solidFill>
            <a:schemeClr val="bg2"/>
          </a:solidFill>
          <a:ln w="12700">
            <a:solidFill>
              <a:schemeClr val="bg2"/>
            </a:solidFill>
            <a:prstDash val="solid"/>
          </a:ln>
        </p:spPr>
      </p:sp>
      <p:sp>
        <p:nvSpPr>
          <p:cNvPr id="11" name="Text 9"/>
          <p:cNvSpPr txBox="1"/>
          <p:nvPr/>
        </p:nvSpPr>
        <p:spPr>
          <a:xfrm>
            <a:off x="4663440" y="1463040"/>
            <a:ext cx="1828800" cy="731520"/>
          </a:xfrm>
          <a:prstGeom prst="rect">
            <a:avLst/>
          </a:prstGeom>
          <a:noFill/>
          <a:ln/>
        </p:spPr>
        <p:txBody>
          <a:bodyPr wrap="square" lIns="0" tIns="0" rIns="0" bIns="0" rtlCol="0" anchor="ctr"/>
          <a:lstStyle/>
          <a:p>
            <a:pPr algn="ctr" indent="0" marL="0">
              <a:buNone/>
            </a:pPr>
            <a:r>
              <a:rPr lang="en-US" sz="3200" b="1" dirty="0">
                <a:solidFill>
                  <a:schemeClr val="tx2"/>
                </a:solidFill>
              </a:rPr>
              <a:t>50–500</a:t>
            </a:r>
            <a:endParaRPr lang="en-US" sz="3200" dirty="0"/>
          </a:p>
        </p:txBody>
      </p:sp>
      <p:sp>
        <p:nvSpPr>
          <p:cNvPr id="12" name="Text 10"/>
          <p:cNvSpPr txBox="1"/>
          <p:nvPr/>
        </p:nvSpPr>
        <p:spPr>
          <a:xfrm>
            <a:off x="4754880" y="2176272"/>
            <a:ext cx="1645920" cy="457200"/>
          </a:xfrm>
          <a:prstGeom prst="rect">
            <a:avLst/>
          </a:prstGeom>
          <a:noFill/>
          <a:ln/>
        </p:spPr>
        <p:txBody>
          <a:bodyPr wrap="square" lIns="0" tIns="0" rIns="0" bIns="0" rtlCol="0" anchor="t"/>
          <a:lstStyle/>
          <a:p>
            <a:pPr algn="ctr" indent="0" marL="0">
              <a:buNone/>
            </a:pPr>
            <a:r>
              <a:rPr lang="en-US" sz="1100" dirty="0">
                <a:solidFill>
                  <a:schemeClr val="accent4"/>
                </a:solidFill>
              </a:rPr>
              <a:t>seats per customer</a:t>
            </a:r>
            <a:endParaRPr lang="en-US" sz="1100" dirty="0"/>
          </a:p>
        </p:txBody>
      </p:sp>
      <p:sp>
        <p:nvSpPr>
          <p:cNvPr id="13" name="Shape 11"/>
          <p:cNvSpPr/>
          <p:nvPr/>
        </p:nvSpPr>
        <p:spPr>
          <a:xfrm>
            <a:off x="6720840" y="1371600"/>
            <a:ext cx="1828800" cy="1325880"/>
          </a:xfrm>
          <a:prstGeom prst="roundRect">
            <a:avLst>
              <a:gd name="adj" fmla="val 6897"/>
            </a:avLst>
          </a:prstGeom>
          <a:solidFill>
            <a:schemeClr val="bg2"/>
          </a:solidFill>
          <a:ln w="12700">
            <a:solidFill>
              <a:schemeClr val="bg2"/>
            </a:solidFill>
            <a:prstDash val="solid"/>
          </a:ln>
        </p:spPr>
      </p:sp>
      <p:sp>
        <p:nvSpPr>
          <p:cNvPr id="14" name="Text 12"/>
          <p:cNvSpPr txBox="1"/>
          <p:nvPr/>
        </p:nvSpPr>
        <p:spPr>
          <a:xfrm>
            <a:off x="6720840" y="1463040"/>
            <a:ext cx="1828800" cy="731520"/>
          </a:xfrm>
          <a:prstGeom prst="rect">
            <a:avLst/>
          </a:prstGeom>
          <a:noFill/>
          <a:ln/>
        </p:spPr>
        <p:txBody>
          <a:bodyPr wrap="square" lIns="0" tIns="0" rIns="0" bIns="0" rtlCol="0" anchor="ctr"/>
          <a:lstStyle/>
          <a:p>
            <a:pPr algn="ctr" indent="0" marL="0">
              <a:buNone/>
            </a:pPr>
            <a:r>
              <a:rPr lang="en-US" sz="3200" b="1" dirty="0">
                <a:solidFill>
                  <a:schemeClr val="tx2"/>
                </a:solidFill>
              </a:rPr>
              <a:t>6–10 Oct</a:t>
            </a:r>
            <a:endParaRPr lang="en-US" sz="3200" dirty="0"/>
          </a:p>
        </p:txBody>
      </p:sp>
      <p:sp>
        <p:nvSpPr>
          <p:cNvPr id="15" name="Text 13"/>
          <p:cNvSpPr txBox="1"/>
          <p:nvPr/>
        </p:nvSpPr>
        <p:spPr>
          <a:xfrm>
            <a:off x="6812280" y="2176272"/>
            <a:ext cx="1645920" cy="457200"/>
          </a:xfrm>
          <a:prstGeom prst="rect">
            <a:avLst/>
          </a:prstGeom>
          <a:noFill/>
          <a:ln/>
        </p:spPr>
        <p:txBody>
          <a:bodyPr wrap="square" lIns="0" tIns="0" rIns="0" bIns="0" rtlCol="0" anchor="t"/>
          <a:lstStyle/>
          <a:p>
            <a:pPr algn="ctr" indent="0" marL="0">
              <a:buNone/>
            </a:pPr>
            <a:r>
              <a:rPr lang="en-US" sz="1100" dirty="0">
                <a:solidFill>
                  <a:schemeClr val="accent4"/>
                </a:solidFill>
              </a:rPr>
              <a:t>2026</a:t>
            </a:r>
            <a:endParaRPr lang="en-US" sz="1100" dirty="0"/>
          </a:p>
        </p:txBody>
      </p:sp>
      <p:sp>
        <p:nvSpPr>
          <p:cNvPr id="16" name="Text 14"/>
          <p:cNvSpPr txBox="1"/>
          <p:nvPr/>
        </p:nvSpPr>
        <p:spPr>
          <a:xfrm>
            <a:off x="548640" y="3017520"/>
            <a:ext cx="8046720" cy="822960"/>
          </a:xfrm>
          <a:prstGeom prst="rect">
            <a:avLst/>
          </a:prstGeom>
          <a:noFill/>
          <a:ln/>
        </p:spPr>
        <p:txBody>
          <a:bodyPr wrap="square" lIns="0" tIns="0" rIns="0" bIns="0" rtlCol="0" anchor="t"/>
          <a:lstStyle/>
          <a:p>
            <a:pPr indent="0" marL="0">
              <a:buNone/>
            </a:pPr>
            <a:r>
              <a:rPr lang="en-US" sz="1400" dirty="0">
                <a:solidFill>
                  <a:schemeClr val="tx1"/>
                </a:solidFill>
              </a:rPr>
              <a:t>Report builders at mid-size customers, recruited from our own users by the CS team. A short interview about their last export, then a live export task on their own account: export last month’s revenue report to CSV.</a:t>
            </a:r>
            <a:endParaRPr lang="en-US" sz="1400" dirty="0"/>
          </a:p>
        </p:txBody>
      </p:sp>
      <p:sp>
        <p:nvSpPr>
          <p:cNvPr id="17" name="Text 15"/>
          <p:cNvSpPr txBox="1"/>
          <p:nvPr/>
        </p:nvSpPr>
        <p:spPr>
          <a:xfrm>
            <a:off x="548640" y="3886200"/>
            <a:ext cx="8046720" cy="640080"/>
          </a:xfrm>
          <a:prstGeom prst="rect">
            <a:avLst/>
          </a:prstGeom>
          <a:noFill/>
          <a:ln/>
        </p:spPr>
        <p:txBody>
          <a:bodyPr wrap="square" lIns="0" tIns="0" rIns="0" bIns="0" rtlCol="0" anchor="t"/>
          <a:lstStyle/>
          <a:p>
            <a:pPr indent="0" marL="0">
              <a:buNone/>
            </a:pPr>
            <a:r>
              <a:rPr lang="en-US" sz="1200" i="1" dirty="0">
                <a:solidFill>
                  <a:schemeClr val="accent4"/>
                </a:solidFill>
              </a:rPr>
              <a:t>Sessions rather than a survey, because the question was why. Sessions rather than analytics alone, because the funnel shows where people stop, not what they were trying to do.</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046720" cy="274320"/>
          </a:xfrm>
          <a:prstGeom prst="rect">
            <a:avLst/>
          </a:prstGeom>
          <a:noFill/>
          <a:ln/>
        </p:spPr>
        <p:txBody>
          <a:bodyPr wrap="square" lIns="0" tIns="0" rIns="0" bIns="0" rtlCol="0" anchor="b"/>
          <a:lstStyle/>
          <a:p>
            <a:pPr indent="0" marL="0">
              <a:buNone/>
            </a:pPr>
            <a:r>
              <a:rPr lang="en-US" sz="1050" b="1" spc="200" kern="0" dirty="0">
                <a:solidFill>
                  <a:schemeClr val="accent4"/>
                </a:solidFill>
              </a:rPr>
              <a:t>FINDINGS</a:t>
            </a:r>
            <a:endParaRPr lang="en-US" sz="1050" dirty="0"/>
          </a:p>
        </p:txBody>
      </p:sp>
      <p:sp>
        <p:nvSpPr>
          <p:cNvPr id="3" name="Text 0"/>
          <p:cNvSpPr/>
          <p:nvPr>
            <p:ph idx="101" type="title" hasCustomPrompt="1"/>
          </p:nvPr>
        </p:nvSpPr>
        <p:spPr>
          <a:xfrm>
            <a:off x="548640" y="640080"/>
            <a:ext cx="8046720" cy="548640"/>
          </a:xfrm>
          <a:prstGeom prst="rect">
            <a:avLst/>
          </a:prstGeom>
          <a:noFill/>
          <a:ln/>
        </p:spPr>
        <p:txBody>
          <a:bodyPr wrap="square" lIns="0" tIns="0" rIns="0" bIns="0" rtlCol="0" anchor="t">
            <a:normAutofit/>
          </a:bodyPr>
          <a:lstStyle/>
          <a:p>
            <a:pPr algn="l" indent="0" marL="0">
              <a:buNone/>
            </a:pPr>
            <a:r>
              <a:rPr lang="en-US" sz="2600" b="1" dirty="0">
                <a:solidFill>
                  <a:schemeClr val="tx2"/>
                </a:solidFill>
              </a:rPr>
              <a:t>Top findings, in order of strength and impact</a:t>
            </a:r>
            <a:endParaRPr lang="en-US" sz="2600" dirty="0"/>
          </a:p>
        </p:txBody>
      </p:sp>
      <p:sp>
        <p:nvSpPr>
          <p:cNvPr id="4" name="Shape 2"/>
          <p:cNvSpPr/>
          <p:nvPr/>
        </p:nvSpPr>
        <p:spPr>
          <a:xfrm>
            <a:off x="548640" y="1463040"/>
            <a:ext cx="384048" cy="384048"/>
          </a:xfrm>
          <a:prstGeom prst="ellipse">
            <a:avLst/>
          </a:prstGeom>
          <a:solidFill>
            <a:schemeClr val="accent1"/>
          </a:solidFill>
          <a:ln/>
        </p:spPr>
      </p:sp>
      <p:sp>
        <p:nvSpPr>
          <p:cNvPr id="5" name="Text 3"/>
          <p:cNvSpPr txBox="1"/>
          <p:nvPr/>
        </p:nvSpPr>
        <p:spPr>
          <a:xfrm>
            <a:off x="548640" y="14630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1097280" y="1371600"/>
            <a:ext cx="5669280" cy="566928"/>
          </a:xfrm>
          <a:prstGeom prst="rect">
            <a:avLst/>
          </a:prstGeom>
          <a:noFill/>
          <a:ln/>
        </p:spPr>
        <p:txBody>
          <a:bodyPr wrap="square" lIns="0" tIns="0" rIns="0" bIns="0" rtlCol="0" anchor="ctr"/>
          <a:lstStyle/>
          <a:p>
            <a:pPr indent="0" marL="0">
              <a:buNone/>
            </a:pPr>
            <a:r>
              <a:rPr lang="en-US" sz="1600" dirty="0">
                <a:solidFill>
                  <a:schemeClr val="tx1"/>
                </a:solidFill>
              </a:rPr>
              <a:t>Most abandoned exports fail at import, not export</a:t>
            </a:r>
            <a:endParaRPr lang="en-US" sz="1600" dirty="0"/>
          </a:p>
        </p:txBody>
      </p:sp>
      <p:sp>
        <p:nvSpPr>
          <p:cNvPr id="7" name="Shape 5"/>
          <p:cNvSpPr/>
          <p:nvPr/>
        </p:nvSpPr>
        <p:spPr>
          <a:xfrm>
            <a:off x="6949440" y="1481328"/>
            <a:ext cx="1645920" cy="347472"/>
          </a:xfrm>
          <a:prstGeom prst="roundRect">
            <a:avLst>
              <a:gd name="adj" fmla="val 50000"/>
            </a:avLst>
          </a:prstGeom>
          <a:solidFill>
            <a:schemeClr val="accent1"/>
          </a:solidFill>
          <a:ln w="12700">
            <a:solidFill>
              <a:schemeClr val="accent1"/>
            </a:solidFill>
            <a:prstDash val="solid"/>
          </a:ln>
        </p:spPr>
      </p:sp>
      <p:sp>
        <p:nvSpPr>
          <p:cNvPr id="8" name="Text 6"/>
          <p:cNvSpPr txBox="1"/>
          <p:nvPr/>
        </p:nvSpPr>
        <p:spPr>
          <a:xfrm>
            <a:off x="6949440" y="1481328"/>
            <a:ext cx="1645920" cy="347472"/>
          </a:xfrm>
          <a:prstGeom prst="rect">
            <a:avLst/>
          </a:prstGeom>
          <a:noFill/>
          <a:ln/>
        </p:spPr>
        <p:txBody>
          <a:bodyPr wrap="square" lIns="0" tIns="0" rIns="0" bIns="0" rtlCol="0" anchor="ctr"/>
          <a:lstStyle/>
          <a:p>
            <a:pPr algn="ctr" indent="0" marL="0">
              <a:buNone/>
            </a:pPr>
            <a:r>
              <a:rPr lang="en-US" sz="1050" b="1" dirty="0">
                <a:solidFill>
                  <a:schemeClr val="bg1"/>
                </a:solidFill>
              </a:rPr>
              <a:t>Strong</a:t>
            </a:r>
            <a:endParaRPr lang="en-US" sz="1050" dirty="0"/>
          </a:p>
        </p:txBody>
      </p:sp>
      <p:sp>
        <p:nvSpPr>
          <p:cNvPr id="9" name="Shape 7"/>
          <p:cNvSpPr/>
          <p:nvPr/>
        </p:nvSpPr>
        <p:spPr>
          <a:xfrm>
            <a:off x="1097280" y="1975104"/>
            <a:ext cx="7498080" cy="0"/>
          </a:xfrm>
          <a:prstGeom prst="line">
            <a:avLst/>
          </a:prstGeom>
          <a:noFill/>
          <a:ln w="9525">
            <a:solidFill>
              <a:srgbClr val="EEF3EC"/>
            </a:solidFill>
            <a:prstDash val="solid"/>
          </a:ln>
        </p:spPr>
      </p:sp>
      <p:sp>
        <p:nvSpPr>
          <p:cNvPr id="10" name="Shape 8"/>
          <p:cNvSpPr/>
          <p:nvPr/>
        </p:nvSpPr>
        <p:spPr>
          <a:xfrm>
            <a:off x="548640" y="2084832"/>
            <a:ext cx="384048" cy="384048"/>
          </a:xfrm>
          <a:prstGeom prst="ellipse">
            <a:avLst/>
          </a:prstGeom>
          <a:solidFill>
            <a:schemeClr val="accent3"/>
          </a:solidFill>
          <a:ln/>
        </p:spPr>
      </p:sp>
      <p:sp>
        <p:nvSpPr>
          <p:cNvPr id="11" name="Text 9"/>
          <p:cNvSpPr txBox="1"/>
          <p:nvPr/>
        </p:nvSpPr>
        <p:spPr>
          <a:xfrm>
            <a:off x="548640" y="208483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10"/>
          <p:cNvSpPr txBox="1"/>
          <p:nvPr/>
        </p:nvSpPr>
        <p:spPr>
          <a:xfrm>
            <a:off x="1097280" y="1993392"/>
            <a:ext cx="5669280" cy="566928"/>
          </a:xfrm>
          <a:prstGeom prst="rect">
            <a:avLst/>
          </a:prstGeom>
          <a:noFill/>
          <a:ln/>
        </p:spPr>
        <p:txBody>
          <a:bodyPr wrap="square" lIns="0" tIns="0" rIns="0" bIns="0" rtlCol="0" anchor="ctr"/>
          <a:lstStyle/>
          <a:p>
            <a:pPr indent="0" marL="0">
              <a:buNone/>
            </a:pPr>
            <a:r>
              <a:rPr lang="en-US" sz="1600" dirty="0">
                <a:solidFill>
                  <a:schemeClr val="tx1"/>
                </a:solidFill>
              </a:rPr>
              <a:t>Finance-team participants could not complete any export</a:t>
            </a:r>
            <a:endParaRPr lang="en-US" sz="1600" dirty="0"/>
          </a:p>
        </p:txBody>
      </p:sp>
      <p:sp>
        <p:nvSpPr>
          <p:cNvPr id="13" name="Shape 11"/>
          <p:cNvSpPr/>
          <p:nvPr/>
        </p:nvSpPr>
        <p:spPr>
          <a:xfrm>
            <a:off x="6949440" y="2103120"/>
            <a:ext cx="1645920" cy="347472"/>
          </a:xfrm>
          <a:prstGeom prst="roundRect">
            <a:avLst>
              <a:gd name="adj" fmla="val 50000"/>
            </a:avLst>
          </a:prstGeom>
          <a:solidFill>
            <a:schemeClr val="accent3"/>
          </a:solidFill>
          <a:ln w="12700">
            <a:solidFill>
              <a:schemeClr val="accent3"/>
            </a:solidFill>
            <a:prstDash val="solid"/>
          </a:ln>
        </p:spPr>
      </p:sp>
      <p:sp>
        <p:nvSpPr>
          <p:cNvPr id="14" name="Text 12"/>
          <p:cNvSpPr txBox="1"/>
          <p:nvPr/>
        </p:nvSpPr>
        <p:spPr>
          <a:xfrm>
            <a:off x="6949440" y="2103120"/>
            <a:ext cx="1645920" cy="347472"/>
          </a:xfrm>
          <a:prstGeom prst="rect">
            <a:avLst/>
          </a:prstGeom>
          <a:noFill/>
          <a:ln/>
        </p:spPr>
        <p:txBody>
          <a:bodyPr wrap="square" lIns="0" tIns="0" rIns="0" bIns="0" rtlCol="0" anchor="ctr"/>
          <a:lstStyle/>
          <a:p>
            <a:pPr algn="ctr" indent="0" marL="0">
              <a:buNone/>
            </a:pPr>
            <a:r>
              <a:rPr lang="en-US" sz="1050" b="1" dirty="0">
                <a:solidFill>
                  <a:schemeClr val="bg1"/>
                </a:solidFill>
              </a:rPr>
              <a:t>Weak, but serious</a:t>
            </a:r>
            <a:endParaRPr lang="en-US" sz="1050" dirty="0"/>
          </a:p>
        </p:txBody>
      </p:sp>
      <p:sp>
        <p:nvSpPr>
          <p:cNvPr id="15" name="Shape 13"/>
          <p:cNvSpPr/>
          <p:nvPr/>
        </p:nvSpPr>
        <p:spPr>
          <a:xfrm>
            <a:off x="1097280" y="2596896"/>
            <a:ext cx="7498080" cy="0"/>
          </a:xfrm>
          <a:prstGeom prst="line">
            <a:avLst/>
          </a:prstGeom>
          <a:noFill/>
          <a:ln w="9525">
            <a:solidFill>
              <a:srgbClr val="EEF3EC"/>
            </a:solidFill>
            <a:prstDash val="solid"/>
          </a:ln>
        </p:spPr>
      </p:sp>
      <p:sp>
        <p:nvSpPr>
          <p:cNvPr id="16" name="Shape 14"/>
          <p:cNvSpPr/>
          <p:nvPr/>
        </p:nvSpPr>
        <p:spPr>
          <a:xfrm>
            <a:off x="548640" y="2706624"/>
            <a:ext cx="384048" cy="384048"/>
          </a:xfrm>
          <a:prstGeom prst="ellipse">
            <a:avLst/>
          </a:prstGeom>
          <a:solidFill>
            <a:schemeClr val="accent1"/>
          </a:solidFill>
          <a:ln/>
        </p:spPr>
      </p:sp>
      <p:sp>
        <p:nvSpPr>
          <p:cNvPr id="17" name="Text 15"/>
          <p:cNvSpPr txBox="1"/>
          <p:nvPr/>
        </p:nvSpPr>
        <p:spPr>
          <a:xfrm>
            <a:off x="548640" y="270662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Text 16"/>
          <p:cNvSpPr txBox="1"/>
          <p:nvPr/>
        </p:nvSpPr>
        <p:spPr>
          <a:xfrm>
            <a:off x="1097280" y="2615184"/>
            <a:ext cx="5669280" cy="566928"/>
          </a:xfrm>
          <a:prstGeom prst="rect">
            <a:avLst/>
          </a:prstGeom>
          <a:noFill/>
          <a:ln/>
        </p:spPr>
        <p:txBody>
          <a:bodyPr wrap="square" lIns="0" tIns="0" rIns="0" bIns="0" rtlCol="0" anchor="ctr"/>
          <a:lstStyle/>
          <a:p>
            <a:pPr indent="0" marL="0">
              <a:buNone/>
            </a:pPr>
            <a:r>
              <a:rPr lang="en-US" sz="1600" dirty="0">
                <a:solidFill>
                  <a:schemeClr val="tx1"/>
                </a:solidFill>
              </a:rPr>
              <a:t>The workaround is email</a:t>
            </a:r>
            <a:endParaRPr lang="en-US" sz="1600" dirty="0"/>
          </a:p>
        </p:txBody>
      </p:sp>
      <p:sp>
        <p:nvSpPr>
          <p:cNvPr id="19" name="Shape 17"/>
          <p:cNvSpPr/>
          <p:nvPr/>
        </p:nvSpPr>
        <p:spPr>
          <a:xfrm>
            <a:off x="6949440" y="2724912"/>
            <a:ext cx="1645920" cy="347472"/>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6949440" y="2724912"/>
            <a:ext cx="1645920" cy="347472"/>
          </a:xfrm>
          <a:prstGeom prst="rect">
            <a:avLst/>
          </a:prstGeom>
          <a:noFill/>
          <a:ln/>
        </p:spPr>
        <p:txBody>
          <a:bodyPr wrap="square" lIns="0" tIns="0" rIns="0" bIns="0" rtlCol="0" anchor="ctr"/>
          <a:lstStyle/>
          <a:p>
            <a:pPr algn="ctr" indent="0" marL="0">
              <a:buNone/>
            </a:pPr>
            <a:r>
              <a:rPr lang="en-US" sz="1050" b="1" dirty="0">
                <a:solidFill>
                  <a:schemeClr val="bg1"/>
                </a:solidFill>
              </a:rPr>
              <a:t>Strong</a:t>
            </a:r>
            <a:endParaRPr lang="en-US" sz="1050" dirty="0"/>
          </a:p>
        </p:txBody>
      </p:sp>
      <p:sp>
        <p:nvSpPr>
          <p:cNvPr id="21" name="Shape 19"/>
          <p:cNvSpPr/>
          <p:nvPr/>
        </p:nvSpPr>
        <p:spPr>
          <a:xfrm>
            <a:off x="1097280" y="3218688"/>
            <a:ext cx="7498080" cy="0"/>
          </a:xfrm>
          <a:prstGeom prst="line">
            <a:avLst/>
          </a:prstGeom>
          <a:noFill/>
          <a:ln w="9525">
            <a:solidFill>
              <a:srgbClr val="EEF3EC"/>
            </a:solidFill>
            <a:prstDash val="solid"/>
          </a:ln>
        </p:spPr>
      </p:sp>
      <p:sp>
        <p:nvSpPr>
          <p:cNvPr id="22" name="Shape 20"/>
          <p:cNvSpPr/>
          <p:nvPr/>
        </p:nvSpPr>
        <p:spPr>
          <a:xfrm>
            <a:off x="548640" y="3328416"/>
            <a:ext cx="384048" cy="384048"/>
          </a:xfrm>
          <a:prstGeom prst="ellipse">
            <a:avLst/>
          </a:prstGeom>
          <a:solidFill>
            <a:schemeClr val="accent4"/>
          </a:solidFill>
          <a:ln/>
        </p:spPr>
      </p:sp>
      <p:sp>
        <p:nvSpPr>
          <p:cNvPr id="23" name="Text 21"/>
          <p:cNvSpPr txBox="1"/>
          <p:nvPr/>
        </p:nvSpPr>
        <p:spPr>
          <a:xfrm>
            <a:off x="548640" y="33284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Text 22"/>
          <p:cNvSpPr txBox="1"/>
          <p:nvPr/>
        </p:nvSpPr>
        <p:spPr>
          <a:xfrm>
            <a:off x="1097280" y="3236976"/>
            <a:ext cx="5669280" cy="566928"/>
          </a:xfrm>
          <a:prstGeom prst="rect">
            <a:avLst/>
          </a:prstGeom>
          <a:noFill/>
          <a:ln/>
        </p:spPr>
        <p:txBody>
          <a:bodyPr wrap="square" lIns="0" tIns="0" rIns="0" bIns="0" rtlCol="0" anchor="ctr"/>
          <a:lstStyle/>
          <a:p>
            <a:pPr indent="0" marL="0">
              <a:buNone/>
            </a:pPr>
            <a:r>
              <a:rPr lang="en-US" sz="1600" dirty="0">
                <a:solidFill>
                  <a:schemeClr val="tx1"/>
                </a:solidFill>
              </a:rPr>
              <a:t>Nobody understood “Include hidden fields”</a:t>
            </a:r>
            <a:endParaRPr lang="en-US" sz="1600" dirty="0"/>
          </a:p>
        </p:txBody>
      </p:sp>
      <p:sp>
        <p:nvSpPr>
          <p:cNvPr id="25" name="Shape 23"/>
          <p:cNvSpPr/>
          <p:nvPr/>
        </p:nvSpPr>
        <p:spPr>
          <a:xfrm>
            <a:off x="6949440" y="3346704"/>
            <a:ext cx="1645920" cy="347472"/>
          </a:xfrm>
          <a:prstGeom prst="roundRect">
            <a:avLst>
              <a:gd name="adj" fmla="val 50000"/>
            </a:avLst>
          </a:prstGeom>
          <a:solidFill>
            <a:schemeClr val="accent4"/>
          </a:solidFill>
          <a:ln w="12700">
            <a:solidFill>
              <a:schemeClr val="accent4"/>
            </a:solidFill>
            <a:prstDash val="solid"/>
          </a:ln>
        </p:spPr>
      </p:sp>
      <p:sp>
        <p:nvSpPr>
          <p:cNvPr id="26" name="Text 24"/>
          <p:cNvSpPr txBox="1"/>
          <p:nvPr/>
        </p:nvSpPr>
        <p:spPr>
          <a:xfrm>
            <a:off x="6949440" y="3346704"/>
            <a:ext cx="1645920" cy="347472"/>
          </a:xfrm>
          <a:prstGeom prst="rect">
            <a:avLst/>
          </a:prstGeom>
          <a:noFill/>
          <a:ln/>
        </p:spPr>
        <p:txBody>
          <a:bodyPr wrap="square" lIns="0" tIns="0" rIns="0" bIns="0" rtlCol="0" anchor="ctr"/>
          <a:lstStyle/>
          <a:p>
            <a:pPr algn="ctr" indent="0" marL="0">
              <a:buNone/>
            </a:pPr>
            <a:r>
              <a:rPr lang="en-US" sz="1050" b="1" dirty="0">
                <a:solidFill>
                  <a:schemeClr val="bg1"/>
                </a:solidFill>
              </a:rPr>
              <a:t>Moderate</a:t>
            </a:r>
            <a:endParaRPr lang="en-US" sz="1050" dirty="0"/>
          </a:p>
        </p:txBody>
      </p:sp>
      <p:sp>
        <p:nvSpPr>
          <p:cNvPr id="27" name="Shape 25"/>
          <p:cNvSpPr/>
          <p:nvPr/>
        </p:nvSpPr>
        <p:spPr>
          <a:xfrm>
            <a:off x="1097280" y="3840480"/>
            <a:ext cx="7498080" cy="0"/>
          </a:xfrm>
          <a:prstGeom prst="line">
            <a:avLst/>
          </a:prstGeom>
          <a:noFill/>
          <a:ln w="9525">
            <a:solidFill>
              <a:srgbClr val="EEF3EC"/>
            </a:solidFill>
            <a:prstDash val="solid"/>
          </a:ln>
        </p:spPr>
      </p:sp>
      <p:sp>
        <p:nvSpPr>
          <p:cNvPr id="28" name="Shape 26"/>
          <p:cNvSpPr/>
          <p:nvPr/>
        </p:nvSpPr>
        <p:spPr>
          <a:xfrm>
            <a:off x="548640" y="3950208"/>
            <a:ext cx="384048" cy="384048"/>
          </a:xfrm>
          <a:prstGeom prst="ellipse">
            <a:avLst/>
          </a:prstGeom>
          <a:solidFill>
            <a:schemeClr val="accent6"/>
          </a:solidFill>
          <a:ln/>
        </p:spPr>
      </p:sp>
      <p:sp>
        <p:nvSpPr>
          <p:cNvPr id="29" name="Text 27"/>
          <p:cNvSpPr txBox="1"/>
          <p:nvPr/>
        </p:nvSpPr>
        <p:spPr>
          <a:xfrm>
            <a:off x="548640" y="395020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Text 28"/>
          <p:cNvSpPr txBox="1"/>
          <p:nvPr/>
        </p:nvSpPr>
        <p:spPr>
          <a:xfrm>
            <a:off x="1097280" y="3858768"/>
            <a:ext cx="5669280" cy="566928"/>
          </a:xfrm>
          <a:prstGeom prst="rect">
            <a:avLst/>
          </a:prstGeom>
          <a:noFill/>
          <a:ln/>
        </p:spPr>
        <p:txBody>
          <a:bodyPr wrap="square" lIns="0" tIns="0" rIns="0" bIns="0" rtlCol="0" anchor="ctr"/>
          <a:lstStyle/>
          <a:p>
            <a:pPr indent="0" marL="0">
              <a:buNone/>
            </a:pPr>
            <a:r>
              <a:rPr lang="en-US" sz="1600" dirty="0">
                <a:solidFill>
                  <a:schemeClr val="tx1"/>
                </a:solidFill>
              </a:rPr>
              <a:t>Filename confusion is real but minor</a:t>
            </a:r>
            <a:endParaRPr lang="en-US" sz="1600" dirty="0"/>
          </a:p>
        </p:txBody>
      </p:sp>
      <p:sp>
        <p:nvSpPr>
          <p:cNvPr id="31" name="Shape 29"/>
          <p:cNvSpPr/>
          <p:nvPr/>
        </p:nvSpPr>
        <p:spPr>
          <a:xfrm>
            <a:off x="6949440" y="3968496"/>
            <a:ext cx="1645920" cy="347472"/>
          </a:xfrm>
          <a:prstGeom prst="roundRect">
            <a:avLst>
              <a:gd name="adj" fmla="val 50000"/>
            </a:avLst>
          </a:prstGeom>
          <a:solidFill>
            <a:schemeClr val="accent6"/>
          </a:solidFill>
          <a:ln w="12700">
            <a:solidFill>
              <a:schemeClr val="accent6"/>
            </a:solidFill>
            <a:prstDash val="solid"/>
          </a:ln>
        </p:spPr>
      </p:sp>
      <p:sp>
        <p:nvSpPr>
          <p:cNvPr id="32" name="Text 30"/>
          <p:cNvSpPr txBox="1"/>
          <p:nvPr/>
        </p:nvSpPr>
        <p:spPr>
          <a:xfrm>
            <a:off x="6949440" y="3968496"/>
            <a:ext cx="1645920" cy="347472"/>
          </a:xfrm>
          <a:prstGeom prst="rect">
            <a:avLst/>
          </a:prstGeom>
          <a:noFill/>
          <a:ln/>
        </p:spPr>
        <p:txBody>
          <a:bodyPr wrap="square" lIns="0" tIns="0" rIns="0" bIns="0" rtlCol="0" anchor="ctr"/>
          <a:lstStyle/>
          <a:p>
            <a:pPr algn="ctr" indent="0" marL="0">
              <a:buNone/>
            </a:pPr>
            <a:r>
              <a:rPr lang="en-US" sz="1050" b="1" dirty="0">
                <a:solidFill>
                  <a:schemeClr val="bg1"/>
                </a:solidFill>
              </a:rPr>
              <a:t>Weak</a:t>
            </a:r>
            <a:endParaRPr lang="en-US" sz="10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046720" cy="274320"/>
          </a:xfrm>
          <a:prstGeom prst="rect">
            <a:avLst/>
          </a:prstGeom>
          <a:noFill/>
          <a:ln/>
        </p:spPr>
        <p:txBody>
          <a:bodyPr wrap="square" lIns="0" tIns="0" rIns="0" bIns="0" rtlCol="0" anchor="b"/>
          <a:lstStyle/>
          <a:p>
            <a:pPr indent="0" marL="0">
              <a:buNone/>
            </a:pPr>
            <a:r>
              <a:rPr lang="en-US" sz="1050" b="1" spc="200" kern="0" dirty="0">
                <a:solidFill>
                  <a:schemeClr val="accent4"/>
                </a:solidFill>
              </a:rPr>
              <a:t>FINDING 1 OF 5  ·  STRONG</a:t>
            </a:r>
            <a:endParaRPr lang="en-US" sz="1050" dirty="0"/>
          </a:p>
        </p:txBody>
      </p:sp>
      <p:sp>
        <p:nvSpPr>
          <p:cNvPr id="3" name="Text 0"/>
          <p:cNvSpPr/>
          <p:nvPr>
            <p:ph idx="101" type="title" hasCustomPrompt="1"/>
          </p:nvPr>
        </p:nvSpPr>
        <p:spPr>
          <a:xfrm>
            <a:off x="548640" y="640080"/>
            <a:ext cx="8046720" cy="548640"/>
          </a:xfrm>
          <a:prstGeom prst="rect">
            <a:avLst/>
          </a:prstGeom>
          <a:noFill/>
          <a:ln/>
        </p:spPr>
        <p:txBody>
          <a:bodyPr wrap="square" lIns="0" tIns="0" rIns="0" bIns="0" rtlCol="0" anchor="t">
            <a:normAutofit/>
          </a:bodyPr>
          <a:lstStyle/>
          <a:p>
            <a:pPr algn="l" indent="0" marL="0">
              <a:buNone/>
            </a:pPr>
            <a:r>
              <a:rPr lang="en-US" sz="2600" b="1" dirty="0">
                <a:solidFill>
                  <a:schemeClr val="tx2"/>
                </a:solidFill>
              </a:rPr>
              <a:t>Most abandoned exports fail at import</a:t>
            </a:r>
            <a:endParaRPr lang="en-US" sz="2600" dirty="0"/>
          </a:p>
        </p:txBody>
      </p:sp>
      <p:sp>
        <p:nvSpPr>
          <p:cNvPr id="4" name="Shape 2"/>
          <p:cNvSpPr/>
          <p:nvPr/>
        </p:nvSpPr>
        <p:spPr>
          <a:xfrm>
            <a:off x="548640" y="1371600"/>
            <a:ext cx="2286000" cy="3108960"/>
          </a:xfrm>
          <a:prstGeom prst="roundRect">
            <a:avLst>
              <a:gd name="adj" fmla="val 4000"/>
            </a:avLst>
          </a:prstGeom>
          <a:solidFill>
            <a:schemeClr val="bg2"/>
          </a:solidFill>
          <a:ln w="12700">
            <a:solidFill>
              <a:schemeClr val="bg2"/>
            </a:solidFill>
            <a:prstDash val="solid"/>
          </a:ln>
        </p:spPr>
      </p:sp>
      <p:sp>
        <p:nvSpPr>
          <p:cNvPr id="5" name="Text 3"/>
          <p:cNvSpPr txBox="1"/>
          <p:nvPr/>
        </p:nvSpPr>
        <p:spPr>
          <a:xfrm>
            <a:off x="548640" y="1554480"/>
            <a:ext cx="2286000" cy="822960"/>
          </a:xfrm>
          <a:prstGeom prst="rect">
            <a:avLst/>
          </a:prstGeom>
          <a:noFill/>
          <a:ln/>
        </p:spPr>
        <p:txBody>
          <a:bodyPr wrap="square" lIns="0" tIns="0" rIns="0" bIns="0" rtlCol="0" anchor="ctr"/>
          <a:lstStyle/>
          <a:p>
            <a:pPr algn="ctr" indent="0" marL="0">
              <a:buNone/>
            </a:pPr>
            <a:r>
              <a:rPr lang="en-US" sz="4400" b="1" dirty="0">
                <a:solidFill>
                  <a:schemeClr val="accent1"/>
                </a:solidFill>
              </a:rPr>
              <a:t>5 of 8</a:t>
            </a:r>
            <a:endParaRPr lang="en-US" sz="4400" dirty="0"/>
          </a:p>
        </p:txBody>
      </p:sp>
      <p:sp>
        <p:nvSpPr>
          <p:cNvPr id="6" name="Text 4"/>
          <p:cNvSpPr txBox="1"/>
          <p:nvPr/>
        </p:nvSpPr>
        <p:spPr>
          <a:xfrm>
            <a:off x="731520" y="2423160"/>
            <a:ext cx="1920240" cy="1188720"/>
          </a:xfrm>
          <a:prstGeom prst="rect">
            <a:avLst/>
          </a:prstGeom>
          <a:noFill/>
          <a:ln/>
        </p:spPr>
        <p:txBody>
          <a:bodyPr wrap="square" lIns="0" tIns="0" rIns="0" bIns="0" rtlCol="0" anchor="t"/>
          <a:lstStyle/>
          <a:p>
            <a:pPr algn="ctr" indent="0" marL="0">
              <a:buNone/>
            </a:pPr>
            <a:r>
              <a:rPr lang="en-US" sz="1150" dirty="0">
                <a:solidFill>
                  <a:schemeClr val="tx1"/>
                </a:solidFill>
              </a:rPr>
              <a:t>stopped when the preview showed empty columns. All five: columns never mapped at import</a:t>
            </a:r>
            <a:endParaRPr lang="en-US" sz="1150" dirty="0"/>
          </a:p>
        </p:txBody>
      </p:sp>
      <p:sp>
        <p:nvSpPr>
          <p:cNvPr id="7" name="Shape 5"/>
          <p:cNvSpPr/>
          <p:nvPr/>
        </p:nvSpPr>
        <p:spPr>
          <a:xfrm>
            <a:off x="777240" y="3840480"/>
            <a:ext cx="1828800" cy="384048"/>
          </a:xfrm>
          <a:prstGeom prst="roundRect">
            <a:avLst>
              <a:gd name="adj" fmla="val 50000"/>
            </a:avLst>
          </a:prstGeom>
          <a:solidFill>
            <a:schemeClr val="accent1"/>
          </a:solidFill>
          <a:ln w="12700">
            <a:solidFill>
              <a:schemeClr val="accent1"/>
            </a:solidFill>
            <a:prstDash val="solid"/>
          </a:ln>
        </p:spPr>
      </p:sp>
      <p:sp>
        <p:nvSpPr>
          <p:cNvPr id="8" name="Text 6"/>
          <p:cNvSpPr txBox="1"/>
          <p:nvPr/>
        </p:nvSpPr>
        <p:spPr>
          <a:xfrm>
            <a:off x="777240" y="3840480"/>
            <a:ext cx="1828800" cy="384048"/>
          </a:xfrm>
          <a:prstGeom prst="rect">
            <a:avLst/>
          </a:prstGeom>
          <a:noFill/>
          <a:ln/>
        </p:spPr>
        <p:txBody>
          <a:bodyPr wrap="square" lIns="0" tIns="0" rIns="0" bIns="0" rtlCol="0" anchor="ctr"/>
          <a:lstStyle/>
          <a:p>
            <a:pPr algn="ctr" indent="0" marL="0">
              <a:buNone/>
            </a:pPr>
            <a:r>
              <a:rPr lang="en-US" sz="1100" b="1" dirty="0">
                <a:solidFill>
                  <a:schemeClr val="bg1"/>
                </a:solidFill>
              </a:rPr>
              <a:t>Strong</a:t>
            </a:r>
            <a:endParaRPr lang="en-US" sz="1100" dirty="0"/>
          </a:p>
        </p:txBody>
      </p:sp>
      <p:sp>
        <p:nvSpPr>
          <p:cNvPr id="9" name="Text 7"/>
          <p:cNvSpPr txBox="1"/>
          <p:nvPr/>
        </p:nvSpPr>
        <p:spPr>
          <a:xfrm>
            <a:off x="3154680" y="1371600"/>
            <a:ext cx="5440680" cy="685800"/>
          </a:xfrm>
          <a:prstGeom prst="rect">
            <a:avLst/>
          </a:prstGeom>
          <a:noFill/>
          <a:ln/>
        </p:spPr>
        <p:txBody>
          <a:bodyPr wrap="square" lIns="0" tIns="0" rIns="0" bIns="0" rtlCol="0" anchor="t"/>
          <a:lstStyle/>
          <a:p>
            <a:pPr indent="0" marL="0">
              <a:buNone/>
            </a:pPr>
            <a:r>
              <a:rPr lang="en-US" sz="1400" dirty="0">
                <a:solidFill>
                  <a:schemeClr val="tx1"/>
                </a:solidFill>
              </a:rPr>
              <a:t>In every case the account’s import mapping had skipped those columns. We checked in the admin view during the session.</a:t>
            </a:r>
            <a:endParaRPr lang="en-US" sz="1400" dirty="0"/>
          </a:p>
        </p:txBody>
      </p:sp>
      <p:sp>
        <p:nvSpPr>
          <p:cNvPr id="10" name="Text 8"/>
          <p:cNvSpPr txBox="1"/>
          <p:nvPr/>
        </p:nvSpPr>
        <p:spPr>
          <a:xfrm>
            <a:off x="3154680" y="2011680"/>
            <a:ext cx="457200" cy="640080"/>
          </a:xfrm>
          <a:prstGeom prst="rect">
            <a:avLst/>
          </a:prstGeom>
          <a:noFill/>
          <a:ln/>
        </p:spPr>
        <p:txBody>
          <a:bodyPr wrap="square" lIns="0" tIns="0" rIns="0" bIns="0" rtlCol="0" anchor="t"/>
          <a:lstStyle/>
          <a:p>
            <a:pPr indent="0" marL="0">
              <a:buNone/>
            </a:pPr>
            <a:r>
              <a:rPr lang="en-US" sz="4400" b="1" dirty="0">
                <a:solidFill>
                  <a:schemeClr val="accent2"/>
                </a:solidFill>
              </a:rPr>
              <a:t>“</a:t>
            </a:r>
            <a:endParaRPr lang="en-US" sz="4400" dirty="0"/>
          </a:p>
        </p:txBody>
      </p:sp>
      <p:sp>
        <p:nvSpPr>
          <p:cNvPr id="11" name="Text 9"/>
          <p:cNvSpPr txBox="1"/>
          <p:nvPr/>
        </p:nvSpPr>
        <p:spPr>
          <a:xfrm>
            <a:off x="3611880" y="2103120"/>
            <a:ext cx="4983480" cy="640080"/>
          </a:xfrm>
          <a:prstGeom prst="rect">
            <a:avLst/>
          </a:prstGeom>
          <a:noFill/>
          <a:ln/>
        </p:spPr>
        <p:txBody>
          <a:bodyPr wrap="square" lIns="0" tIns="0" rIns="0" bIns="0" rtlCol="0" anchor="t"/>
          <a:lstStyle/>
          <a:p>
            <a:pPr indent="0" marL="0">
              <a:buNone/>
            </a:pPr>
            <a:r>
              <a:rPr lang="en-US" sz="1300" i="1" dirty="0">
                <a:solidFill>
                  <a:schemeClr val="tx2"/>
                </a:solidFill>
              </a:rPr>
              <a:t>“I thought export was broken, but it’s the import that never had them.”</a:t>
            </a:r>
            <a:endParaRPr lang="en-US" sz="1300" dirty="0"/>
          </a:p>
          <a:p>
            <a:pPr indent="0" marL="0">
              <a:buNone/>
            </a:pPr>
            <a:r>
              <a:rPr lang="en-US" sz="1050" b="1" dirty="0">
                <a:solidFill>
                  <a:schemeClr val="accent4"/>
                </a:solidFill>
              </a:rPr>
              <a:t>P3</a:t>
            </a:r>
            <a:endParaRPr lang="en-US" sz="1300" dirty="0"/>
          </a:p>
        </p:txBody>
      </p:sp>
      <p:sp>
        <p:nvSpPr>
          <p:cNvPr id="12" name="Text 10"/>
          <p:cNvSpPr txBox="1"/>
          <p:nvPr/>
        </p:nvSpPr>
        <p:spPr>
          <a:xfrm>
            <a:off x="3154680" y="2788920"/>
            <a:ext cx="5440680" cy="201168"/>
          </a:xfrm>
          <a:prstGeom prst="rect">
            <a:avLst/>
          </a:prstGeom>
          <a:noFill/>
          <a:ln/>
        </p:spPr>
        <p:txBody>
          <a:bodyPr wrap="square" lIns="0" tIns="0" rIns="0" bIns="0" rtlCol="0" anchor="ctr"/>
          <a:lstStyle/>
          <a:p>
            <a:pPr indent="0" marL="0">
              <a:buNone/>
            </a:pPr>
            <a:r>
              <a:rPr lang="en-US" sz="950" b="1" spc="150" kern="0" dirty="0">
                <a:solidFill>
                  <a:schemeClr val="accent4"/>
                </a:solidFill>
              </a:rPr>
              <a:t>RECEIPTS</a:t>
            </a:r>
            <a:endParaRPr lang="en-US" sz="950" dirty="0"/>
          </a:p>
        </p:txBody>
      </p:sp>
      <p:sp>
        <p:nvSpPr>
          <p:cNvPr id="13" name="Text 11"/>
          <p:cNvSpPr txBox="1"/>
          <p:nvPr/>
        </p:nvSpPr>
        <p:spPr>
          <a:xfrm>
            <a:off x="3154680" y="2990088"/>
            <a:ext cx="5440680" cy="320040"/>
          </a:xfrm>
          <a:prstGeom prst="rect">
            <a:avLst/>
          </a:prstGeom>
          <a:noFill/>
          <a:ln/>
        </p:spPr>
        <p:txBody>
          <a:bodyPr wrap="square" lIns="0" tIns="0" rIns="0" bIns="0" rtlCol="0" anchor="t"/>
          <a:lstStyle/>
          <a:p>
            <a:pPr indent="0" marL="0">
              <a:buNone/>
            </a:pPr>
            <a:r>
              <a:rPr lang="en-US" sz="1050" dirty="0">
                <a:solidFill>
                  <a:schemeClr val="accent4"/>
                </a:solidFill>
              </a:rPr>
              <a:t>P1 line 13 · P3 line 41 · P4 08:15 · P6 12:40 · P8 06:02</a:t>
            </a:r>
            <a:endParaRPr lang="en-US" sz="1050" dirty="0"/>
          </a:p>
        </p:txBody>
      </p:sp>
      <p:sp>
        <p:nvSpPr>
          <p:cNvPr id="14" name="Text 12"/>
          <p:cNvSpPr txBox="1"/>
          <p:nvPr/>
        </p:nvSpPr>
        <p:spPr>
          <a:xfrm>
            <a:off x="3154680" y="3429000"/>
            <a:ext cx="2583180" cy="201168"/>
          </a:xfrm>
          <a:prstGeom prst="rect">
            <a:avLst/>
          </a:prstGeom>
          <a:noFill/>
          <a:ln/>
        </p:spPr>
        <p:txBody>
          <a:bodyPr wrap="square" lIns="0" tIns="0" rIns="0" bIns="0" rtlCol="0" anchor="ctr"/>
          <a:lstStyle/>
          <a:p>
            <a:pPr indent="0" marL="0">
              <a:buNone/>
            </a:pPr>
            <a:r>
              <a:rPr lang="en-US" sz="950" b="1" spc="150" kern="0" dirty="0">
                <a:solidFill>
                  <a:schemeClr val="accent4"/>
                </a:solidFill>
              </a:rPr>
              <a:t>WHAT CUTS AGAINST IT</a:t>
            </a:r>
            <a:endParaRPr lang="en-US" sz="950" dirty="0"/>
          </a:p>
        </p:txBody>
      </p:sp>
      <p:sp>
        <p:nvSpPr>
          <p:cNvPr id="15" name="Text 13"/>
          <p:cNvSpPr txBox="1"/>
          <p:nvPr/>
        </p:nvSpPr>
        <p:spPr>
          <a:xfrm>
            <a:off x="3154680" y="3630168"/>
            <a:ext cx="2583180" cy="914400"/>
          </a:xfrm>
          <a:prstGeom prst="rect">
            <a:avLst/>
          </a:prstGeom>
          <a:noFill/>
          <a:ln/>
        </p:spPr>
        <p:txBody>
          <a:bodyPr wrap="square" lIns="0" tIns="0" rIns="0" bIns="0" rtlCol="0" anchor="t"/>
          <a:lstStyle/>
          <a:p>
            <a:pPr indent="0" marL="0">
              <a:buNone/>
            </a:pPr>
            <a:r>
              <a:rPr lang="en-US" sz="1100" dirty="0">
                <a:solidFill>
                  <a:schemeClr val="tx1"/>
                </a:solidFill>
              </a:rPr>
              <a:t>P2 and P5 exported fine. Both had CS run their import for them.</a:t>
            </a:r>
            <a:endParaRPr lang="en-US" sz="1100" dirty="0"/>
          </a:p>
        </p:txBody>
      </p:sp>
      <p:sp>
        <p:nvSpPr>
          <p:cNvPr id="16" name="Text 14"/>
          <p:cNvSpPr txBox="1"/>
          <p:nvPr/>
        </p:nvSpPr>
        <p:spPr>
          <a:xfrm>
            <a:off x="6012180" y="3429000"/>
            <a:ext cx="2583180" cy="201168"/>
          </a:xfrm>
          <a:prstGeom prst="rect">
            <a:avLst/>
          </a:prstGeom>
          <a:noFill/>
          <a:ln/>
        </p:spPr>
        <p:txBody>
          <a:bodyPr wrap="square" lIns="0" tIns="0" rIns="0" bIns="0" rtlCol="0" anchor="ctr"/>
          <a:lstStyle/>
          <a:p>
            <a:pPr indent="0" marL="0">
              <a:buNone/>
            </a:pPr>
            <a:r>
              <a:rPr lang="en-US" sz="950" b="1" spc="150" kern="0" dirty="0">
                <a:solidFill>
                  <a:schemeClr val="accent4"/>
                </a:solidFill>
              </a:rPr>
              <a:t>WHAT IT MEANS</a:t>
            </a:r>
            <a:endParaRPr lang="en-US" sz="950" dirty="0"/>
          </a:p>
        </p:txBody>
      </p:sp>
      <p:sp>
        <p:nvSpPr>
          <p:cNvPr id="17" name="Text 15"/>
          <p:cNvSpPr txBox="1"/>
          <p:nvPr/>
        </p:nvSpPr>
        <p:spPr>
          <a:xfrm>
            <a:off x="6012180" y="3630168"/>
            <a:ext cx="2583180" cy="914400"/>
          </a:xfrm>
          <a:prstGeom prst="rect">
            <a:avLst/>
          </a:prstGeom>
          <a:noFill/>
          <a:ln/>
        </p:spPr>
        <p:txBody>
          <a:bodyPr wrap="square" lIns="0" tIns="0" rIns="0" bIns="0" rtlCol="0" anchor="t"/>
          <a:lstStyle/>
          <a:p>
            <a:pPr indent="0" marL="0">
              <a:buNone/>
            </a:pPr>
            <a:r>
              <a:rPr lang="en-US" sz="1100" dirty="0">
                <a:solidFill>
                  <a:schemeClr val="tx1"/>
                </a:solidFill>
              </a:rPr>
              <a:t>A new dialog wouldn’t have helped five of the six who abandoned. The fix is earlier in the journey, and belongs to a different team.</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046720" cy="274320"/>
          </a:xfrm>
          <a:prstGeom prst="rect">
            <a:avLst/>
          </a:prstGeom>
          <a:noFill/>
          <a:ln/>
        </p:spPr>
        <p:txBody>
          <a:bodyPr wrap="square" lIns="0" tIns="0" rIns="0" bIns="0" rtlCol="0" anchor="b"/>
          <a:lstStyle/>
          <a:p>
            <a:pPr indent="0" marL="0">
              <a:buNone/>
            </a:pPr>
            <a:r>
              <a:rPr lang="en-US" sz="1050" b="1" spc="200" kern="0" dirty="0">
                <a:solidFill>
                  <a:schemeClr val="accent4"/>
                </a:solidFill>
              </a:rPr>
              <a:t>FINDING 2 OF 5  ·  WEAK, BUT SERIOUS</a:t>
            </a:r>
            <a:endParaRPr lang="en-US" sz="1050" dirty="0"/>
          </a:p>
        </p:txBody>
      </p:sp>
      <p:sp>
        <p:nvSpPr>
          <p:cNvPr id="3" name="Text 0"/>
          <p:cNvSpPr/>
          <p:nvPr>
            <p:ph idx="101" type="title" hasCustomPrompt="1"/>
          </p:nvPr>
        </p:nvSpPr>
        <p:spPr>
          <a:xfrm>
            <a:off x="548640" y="640080"/>
            <a:ext cx="8046720" cy="548640"/>
          </a:xfrm>
          <a:prstGeom prst="rect">
            <a:avLst/>
          </a:prstGeom>
          <a:noFill/>
          <a:ln/>
        </p:spPr>
        <p:txBody>
          <a:bodyPr wrap="square" lIns="0" tIns="0" rIns="0" bIns="0" rtlCol="0" anchor="t">
            <a:normAutofit/>
          </a:bodyPr>
          <a:lstStyle/>
          <a:p>
            <a:pPr algn="l" indent="0" marL="0">
              <a:buNone/>
            </a:pPr>
            <a:r>
              <a:rPr lang="en-US" sz="2600" b="1" dirty="0">
                <a:solidFill>
                  <a:schemeClr val="tx2"/>
                </a:solidFill>
              </a:rPr>
              <a:t>Finance teams could not complete any export</a:t>
            </a:r>
            <a:endParaRPr lang="en-US" sz="2600" dirty="0"/>
          </a:p>
        </p:txBody>
      </p:sp>
      <p:sp>
        <p:nvSpPr>
          <p:cNvPr id="4" name="Shape 2"/>
          <p:cNvSpPr/>
          <p:nvPr/>
        </p:nvSpPr>
        <p:spPr>
          <a:xfrm>
            <a:off x="548640" y="1371600"/>
            <a:ext cx="2286000" cy="3108960"/>
          </a:xfrm>
          <a:prstGeom prst="roundRect">
            <a:avLst>
              <a:gd name="adj" fmla="val 4000"/>
            </a:avLst>
          </a:prstGeom>
          <a:solidFill>
            <a:schemeClr val="bg2"/>
          </a:solidFill>
          <a:ln w="12700">
            <a:solidFill>
              <a:schemeClr val="bg2"/>
            </a:solidFill>
            <a:prstDash val="solid"/>
          </a:ln>
        </p:spPr>
      </p:sp>
      <p:sp>
        <p:nvSpPr>
          <p:cNvPr id="5" name="Text 3"/>
          <p:cNvSpPr txBox="1"/>
          <p:nvPr/>
        </p:nvSpPr>
        <p:spPr>
          <a:xfrm>
            <a:off x="548640" y="1554480"/>
            <a:ext cx="2286000" cy="822960"/>
          </a:xfrm>
          <a:prstGeom prst="rect">
            <a:avLst/>
          </a:prstGeom>
          <a:noFill/>
          <a:ln/>
        </p:spPr>
        <p:txBody>
          <a:bodyPr wrap="square" lIns="0" tIns="0" rIns="0" bIns="0" rtlCol="0" anchor="ctr"/>
          <a:lstStyle/>
          <a:p>
            <a:pPr algn="ctr" indent="0" marL="0">
              <a:buNone/>
            </a:pPr>
            <a:r>
              <a:rPr lang="en-US" sz="4400" b="1" dirty="0">
                <a:solidFill>
                  <a:schemeClr val="accent3"/>
                </a:solidFill>
              </a:rPr>
              <a:t>2 of 8</a:t>
            </a:r>
            <a:endParaRPr lang="en-US" sz="4400" dirty="0"/>
          </a:p>
        </p:txBody>
      </p:sp>
      <p:sp>
        <p:nvSpPr>
          <p:cNvPr id="6" name="Text 4"/>
          <p:cNvSpPr txBox="1"/>
          <p:nvPr/>
        </p:nvSpPr>
        <p:spPr>
          <a:xfrm>
            <a:off x="731520" y="2423160"/>
            <a:ext cx="1920240" cy="1188720"/>
          </a:xfrm>
          <a:prstGeom prst="rect">
            <a:avLst/>
          </a:prstGeom>
          <a:noFill/>
          <a:ln/>
        </p:spPr>
        <p:txBody>
          <a:bodyPr wrap="square" lIns="0" tIns="0" rIns="0" bIns="0" rtlCol="0" anchor="t"/>
          <a:lstStyle/>
          <a:p>
            <a:pPr algn="ctr" indent="0" marL="0">
              <a:buNone/>
            </a:pPr>
            <a:r>
              <a:rPr lang="en-US" sz="1150" dirty="0">
                <a:solidFill>
                  <a:schemeClr val="tx1"/>
                </a:solidFill>
              </a:rPr>
              <a:t>both reconciling against an external finance system, gave up entirely</a:t>
            </a:r>
            <a:endParaRPr lang="en-US" sz="1150" dirty="0"/>
          </a:p>
        </p:txBody>
      </p:sp>
      <p:sp>
        <p:nvSpPr>
          <p:cNvPr id="7" name="Shape 5"/>
          <p:cNvSpPr/>
          <p:nvPr/>
        </p:nvSpPr>
        <p:spPr>
          <a:xfrm>
            <a:off x="777240" y="3840480"/>
            <a:ext cx="1828800" cy="384048"/>
          </a:xfrm>
          <a:prstGeom prst="roundRect">
            <a:avLst>
              <a:gd name="adj" fmla="val 50000"/>
            </a:avLst>
          </a:prstGeom>
          <a:solidFill>
            <a:schemeClr val="accent3"/>
          </a:solidFill>
          <a:ln w="12700">
            <a:solidFill>
              <a:schemeClr val="accent3"/>
            </a:solidFill>
            <a:prstDash val="solid"/>
          </a:ln>
        </p:spPr>
      </p:sp>
      <p:sp>
        <p:nvSpPr>
          <p:cNvPr id="8" name="Text 6"/>
          <p:cNvSpPr txBox="1"/>
          <p:nvPr/>
        </p:nvSpPr>
        <p:spPr>
          <a:xfrm>
            <a:off x="777240" y="3840480"/>
            <a:ext cx="1828800" cy="384048"/>
          </a:xfrm>
          <a:prstGeom prst="rect">
            <a:avLst/>
          </a:prstGeom>
          <a:noFill/>
          <a:ln/>
        </p:spPr>
        <p:txBody>
          <a:bodyPr wrap="square" lIns="0" tIns="0" rIns="0" bIns="0" rtlCol="0" anchor="ctr"/>
          <a:lstStyle/>
          <a:p>
            <a:pPr algn="ctr" indent="0" marL="0">
              <a:buNone/>
            </a:pPr>
            <a:r>
              <a:rPr lang="en-US" sz="1100" b="1" dirty="0">
                <a:solidFill>
                  <a:schemeClr val="bg1"/>
                </a:solidFill>
              </a:rPr>
              <a:t>Weak, but serious</a:t>
            </a:r>
            <a:endParaRPr lang="en-US" sz="1100" dirty="0"/>
          </a:p>
        </p:txBody>
      </p:sp>
      <p:sp>
        <p:nvSpPr>
          <p:cNvPr id="9" name="Text 7"/>
          <p:cNvSpPr txBox="1"/>
          <p:nvPr/>
        </p:nvSpPr>
        <p:spPr>
          <a:xfrm>
            <a:off x="3154680" y="1371600"/>
            <a:ext cx="5440680" cy="685800"/>
          </a:xfrm>
          <a:prstGeom prst="rect">
            <a:avLst/>
          </a:prstGeom>
          <a:noFill/>
          <a:ln/>
        </p:spPr>
        <p:txBody>
          <a:bodyPr wrap="square" lIns="0" tIns="0" rIns="0" bIns="0" rtlCol="0" anchor="t"/>
          <a:lstStyle/>
          <a:p>
            <a:pPr indent="0" marL="0">
              <a:buNone/>
            </a:pPr>
            <a:r>
              <a:rPr lang="en-US" sz="1400" dirty="0">
                <a:solidFill>
                  <a:schemeClr val="tx1"/>
                </a:solidFill>
              </a:rPr>
              <a:t>P5 and P7 need a fixed column order the export can’t produce. Both tried twice.</a:t>
            </a:r>
            <a:endParaRPr lang="en-US" sz="1400" dirty="0"/>
          </a:p>
        </p:txBody>
      </p:sp>
      <p:sp>
        <p:nvSpPr>
          <p:cNvPr id="10" name="Text 8"/>
          <p:cNvSpPr txBox="1"/>
          <p:nvPr/>
        </p:nvSpPr>
        <p:spPr>
          <a:xfrm>
            <a:off x="3154680" y="2011680"/>
            <a:ext cx="457200" cy="640080"/>
          </a:xfrm>
          <a:prstGeom prst="rect">
            <a:avLst/>
          </a:prstGeom>
          <a:noFill/>
          <a:ln/>
        </p:spPr>
        <p:txBody>
          <a:bodyPr wrap="square" lIns="0" tIns="0" rIns="0" bIns="0" rtlCol="0" anchor="t"/>
          <a:lstStyle/>
          <a:p>
            <a:pPr indent="0" marL="0">
              <a:buNone/>
            </a:pPr>
            <a:r>
              <a:rPr lang="en-US" sz="4400" b="1" dirty="0">
                <a:solidFill>
                  <a:schemeClr val="accent2"/>
                </a:solidFill>
              </a:rPr>
              <a:t>“</a:t>
            </a:r>
            <a:endParaRPr lang="en-US" sz="4400" dirty="0"/>
          </a:p>
        </p:txBody>
      </p:sp>
      <p:sp>
        <p:nvSpPr>
          <p:cNvPr id="11" name="Text 9"/>
          <p:cNvSpPr txBox="1"/>
          <p:nvPr/>
        </p:nvSpPr>
        <p:spPr>
          <a:xfrm>
            <a:off x="3611880" y="2103120"/>
            <a:ext cx="4983480" cy="640080"/>
          </a:xfrm>
          <a:prstGeom prst="rect">
            <a:avLst/>
          </a:prstGeom>
          <a:noFill/>
          <a:ln/>
        </p:spPr>
        <p:txBody>
          <a:bodyPr wrap="square" lIns="0" tIns="0" rIns="0" bIns="0" rtlCol="0" anchor="t"/>
          <a:lstStyle/>
          <a:p>
            <a:pPr indent="0" marL="0">
              <a:buNone/>
            </a:pPr>
            <a:r>
              <a:rPr lang="en-US" sz="1300" i="1" dirty="0">
                <a:solidFill>
                  <a:schemeClr val="tx2"/>
                </a:solidFill>
              </a:rPr>
              <a:t>“If the order’s wrong the reconciliation tool rejects the whole file.”</a:t>
            </a:r>
            <a:endParaRPr lang="en-US" sz="1300" dirty="0"/>
          </a:p>
          <a:p>
            <a:pPr indent="0" marL="0">
              <a:buNone/>
            </a:pPr>
            <a:r>
              <a:rPr lang="en-US" sz="1050" b="1" dirty="0">
                <a:solidFill>
                  <a:schemeClr val="accent4"/>
                </a:solidFill>
              </a:rPr>
              <a:t>P7</a:t>
            </a:r>
            <a:endParaRPr lang="en-US" sz="1300" dirty="0"/>
          </a:p>
        </p:txBody>
      </p:sp>
      <p:sp>
        <p:nvSpPr>
          <p:cNvPr id="12" name="Text 10"/>
          <p:cNvSpPr txBox="1"/>
          <p:nvPr/>
        </p:nvSpPr>
        <p:spPr>
          <a:xfrm>
            <a:off x="3154680" y="2788920"/>
            <a:ext cx="5440680" cy="201168"/>
          </a:xfrm>
          <a:prstGeom prst="rect">
            <a:avLst/>
          </a:prstGeom>
          <a:noFill/>
          <a:ln/>
        </p:spPr>
        <p:txBody>
          <a:bodyPr wrap="square" lIns="0" tIns="0" rIns="0" bIns="0" rtlCol="0" anchor="ctr"/>
          <a:lstStyle/>
          <a:p>
            <a:pPr indent="0" marL="0">
              <a:buNone/>
            </a:pPr>
            <a:r>
              <a:rPr lang="en-US" sz="950" b="1" spc="150" kern="0" dirty="0">
                <a:solidFill>
                  <a:schemeClr val="accent4"/>
                </a:solidFill>
              </a:rPr>
              <a:t>RECEIPTS</a:t>
            </a:r>
            <a:endParaRPr lang="en-US" sz="950" dirty="0"/>
          </a:p>
        </p:txBody>
      </p:sp>
      <p:sp>
        <p:nvSpPr>
          <p:cNvPr id="13" name="Text 11"/>
          <p:cNvSpPr txBox="1"/>
          <p:nvPr/>
        </p:nvSpPr>
        <p:spPr>
          <a:xfrm>
            <a:off x="3154680" y="2990088"/>
            <a:ext cx="5440680" cy="320040"/>
          </a:xfrm>
          <a:prstGeom prst="rect">
            <a:avLst/>
          </a:prstGeom>
          <a:noFill/>
          <a:ln/>
        </p:spPr>
        <p:txBody>
          <a:bodyPr wrap="square" lIns="0" tIns="0" rIns="0" bIns="0" rtlCol="0" anchor="t"/>
          <a:lstStyle/>
          <a:p>
            <a:pPr indent="0" marL="0">
              <a:buNone/>
            </a:pPr>
            <a:r>
              <a:rPr lang="en-US" sz="1050" dirty="0">
                <a:solidFill>
                  <a:schemeClr val="accent4"/>
                </a:solidFill>
              </a:rPr>
              <a:t>P5 18:05 · P7 22:10</a:t>
            </a:r>
            <a:endParaRPr lang="en-US" sz="1050" dirty="0"/>
          </a:p>
        </p:txBody>
      </p:sp>
      <p:sp>
        <p:nvSpPr>
          <p:cNvPr id="14" name="Text 12"/>
          <p:cNvSpPr txBox="1"/>
          <p:nvPr/>
        </p:nvSpPr>
        <p:spPr>
          <a:xfrm>
            <a:off x="3154680" y="3429000"/>
            <a:ext cx="2583180" cy="201168"/>
          </a:xfrm>
          <a:prstGeom prst="rect">
            <a:avLst/>
          </a:prstGeom>
          <a:noFill/>
          <a:ln/>
        </p:spPr>
        <p:txBody>
          <a:bodyPr wrap="square" lIns="0" tIns="0" rIns="0" bIns="0" rtlCol="0" anchor="ctr"/>
          <a:lstStyle/>
          <a:p>
            <a:pPr indent="0" marL="0">
              <a:buNone/>
            </a:pPr>
            <a:r>
              <a:rPr lang="en-US" sz="950" b="1" spc="150" kern="0" dirty="0">
                <a:solidFill>
                  <a:schemeClr val="accent4"/>
                </a:solidFill>
              </a:rPr>
              <a:t>WHAT CUTS AGAINST IT</a:t>
            </a:r>
            <a:endParaRPr lang="en-US" sz="950" dirty="0"/>
          </a:p>
        </p:txBody>
      </p:sp>
      <p:sp>
        <p:nvSpPr>
          <p:cNvPr id="15" name="Text 13"/>
          <p:cNvSpPr txBox="1"/>
          <p:nvPr/>
        </p:nvSpPr>
        <p:spPr>
          <a:xfrm>
            <a:off x="3154680" y="3630168"/>
            <a:ext cx="2583180" cy="914400"/>
          </a:xfrm>
          <a:prstGeom prst="rect">
            <a:avLst/>
          </a:prstGeom>
          <a:noFill/>
          <a:ln/>
        </p:spPr>
        <p:txBody>
          <a:bodyPr wrap="square" lIns="0" tIns="0" rIns="0" bIns="0" rtlCol="0" anchor="t"/>
          <a:lstStyle/>
          <a:p>
            <a:pPr indent="0" marL="0">
              <a:buNone/>
            </a:pPr>
            <a:r>
              <a:rPr lang="en-US" sz="1100" dirty="0">
                <a:solidFill>
                  <a:schemeClr val="tx1"/>
                </a:solidFill>
              </a:rPr>
              <a:t>The other six had no column-order need. This may be a segment problem, not a general one.</a:t>
            </a:r>
            <a:endParaRPr lang="en-US" sz="1100" dirty="0"/>
          </a:p>
        </p:txBody>
      </p:sp>
      <p:sp>
        <p:nvSpPr>
          <p:cNvPr id="16" name="Text 14"/>
          <p:cNvSpPr txBox="1"/>
          <p:nvPr/>
        </p:nvSpPr>
        <p:spPr>
          <a:xfrm>
            <a:off x="6012180" y="3429000"/>
            <a:ext cx="2583180" cy="201168"/>
          </a:xfrm>
          <a:prstGeom prst="rect">
            <a:avLst/>
          </a:prstGeom>
          <a:noFill/>
          <a:ln/>
        </p:spPr>
        <p:txBody>
          <a:bodyPr wrap="square" lIns="0" tIns="0" rIns="0" bIns="0" rtlCol="0" anchor="ctr"/>
          <a:lstStyle/>
          <a:p>
            <a:pPr indent="0" marL="0">
              <a:buNone/>
            </a:pPr>
            <a:r>
              <a:rPr lang="en-US" sz="950" b="1" spc="150" kern="0" dirty="0">
                <a:solidFill>
                  <a:schemeClr val="accent4"/>
                </a:solidFill>
              </a:rPr>
              <a:t>WHAT IT MEANS</a:t>
            </a:r>
            <a:endParaRPr lang="en-US" sz="950" dirty="0"/>
          </a:p>
        </p:txBody>
      </p:sp>
      <p:sp>
        <p:nvSpPr>
          <p:cNvPr id="17" name="Text 15"/>
          <p:cNvSpPr txBox="1"/>
          <p:nvPr/>
        </p:nvSpPr>
        <p:spPr>
          <a:xfrm>
            <a:off x="6012180" y="3630168"/>
            <a:ext cx="2583180" cy="914400"/>
          </a:xfrm>
          <a:prstGeom prst="rect">
            <a:avLst/>
          </a:prstGeom>
          <a:noFill/>
          <a:ln/>
        </p:spPr>
        <p:txBody>
          <a:bodyPr wrap="square" lIns="0" tIns="0" rIns="0" bIns="0" rtlCol="0" anchor="t"/>
          <a:lstStyle/>
          <a:p>
            <a:pPr indent="0" marL="0">
              <a:buNone/>
            </a:pPr>
            <a:r>
              <a:rPr lang="en-US" sz="1100" dirty="0">
                <a:solidFill>
                  <a:schemeClr val="tx1"/>
                </a:solidFill>
              </a:rPr>
              <a:t>A small group is fully blocked. Size it before deciding: Support can count the finance-team customers who’ve raised this.</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046720" cy="274320"/>
          </a:xfrm>
          <a:prstGeom prst="rect">
            <a:avLst/>
          </a:prstGeom>
          <a:noFill/>
          <a:ln/>
        </p:spPr>
        <p:txBody>
          <a:bodyPr wrap="square" lIns="0" tIns="0" rIns="0" bIns="0" rtlCol="0" anchor="b"/>
          <a:lstStyle/>
          <a:p>
            <a:pPr indent="0" marL="0">
              <a:buNone/>
            </a:pPr>
            <a:r>
              <a:rPr lang="en-US" sz="1050" b="1" spc="200" kern="0" dirty="0">
                <a:solidFill>
                  <a:schemeClr val="accent4"/>
                </a:solidFill>
              </a:rPr>
              <a:t>FINDING 3 OF 5  ·  STRONG</a:t>
            </a:r>
            <a:endParaRPr lang="en-US" sz="1050" dirty="0"/>
          </a:p>
        </p:txBody>
      </p:sp>
      <p:sp>
        <p:nvSpPr>
          <p:cNvPr id="3" name="Text 0"/>
          <p:cNvSpPr/>
          <p:nvPr>
            <p:ph idx="101" type="title" hasCustomPrompt="1"/>
          </p:nvPr>
        </p:nvSpPr>
        <p:spPr>
          <a:xfrm>
            <a:off x="548640" y="640080"/>
            <a:ext cx="8046720" cy="548640"/>
          </a:xfrm>
          <a:prstGeom prst="rect">
            <a:avLst/>
          </a:prstGeom>
          <a:noFill/>
          <a:ln/>
        </p:spPr>
        <p:txBody>
          <a:bodyPr wrap="square" lIns="0" tIns="0" rIns="0" bIns="0" rtlCol="0" anchor="t">
            <a:normAutofit/>
          </a:bodyPr>
          <a:lstStyle/>
          <a:p>
            <a:pPr algn="l" indent="0" marL="0">
              <a:buNone/>
            </a:pPr>
            <a:r>
              <a:rPr lang="en-US" sz="2600" b="1" dirty="0">
                <a:solidFill>
                  <a:schemeClr val="tx2"/>
                </a:solidFill>
              </a:rPr>
              <a:t>The workaround is email</a:t>
            </a:r>
            <a:endParaRPr lang="en-US" sz="2600" dirty="0"/>
          </a:p>
        </p:txBody>
      </p:sp>
      <p:sp>
        <p:nvSpPr>
          <p:cNvPr id="4" name="Shape 2"/>
          <p:cNvSpPr/>
          <p:nvPr/>
        </p:nvSpPr>
        <p:spPr>
          <a:xfrm>
            <a:off x="548640" y="1371600"/>
            <a:ext cx="2286000" cy="3108960"/>
          </a:xfrm>
          <a:prstGeom prst="roundRect">
            <a:avLst>
              <a:gd name="adj" fmla="val 4000"/>
            </a:avLst>
          </a:prstGeom>
          <a:solidFill>
            <a:schemeClr val="bg2"/>
          </a:solidFill>
          <a:ln w="12700">
            <a:solidFill>
              <a:schemeClr val="bg2"/>
            </a:solidFill>
            <a:prstDash val="solid"/>
          </a:ln>
        </p:spPr>
      </p:sp>
      <p:sp>
        <p:nvSpPr>
          <p:cNvPr id="5" name="Text 3"/>
          <p:cNvSpPr txBox="1"/>
          <p:nvPr/>
        </p:nvSpPr>
        <p:spPr>
          <a:xfrm>
            <a:off x="548640" y="1554480"/>
            <a:ext cx="2286000" cy="822960"/>
          </a:xfrm>
          <a:prstGeom prst="rect">
            <a:avLst/>
          </a:prstGeom>
          <a:noFill/>
          <a:ln/>
        </p:spPr>
        <p:txBody>
          <a:bodyPr wrap="square" lIns="0" tIns="0" rIns="0" bIns="0" rtlCol="0" anchor="ctr"/>
          <a:lstStyle/>
          <a:p>
            <a:pPr algn="ctr" indent="0" marL="0">
              <a:buNone/>
            </a:pPr>
            <a:r>
              <a:rPr lang="en-US" sz="4400" b="1" dirty="0">
                <a:solidFill>
                  <a:schemeClr val="accent1"/>
                </a:solidFill>
              </a:rPr>
              <a:t>6 of 8</a:t>
            </a:r>
            <a:endParaRPr lang="en-US" sz="4400" dirty="0"/>
          </a:p>
        </p:txBody>
      </p:sp>
      <p:sp>
        <p:nvSpPr>
          <p:cNvPr id="6" name="Text 4"/>
          <p:cNvSpPr txBox="1"/>
          <p:nvPr/>
        </p:nvSpPr>
        <p:spPr>
          <a:xfrm>
            <a:off x="731520" y="2423160"/>
            <a:ext cx="1920240" cy="1188720"/>
          </a:xfrm>
          <a:prstGeom prst="rect">
            <a:avLst/>
          </a:prstGeom>
          <a:noFill/>
          <a:ln/>
        </p:spPr>
        <p:txBody>
          <a:bodyPr wrap="square" lIns="0" tIns="0" rIns="0" bIns="0" rtlCol="0" anchor="t"/>
          <a:lstStyle/>
          <a:p>
            <a:pPr algn="ctr" indent="0" marL="0">
              <a:buNone/>
            </a:pPr>
            <a:r>
              <a:rPr lang="en-US" sz="1150" dirty="0">
                <a:solidFill>
                  <a:schemeClr val="tx1"/>
                </a:solidFill>
              </a:rPr>
              <a:t>had sent a raw file to a colleague to fix by hand</a:t>
            </a:r>
            <a:endParaRPr lang="en-US" sz="1150" dirty="0"/>
          </a:p>
        </p:txBody>
      </p:sp>
      <p:sp>
        <p:nvSpPr>
          <p:cNvPr id="7" name="Shape 5"/>
          <p:cNvSpPr/>
          <p:nvPr/>
        </p:nvSpPr>
        <p:spPr>
          <a:xfrm>
            <a:off x="777240" y="3840480"/>
            <a:ext cx="1828800" cy="384048"/>
          </a:xfrm>
          <a:prstGeom prst="roundRect">
            <a:avLst>
              <a:gd name="adj" fmla="val 50000"/>
            </a:avLst>
          </a:prstGeom>
          <a:solidFill>
            <a:schemeClr val="accent1"/>
          </a:solidFill>
          <a:ln w="12700">
            <a:solidFill>
              <a:schemeClr val="accent1"/>
            </a:solidFill>
            <a:prstDash val="solid"/>
          </a:ln>
        </p:spPr>
      </p:sp>
      <p:sp>
        <p:nvSpPr>
          <p:cNvPr id="8" name="Text 6"/>
          <p:cNvSpPr txBox="1"/>
          <p:nvPr/>
        </p:nvSpPr>
        <p:spPr>
          <a:xfrm>
            <a:off x="777240" y="3840480"/>
            <a:ext cx="1828800" cy="384048"/>
          </a:xfrm>
          <a:prstGeom prst="rect">
            <a:avLst/>
          </a:prstGeom>
          <a:noFill/>
          <a:ln/>
        </p:spPr>
        <p:txBody>
          <a:bodyPr wrap="square" lIns="0" tIns="0" rIns="0" bIns="0" rtlCol="0" anchor="ctr"/>
          <a:lstStyle/>
          <a:p>
            <a:pPr algn="ctr" indent="0" marL="0">
              <a:buNone/>
            </a:pPr>
            <a:r>
              <a:rPr lang="en-US" sz="1100" b="1" dirty="0">
                <a:solidFill>
                  <a:schemeClr val="bg1"/>
                </a:solidFill>
              </a:rPr>
              <a:t>Strong</a:t>
            </a:r>
            <a:endParaRPr lang="en-US" sz="1100" dirty="0"/>
          </a:p>
        </p:txBody>
      </p:sp>
      <p:sp>
        <p:nvSpPr>
          <p:cNvPr id="9" name="Text 7"/>
          <p:cNvSpPr txBox="1"/>
          <p:nvPr/>
        </p:nvSpPr>
        <p:spPr>
          <a:xfrm>
            <a:off x="3154680" y="1371600"/>
            <a:ext cx="5440680" cy="685800"/>
          </a:xfrm>
          <a:prstGeom prst="rect">
            <a:avLst/>
          </a:prstGeom>
          <a:noFill/>
          <a:ln/>
        </p:spPr>
        <p:txBody>
          <a:bodyPr wrap="square" lIns="0" tIns="0" rIns="0" bIns="0" rtlCol="0" anchor="t"/>
          <a:lstStyle/>
          <a:p>
            <a:pPr indent="0" marL="0">
              <a:buNone/>
            </a:pPr>
            <a:r>
              <a:rPr lang="en-US" sz="1400" dirty="0">
                <a:solidFill>
                  <a:schemeClr val="tx1"/>
                </a:solidFill>
              </a:rPr>
              <a:t>Described unprompted. The export funnel shows a completion; the real work then happens in email.</a:t>
            </a:r>
            <a:endParaRPr lang="en-US" sz="1400" dirty="0"/>
          </a:p>
        </p:txBody>
      </p:sp>
      <p:sp>
        <p:nvSpPr>
          <p:cNvPr id="10" name="Text 8"/>
          <p:cNvSpPr txBox="1"/>
          <p:nvPr/>
        </p:nvSpPr>
        <p:spPr>
          <a:xfrm>
            <a:off x="3154680" y="2011680"/>
            <a:ext cx="457200" cy="640080"/>
          </a:xfrm>
          <a:prstGeom prst="rect">
            <a:avLst/>
          </a:prstGeom>
          <a:noFill/>
          <a:ln/>
        </p:spPr>
        <p:txBody>
          <a:bodyPr wrap="square" lIns="0" tIns="0" rIns="0" bIns="0" rtlCol="0" anchor="t"/>
          <a:lstStyle/>
          <a:p>
            <a:pPr indent="0" marL="0">
              <a:buNone/>
            </a:pPr>
            <a:r>
              <a:rPr lang="en-US" sz="4400" b="1" dirty="0">
                <a:solidFill>
                  <a:schemeClr val="accent2"/>
                </a:solidFill>
              </a:rPr>
              <a:t>“</a:t>
            </a:r>
            <a:endParaRPr lang="en-US" sz="4400" dirty="0"/>
          </a:p>
        </p:txBody>
      </p:sp>
      <p:sp>
        <p:nvSpPr>
          <p:cNvPr id="11" name="Text 9"/>
          <p:cNvSpPr txBox="1"/>
          <p:nvPr/>
        </p:nvSpPr>
        <p:spPr>
          <a:xfrm>
            <a:off x="3611880" y="2103120"/>
            <a:ext cx="4983480" cy="640080"/>
          </a:xfrm>
          <a:prstGeom prst="rect">
            <a:avLst/>
          </a:prstGeom>
          <a:noFill/>
          <a:ln/>
        </p:spPr>
        <p:txBody>
          <a:bodyPr wrap="square" lIns="0" tIns="0" rIns="0" bIns="0" rtlCol="0" anchor="t"/>
          <a:lstStyle/>
          <a:p>
            <a:pPr indent="0" marL="0">
              <a:buNone/>
            </a:pPr>
            <a:r>
              <a:rPr lang="en-US" sz="1300" i="1" dirty="0">
                <a:solidFill>
                  <a:schemeClr val="tx2"/>
                </a:solidFill>
              </a:rPr>
              <a:t>“Sent the raw file to a colleague and asked them to fix it.”</a:t>
            </a:r>
            <a:endParaRPr lang="en-US" sz="1300" dirty="0"/>
          </a:p>
          <a:p>
            <a:pPr indent="0" marL="0">
              <a:buNone/>
            </a:pPr>
            <a:r>
              <a:rPr lang="en-US" sz="1050" b="1" dirty="0">
                <a:solidFill>
                  <a:schemeClr val="accent4"/>
                </a:solidFill>
              </a:rPr>
              <a:t>P1</a:t>
            </a:r>
            <a:endParaRPr lang="en-US" sz="1300" dirty="0"/>
          </a:p>
        </p:txBody>
      </p:sp>
      <p:sp>
        <p:nvSpPr>
          <p:cNvPr id="12" name="Text 10"/>
          <p:cNvSpPr txBox="1"/>
          <p:nvPr/>
        </p:nvSpPr>
        <p:spPr>
          <a:xfrm>
            <a:off x="3154680" y="2788920"/>
            <a:ext cx="5440680" cy="201168"/>
          </a:xfrm>
          <a:prstGeom prst="rect">
            <a:avLst/>
          </a:prstGeom>
          <a:noFill/>
          <a:ln/>
        </p:spPr>
        <p:txBody>
          <a:bodyPr wrap="square" lIns="0" tIns="0" rIns="0" bIns="0" rtlCol="0" anchor="ctr"/>
          <a:lstStyle/>
          <a:p>
            <a:pPr indent="0" marL="0">
              <a:buNone/>
            </a:pPr>
            <a:r>
              <a:rPr lang="en-US" sz="950" b="1" spc="150" kern="0" dirty="0">
                <a:solidFill>
                  <a:schemeClr val="accent4"/>
                </a:solidFill>
              </a:rPr>
              <a:t>RECEIPTS</a:t>
            </a:r>
            <a:endParaRPr lang="en-US" sz="950" dirty="0"/>
          </a:p>
        </p:txBody>
      </p:sp>
      <p:sp>
        <p:nvSpPr>
          <p:cNvPr id="13" name="Text 11"/>
          <p:cNvSpPr txBox="1"/>
          <p:nvPr/>
        </p:nvSpPr>
        <p:spPr>
          <a:xfrm>
            <a:off x="3154680" y="2990088"/>
            <a:ext cx="5440680" cy="320040"/>
          </a:xfrm>
          <a:prstGeom prst="rect">
            <a:avLst/>
          </a:prstGeom>
          <a:noFill/>
          <a:ln/>
        </p:spPr>
        <p:txBody>
          <a:bodyPr wrap="square" lIns="0" tIns="0" rIns="0" bIns="0" rtlCol="0" anchor="t"/>
          <a:lstStyle/>
          <a:p>
            <a:pPr indent="0" marL="0">
              <a:buNone/>
            </a:pPr>
            <a:r>
              <a:rPr lang="en-US" sz="1050" dirty="0">
                <a:solidFill>
                  <a:schemeClr val="accent4"/>
                </a:solidFill>
              </a:rPr>
              <a:t>P1 line 15 · P3 line 48 · P4 11:00 · P6 14:20 · P7 25:00 · P8 07:30</a:t>
            </a:r>
            <a:endParaRPr lang="en-US" sz="1050" dirty="0"/>
          </a:p>
        </p:txBody>
      </p:sp>
      <p:sp>
        <p:nvSpPr>
          <p:cNvPr id="14" name="Text 12"/>
          <p:cNvSpPr txBox="1"/>
          <p:nvPr/>
        </p:nvSpPr>
        <p:spPr>
          <a:xfrm>
            <a:off x="3154680" y="3429000"/>
            <a:ext cx="2583180" cy="201168"/>
          </a:xfrm>
          <a:prstGeom prst="rect">
            <a:avLst/>
          </a:prstGeom>
          <a:noFill/>
          <a:ln/>
        </p:spPr>
        <p:txBody>
          <a:bodyPr wrap="square" lIns="0" tIns="0" rIns="0" bIns="0" rtlCol="0" anchor="ctr"/>
          <a:lstStyle/>
          <a:p>
            <a:pPr indent="0" marL="0">
              <a:buNone/>
            </a:pPr>
            <a:r>
              <a:rPr lang="en-US" sz="950" b="1" spc="150" kern="0" dirty="0">
                <a:solidFill>
                  <a:schemeClr val="accent4"/>
                </a:solidFill>
              </a:rPr>
              <a:t>WHAT CUTS AGAINST IT</a:t>
            </a:r>
            <a:endParaRPr lang="en-US" sz="950" dirty="0"/>
          </a:p>
        </p:txBody>
      </p:sp>
      <p:sp>
        <p:nvSpPr>
          <p:cNvPr id="15" name="Text 13"/>
          <p:cNvSpPr txBox="1"/>
          <p:nvPr/>
        </p:nvSpPr>
        <p:spPr>
          <a:xfrm>
            <a:off x="3154680" y="3630168"/>
            <a:ext cx="2583180" cy="914400"/>
          </a:xfrm>
          <a:prstGeom prst="rect">
            <a:avLst/>
          </a:prstGeom>
          <a:noFill/>
          <a:ln/>
        </p:spPr>
        <p:txBody>
          <a:bodyPr wrap="square" lIns="0" tIns="0" rIns="0" bIns="0" rtlCol="0" anchor="t"/>
          <a:lstStyle/>
          <a:p>
            <a:pPr indent="0" marL="0">
              <a:buNone/>
            </a:pPr>
            <a:r>
              <a:rPr lang="en-US" sz="1100" dirty="0">
                <a:solidFill>
                  <a:schemeClr val="tx1"/>
                </a:solidFill>
              </a:rPr>
              <a:t>P2 and P5 reported no workaround; P2 exports rarely.</a:t>
            </a:r>
            <a:endParaRPr lang="en-US" sz="1100" dirty="0"/>
          </a:p>
        </p:txBody>
      </p:sp>
      <p:sp>
        <p:nvSpPr>
          <p:cNvPr id="16" name="Text 14"/>
          <p:cNvSpPr txBox="1"/>
          <p:nvPr/>
        </p:nvSpPr>
        <p:spPr>
          <a:xfrm>
            <a:off x="6012180" y="3429000"/>
            <a:ext cx="2583180" cy="201168"/>
          </a:xfrm>
          <a:prstGeom prst="rect">
            <a:avLst/>
          </a:prstGeom>
          <a:noFill/>
          <a:ln/>
        </p:spPr>
        <p:txBody>
          <a:bodyPr wrap="square" lIns="0" tIns="0" rIns="0" bIns="0" rtlCol="0" anchor="ctr"/>
          <a:lstStyle/>
          <a:p>
            <a:pPr indent="0" marL="0">
              <a:buNone/>
            </a:pPr>
            <a:r>
              <a:rPr lang="en-US" sz="950" b="1" spc="150" kern="0" dirty="0">
                <a:solidFill>
                  <a:schemeClr val="accent4"/>
                </a:solidFill>
              </a:rPr>
              <a:t>WHAT IT MEANS</a:t>
            </a:r>
            <a:endParaRPr lang="en-US" sz="950" dirty="0"/>
          </a:p>
        </p:txBody>
      </p:sp>
      <p:sp>
        <p:nvSpPr>
          <p:cNvPr id="17" name="Text 15"/>
          <p:cNvSpPr txBox="1"/>
          <p:nvPr/>
        </p:nvSpPr>
        <p:spPr>
          <a:xfrm>
            <a:off x="6012180" y="3630168"/>
            <a:ext cx="2583180" cy="914400"/>
          </a:xfrm>
          <a:prstGeom prst="rect">
            <a:avLst/>
          </a:prstGeom>
          <a:noFill/>
          <a:ln/>
        </p:spPr>
        <p:txBody>
          <a:bodyPr wrap="square" lIns="0" tIns="0" rIns="0" bIns="0" rtlCol="0" anchor="t"/>
          <a:lstStyle/>
          <a:p>
            <a:pPr indent="0" marL="0">
              <a:buNone/>
            </a:pPr>
            <a:r>
              <a:rPr lang="en-US" sz="1100" dirty="0">
                <a:solidFill>
                  <a:schemeClr val="tx1"/>
                </a:solidFill>
              </a:rPr>
              <a:t>The 212 tickets understate the problem. Most people route around it without telling us.</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046720" cy="274320"/>
          </a:xfrm>
          <a:prstGeom prst="rect">
            <a:avLst/>
          </a:prstGeom>
          <a:noFill/>
          <a:ln/>
        </p:spPr>
        <p:txBody>
          <a:bodyPr wrap="square" lIns="0" tIns="0" rIns="0" bIns="0" rtlCol="0" anchor="b"/>
          <a:lstStyle/>
          <a:p>
            <a:pPr indent="0" marL="0">
              <a:buNone/>
            </a:pPr>
            <a:r>
              <a:rPr lang="en-US" sz="1050" b="1" spc="200" kern="0" dirty="0">
                <a:solidFill>
                  <a:schemeClr val="accent4"/>
                </a:solidFill>
              </a:rPr>
              <a:t>FINDING 4 OF 5  ·  MODERATE</a:t>
            </a:r>
            <a:endParaRPr lang="en-US" sz="1050" dirty="0"/>
          </a:p>
        </p:txBody>
      </p:sp>
      <p:sp>
        <p:nvSpPr>
          <p:cNvPr id="3" name="Text 0"/>
          <p:cNvSpPr/>
          <p:nvPr>
            <p:ph idx="101" type="title" hasCustomPrompt="1"/>
          </p:nvPr>
        </p:nvSpPr>
        <p:spPr>
          <a:xfrm>
            <a:off x="548640" y="640080"/>
            <a:ext cx="8046720" cy="548640"/>
          </a:xfrm>
          <a:prstGeom prst="rect">
            <a:avLst/>
          </a:prstGeom>
          <a:noFill/>
          <a:ln/>
        </p:spPr>
        <p:txBody>
          <a:bodyPr wrap="square" lIns="0" tIns="0" rIns="0" bIns="0" rtlCol="0" anchor="t">
            <a:normAutofit/>
          </a:bodyPr>
          <a:lstStyle/>
          <a:p>
            <a:pPr algn="l" indent="0" marL="0">
              <a:buNone/>
            </a:pPr>
            <a:r>
              <a:rPr lang="en-US" sz="2600" b="1" dirty="0">
                <a:solidFill>
                  <a:schemeClr val="tx2"/>
                </a:solidFill>
              </a:rPr>
              <a:t>Nobody understood “Include hidden fields”</a:t>
            </a:r>
            <a:endParaRPr lang="en-US" sz="2600" dirty="0"/>
          </a:p>
        </p:txBody>
      </p:sp>
      <p:sp>
        <p:nvSpPr>
          <p:cNvPr id="4" name="Shape 2"/>
          <p:cNvSpPr/>
          <p:nvPr/>
        </p:nvSpPr>
        <p:spPr>
          <a:xfrm>
            <a:off x="548640" y="1371600"/>
            <a:ext cx="2286000" cy="3108960"/>
          </a:xfrm>
          <a:prstGeom prst="roundRect">
            <a:avLst>
              <a:gd name="adj" fmla="val 4000"/>
            </a:avLst>
          </a:prstGeom>
          <a:solidFill>
            <a:schemeClr val="bg2"/>
          </a:solidFill>
          <a:ln w="12700">
            <a:solidFill>
              <a:schemeClr val="bg2"/>
            </a:solidFill>
            <a:prstDash val="solid"/>
          </a:ln>
        </p:spPr>
      </p:sp>
      <p:sp>
        <p:nvSpPr>
          <p:cNvPr id="5" name="Text 3"/>
          <p:cNvSpPr txBox="1"/>
          <p:nvPr/>
        </p:nvSpPr>
        <p:spPr>
          <a:xfrm>
            <a:off x="548640" y="1554480"/>
            <a:ext cx="2286000" cy="822960"/>
          </a:xfrm>
          <a:prstGeom prst="rect">
            <a:avLst/>
          </a:prstGeom>
          <a:noFill/>
          <a:ln/>
        </p:spPr>
        <p:txBody>
          <a:bodyPr wrap="square" lIns="0" tIns="0" rIns="0" bIns="0" rtlCol="0" anchor="ctr"/>
          <a:lstStyle/>
          <a:p>
            <a:pPr algn="ctr" indent="0" marL="0">
              <a:buNone/>
            </a:pPr>
            <a:r>
              <a:rPr lang="en-US" sz="4400" b="1" dirty="0">
                <a:solidFill>
                  <a:schemeClr val="accent4"/>
                </a:solidFill>
              </a:rPr>
              <a:t>7 of 8</a:t>
            </a:r>
            <a:endParaRPr lang="en-US" sz="4400" dirty="0"/>
          </a:p>
        </p:txBody>
      </p:sp>
      <p:sp>
        <p:nvSpPr>
          <p:cNvPr id="6" name="Text 4"/>
          <p:cNvSpPr txBox="1"/>
          <p:nvPr/>
        </p:nvSpPr>
        <p:spPr>
          <a:xfrm>
            <a:off x="731520" y="2423160"/>
            <a:ext cx="1920240" cy="1188720"/>
          </a:xfrm>
          <a:prstGeom prst="rect">
            <a:avLst/>
          </a:prstGeom>
          <a:noFill/>
          <a:ln/>
        </p:spPr>
        <p:txBody>
          <a:bodyPr wrap="square" lIns="0" tIns="0" rIns="0" bIns="0" rtlCol="0" anchor="t"/>
          <a:lstStyle/>
          <a:p>
            <a:pPr algn="ctr" indent="0" marL="0">
              <a:buNone/>
            </a:pPr>
            <a:r>
              <a:rPr lang="en-US" sz="1150" dirty="0">
                <a:solidFill>
                  <a:schemeClr val="tx1"/>
                </a:solidFill>
              </a:rPr>
              <a:t>skipped the checkbox or guessed what it did</a:t>
            </a:r>
            <a:endParaRPr lang="en-US" sz="1150" dirty="0"/>
          </a:p>
        </p:txBody>
      </p:sp>
      <p:sp>
        <p:nvSpPr>
          <p:cNvPr id="7" name="Shape 5"/>
          <p:cNvSpPr/>
          <p:nvPr/>
        </p:nvSpPr>
        <p:spPr>
          <a:xfrm>
            <a:off x="777240" y="3840480"/>
            <a:ext cx="1828800" cy="384048"/>
          </a:xfrm>
          <a:prstGeom prst="roundRect">
            <a:avLst>
              <a:gd name="adj" fmla="val 50000"/>
            </a:avLst>
          </a:prstGeom>
          <a:solidFill>
            <a:schemeClr val="accent4"/>
          </a:solidFill>
          <a:ln w="12700">
            <a:solidFill>
              <a:schemeClr val="accent4"/>
            </a:solidFill>
            <a:prstDash val="solid"/>
          </a:ln>
        </p:spPr>
      </p:sp>
      <p:sp>
        <p:nvSpPr>
          <p:cNvPr id="8" name="Text 6"/>
          <p:cNvSpPr txBox="1"/>
          <p:nvPr/>
        </p:nvSpPr>
        <p:spPr>
          <a:xfrm>
            <a:off x="777240" y="3840480"/>
            <a:ext cx="1828800" cy="384048"/>
          </a:xfrm>
          <a:prstGeom prst="rect">
            <a:avLst/>
          </a:prstGeom>
          <a:noFill/>
          <a:ln/>
        </p:spPr>
        <p:txBody>
          <a:bodyPr wrap="square" lIns="0" tIns="0" rIns="0" bIns="0" rtlCol="0" anchor="ctr"/>
          <a:lstStyle/>
          <a:p>
            <a:pPr algn="ctr" indent="0" marL="0">
              <a:buNone/>
            </a:pPr>
            <a:r>
              <a:rPr lang="en-US" sz="1100" b="1" dirty="0">
                <a:solidFill>
                  <a:schemeClr val="bg1"/>
                </a:solidFill>
              </a:rPr>
              <a:t>Moderate</a:t>
            </a:r>
            <a:endParaRPr lang="en-US" sz="1100" dirty="0"/>
          </a:p>
        </p:txBody>
      </p:sp>
      <p:sp>
        <p:nvSpPr>
          <p:cNvPr id="9" name="Text 7"/>
          <p:cNvSpPr txBox="1"/>
          <p:nvPr/>
        </p:nvSpPr>
        <p:spPr>
          <a:xfrm>
            <a:off x="3154680" y="1371600"/>
            <a:ext cx="5440680" cy="685800"/>
          </a:xfrm>
          <a:prstGeom prst="rect">
            <a:avLst/>
          </a:prstGeom>
          <a:noFill/>
          <a:ln/>
        </p:spPr>
        <p:txBody>
          <a:bodyPr wrap="square" lIns="0" tIns="0" rIns="0" bIns="0" rtlCol="0" anchor="t"/>
          <a:lstStyle/>
          <a:p>
            <a:pPr indent="0" marL="0">
              <a:buNone/>
            </a:pPr>
            <a:r>
              <a:rPr lang="en-US" sz="1400" dirty="0">
                <a:solidFill>
                  <a:schemeClr val="tx1"/>
                </a:solidFill>
              </a:rPr>
              <a:t>Nobody could say what a hidden field was. We didn’t test alternative labels.</a:t>
            </a:r>
            <a:endParaRPr lang="en-US" sz="1400" dirty="0"/>
          </a:p>
        </p:txBody>
      </p:sp>
      <p:sp>
        <p:nvSpPr>
          <p:cNvPr id="10" name="Text 8"/>
          <p:cNvSpPr txBox="1"/>
          <p:nvPr/>
        </p:nvSpPr>
        <p:spPr>
          <a:xfrm>
            <a:off x="3154680" y="2011680"/>
            <a:ext cx="457200" cy="640080"/>
          </a:xfrm>
          <a:prstGeom prst="rect">
            <a:avLst/>
          </a:prstGeom>
          <a:noFill/>
          <a:ln/>
        </p:spPr>
        <p:txBody>
          <a:bodyPr wrap="square" lIns="0" tIns="0" rIns="0" bIns="0" rtlCol="0" anchor="t"/>
          <a:lstStyle/>
          <a:p>
            <a:pPr indent="0" marL="0">
              <a:buNone/>
            </a:pPr>
            <a:r>
              <a:rPr lang="en-US" sz="4400" b="1" dirty="0">
                <a:solidFill>
                  <a:schemeClr val="accent2"/>
                </a:solidFill>
              </a:rPr>
              <a:t>“</a:t>
            </a:r>
            <a:endParaRPr lang="en-US" sz="4400" dirty="0"/>
          </a:p>
        </p:txBody>
      </p:sp>
      <p:sp>
        <p:nvSpPr>
          <p:cNvPr id="11" name="Text 9"/>
          <p:cNvSpPr txBox="1"/>
          <p:nvPr/>
        </p:nvSpPr>
        <p:spPr>
          <a:xfrm>
            <a:off x="3611880" y="2103120"/>
            <a:ext cx="4983480" cy="640080"/>
          </a:xfrm>
          <a:prstGeom prst="rect">
            <a:avLst/>
          </a:prstGeom>
          <a:noFill/>
          <a:ln/>
        </p:spPr>
        <p:txBody>
          <a:bodyPr wrap="square" lIns="0" tIns="0" rIns="0" bIns="0" rtlCol="0" anchor="t"/>
          <a:lstStyle/>
          <a:p>
            <a:pPr indent="0" marL="0">
              <a:buNone/>
            </a:pPr>
            <a:r>
              <a:rPr lang="en-US" sz="1300" i="1" dirty="0">
                <a:solidFill>
                  <a:schemeClr val="tx2"/>
                </a:solidFill>
              </a:rPr>
              <a:t>“Hidden from who?”</a:t>
            </a:r>
            <a:endParaRPr lang="en-US" sz="1300" dirty="0"/>
          </a:p>
          <a:p>
            <a:pPr indent="0" marL="0">
              <a:buNone/>
            </a:pPr>
            <a:r>
              <a:rPr lang="en-US" sz="1050" b="1" dirty="0">
                <a:solidFill>
                  <a:schemeClr val="accent4"/>
                </a:solidFill>
              </a:rPr>
              <a:t>P4</a:t>
            </a:r>
            <a:endParaRPr lang="en-US" sz="1300" dirty="0"/>
          </a:p>
        </p:txBody>
      </p:sp>
      <p:sp>
        <p:nvSpPr>
          <p:cNvPr id="12" name="Text 10"/>
          <p:cNvSpPr txBox="1"/>
          <p:nvPr/>
        </p:nvSpPr>
        <p:spPr>
          <a:xfrm>
            <a:off x="3154680" y="2788920"/>
            <a:ext cx="5440680" cy="201168"/>
          </a:xfrm>
          <a:prstGeom prst="rect">
            <a:avLst/>
          </a:prstGeom>
          <a:noFill/>
          <a:ln/>
        </p:spPr>
        <p:txBody>
          <a:bodyPr wrap="square" lIns="0" tIns="0" rIns="0" bIns="0" rtlCol="0" anchor="ctr"/>
          <a:lstStyle/>
          <a:p>
            <a:pPr indent="0" marL="0">
              <a:buNone/>
            </a:pPr>
            <a:r>
              <a:rPr lang="en-US" sz="950" b="1" spc="150" kern="0" dirty="0">
                <a:solidFill>
                  <a:schemeClr val="accent4"/>
                </a:solidFill>
              </a:rPr>
              <a:t>RECEIPTS</a:t>
            </a:r>
            <a:endParaRPr lang="en-US" sz="950" dirty="0"/>
          </a:p>
        </p:txBody>
      </p:sp>
      <p:sp>
        <p:nvSpPr>
          <p:cNvPr id="13" name="Text 11"/>
          <p:cNvSpPr txBox="1"/>
          <p:nvPr/>
        </p:nvSpPr>
        <p:spPr>
          <a:xfrm>
            <a:off x="3154680" y="2990088"/>
            <a:ext cx="5440680" cy="320040"/>
          </a:xfrm>
          <a:prstGeom prst="rect">
            <a:avLst/>
          </a:prstGeom>
          <a:noFill/>
          <a:ln/>
        </p:spPr>
        <p:txBody>
          <a:bodyPr wrap="square" lIns="0" tIns="0" rIns="0" bIns="0" rtlCol="0" anchor="t"/>
          <a:lstStyle/>
          <a:p>
            <a:pPr indent="0" marL="0">
              <a:buNone/>
            </a:pPr>
            <a:r>
              <a:rPr lang="en-US" sz="1050" dirty="0">
                <a:solidFill>
                  <a:schemeClr val="accent4"/>
                </a:solidFill>
              </a:rPr>
              <a:t>P1 line 30 · P2 line 22 · P3 line 55 · P4 09:30 · P5 16:00 · P6 15:10 · P7 27:40</a:t>
            </a:r>
            <a:endParaRPr lang="en-US" sz="1050" dirty="0"/>
          </a:p>
        </p:txBody>
      </p:sp>
      <p:sp>
        <p:nvSpPr>
          <p:cNvPr id="14" name="Text 12"/>
          <p:cNvSpPr txBox="1"/>
          <p:nvPr/>
        </p:nvSpPr>
        <p:spPr>
          <a:xfrm>
            <a:off x="3154680" y="3429000"/>
            <a:ext cx="2583180" cy="201168"/>
          </a:xfrm>
          <a:prstGeom prst="rect">
            <a:avLst/>
          </a:prstGeom>
          <a:noFill/>
          <a:ln/>
        </p:spPr>
        <p:txBody>
          <a:bodyPr wrap="square" lIns="0" tIns="0" rIns="0" bIns="0" rtlCol="0" anchor="ctr"/>
          <a:lstStyle/>
          <a:p>
            <a:pPr indent="0" marL="0">
              <a:buNone/>
            </a:pPr>
            <a:r>
              <a:rPr lang="en-US" sz="950" b="1" spc="150" kern="0" dirty="0">
                <a:solidFill>
                  <a:schemeClr val="accent4"/>
                </a:solidFill>
              </a:rPr>
              <a:t>WHAT CUTS AGAINST IT</a:t>
            </a:r>
            <a:endParaRPr lang="en-US" sz="950" dirty="0"/>
          </a:p>
        </p:txBody>
      </p:sp>
      <p:sp>
        <p:nvSpPr>
          <p:cNvPr id="15" name="Text 13"/>
          <p:cNvSpPr txBox="1"/>
          <p:nvPr/>
        </p:nvSpPr>
        <p:spPr>
          <a:xfrm>
            <a:off x="3154680" y="3630168"/>
            <a:ext cx="2583180" cy="914400"/>
          </a:xfrm>
          <a:prstGeom prst="rect">
            <a:avLst/>
          </a:prstGeom>
          <a:noFill/>
          <a:ln/>
        </p:spPr>
        <p:txBody>
          <a:bodyPr wrap="square" lIns="0" tIns="0" rIns="0" bIns="0" rtlCol="0" anchor="t"/>
          <a:lstStyle/>
          <a:p>
            <a:pPr indent="0" marL="0">
              <a:buNone/>
            </a:pPr>
            <a:r>
              <a:rPr lang="en-US" sz="1100" dirty="0">
                <a:solidFill>
                  <a:schemeClr val="tx1"/>
                </a:solidFill>
              </a:rPr>
              <a:t>P8 used it correctly, having read the help article.</a:t>
            </a:r>
            <a:endParaRPr lang="en-US" sz="1100" dirty="0"/>
          </a:p>
        </p:txBody>
      </p:sp>
      <p:sp>
        <p:nvSpPr>
          <p:cNvPr id="16" name="Text 14"/>
          <p:cNvSpPr txBox="1"/>
          <p:nvPr/>
        </p:nvSpPr>
        <p:spPr>
          <a:xfrm>
            <a:off x="6012180" y="3429000"/>
            <a:ext cx="2583180" cy="201168"/>
          </a:xfrm>
          <a:prstGeom prst="rect">
            <a:avLst/>
          </a:prstGeom>
          <a:noFill/>
          <a:ln/>
        </p:spPr>
        <p:txBody>
          <a:bodyPr wrap="square" lIns="0" tIns="0" rIns="0" bIns="0" rtlCol="0" anchor="ctr"/>
          <a:lstStyle/>
          <a:p>
            <a:pPr indent="0" marL="0">
              <a:buNone/>
            </a:pPr>
            <a:r>
              <a:rPr lang="en-US" sz="950" b="1" spc="150" kern="0" dirty="0">
                <a:solidFill>
                  <a:schemeClr val="accent4"/>
                </a:solidFill>
              </a:rPr>
              <a:t>WHAT IT MEANS</a:t>
            </a:r>
            <a:endParaRPr lang="en-US" sz="950" dirty="0"/>
          </a:p>
        </p:txBody>
      </p:sp>
      <p:sp>
        <p:nvSpPr>
          <p:cNvPr id="17" name="Text 15"/>
          <p:cNvSpPr txBox="1"/>
          <p:nvPr/>
        </p:nvSpPr>
        <p:spPr>
          <a:xfrm>
            <a:off x="6012180" y="3630168"/>
            <a:ext cx="2583180" cy="914400"/>
          </a:xfrm>
          <a:prstGeom prst="rect">
            <a:avLst/>
          </a:prstGeom>
          <a:noFill/>
          <a:ln/>
        </p:spPr>
        <p:txBody>
          <a:bodyPr wrap="square" lIns="0" tIns="0" rIns="0" bIns="0" rtlCol="0" anchor="t"/>
          <a:lstStyle/>
          <a:p>
            <a:pPr indent="0" marL="0">
              <a:buNone/>
            </a:pPr>
            <a:r>
              <a:rPr lang="en-US" sz="1100" dirty="0">
                <a:solidFill>
                  <a:schemeClr val="tx1"/>
                </a:solidFill>
              </a:rPr>
              <a:t>A cheap labelling fix inside the dialog. Not why people abandon, but free.</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1371600"/>
            <a:ext cx="8046720" cy="274320"/>
          </a:xfrm>
          <a:prstGeom prst="rect">
            <a:avLst/>
          </a:prstGeom>
          <a:noFill/>
          <a:ln/>
        </p:spPr>
        <p:txBody>
          <a:bodyPr wrap="square" lIns="0" tIns="0" rIns="0" bIns="0" rtlCol="0" anchor="b"/>
          <a:lstStyle/>
          <a:p>
            <a:pPr indent="0" marL="0">
              <a:buNone/>
            </a:pPr>
            <a:r>
              <a:rPr lang="en-US" sz="1050" b="1" spc="200" kern="0" dirty="0">
                <a:solidFill>
                  <a:schemeClr val="accent2"/>
                </a:solidFill>
              </a:rPr>
              <a:t>SUMMARY</a:t>
            </a:r>
            <a:endParaRPr lang="en-US" sz="1050" dirty="0"/>
          </a:p>
        </p:txBody>
      </p:sp>
      <p:sp>
        <p:nvSpPr>
          <p:cNvPr id="3" name="Text 0"/>
          <p:cNvSpPr/>
          <p:nvPr>
            <p:ph idx="101" type="title" hasCustomPrompt="1"/>
          </p:nvPr>
        </p:nvSpPr>
        <p:spPr>
          <a:xfrm>
            <a:off x="548640" y="1691640"/>
            <a:ext cx="8046720" cy="1188720"/>
          </a:xfrm>
          <a:prstGeom prst="rect">
            <a:avLst/>
          </a:prstGeom>
          <a:noFill/>
          <a:ln/>
        </p:spPr>
        <p:txBody>
          <a:bodyPr wrap="square" lIns="0" tIns="0" rIns="0" bIns="0" rtlCol="0" anchor="t"/>
          <a:lstStyle/>
          <a:p>
            <a:pPr algn="l" indent="0" marL="0">
              <a:buNone/>
            </a:pPr>
            <a:r>
              <a:rPr lang="en-US" sz="3400" b="1" dirty="0">
                <a:solidFill>
                  <a:schemeClr val="bg1"/>
                </a:solidFill>
              </a:rPr>
              <a:t>Fix import before touching the dialog</a:t>
            </a:r>
            <a:endParaRPr lang="en-US" sz="3400" dirty="0"/>
          </a:p>
        </p:txBody>
      </p:sp>
      <p:sp>
        <p:nvSpPr>
          <p:cNvPr id="4" name="Text 0"/>
          <p:cNvSpPr/>
          <p:nvPr>
            <p:ph idx="102" type="body" hasCustomPrompt="1"/>
          </p:nvPr>
        </p:nvSpPr>
        <p:spPr>
          <a:xfrm>
            <a:off x="548640" y="2971800"/>
            <a:ext cx="8046720" cy="1463040"/>
          </a:xfrm>
          <a:prstGeom prst="rect">
            <a:avLst/>
          </a:prstGeom>
          <a:noFill/>
          <a:ln/>
        </p:spPr>
        <p:txBody>
          <a:bodyPr wrap="square" lIns="0" tIns="0" rIns="0" bIns="0" rtlCol="0" anchor="t"/>
          <a:lstStyle/>
          <a:p>
            <a:pPr indent="0" marL="0">
              <a:spcAft>
                <a:spcPts val="600"/>
              </a:spcAft>
              <a:buNone/>
            </a:pPr>
            <a:r>
              <a:rPr lang="en-US" sz="1600" dirty="0">
                <a:solidFill>
                  <a:schemeClr val="bg2"/>
                </a:solidFill>
              </a:rPr>
              <a:t>We asked why people abandon export. Mostly they don’t fail at export; they fail at import and only notice at export.</a:t>
            </a:r>
            <a:endParaRPr lang="en-US" sz="1600" dirty="0"/>
          </a:p>
          <a:p>
            <a:pPr indent="0" marL="0">
              <a:spcAft>
                <a:spcPts val="600"/>
              </a:spcAft>
              <a:buNone/>
            </a:pPr>
            <a:r>
              <a:rPr lang="en-US" sz="1600" dirty="0">
                <a:solidFill>
                  <a:schemeClr val="bg2"/>
                </a:solidFill>
              </a:rPr>
              <a:t>A separate, smaller group is fully blocked by column order.</a:t>
            </a:r>
            <a:endParaRPr lang="en-US" sz="1600" dirty="0"/>
          </a:p>
          <a:p>
            <a:pPr indent="0" marL="0">
              <a:buNone/>
            </a:pPr>
            <a:r>
              <a:rPr lang="en-US" sz="1600" dirty="0">
                <a:solidFill>
                  <a:schemeClr val="bg2"/>
                </a:solidFill>
              </a:rPr>
              <a:t>Confidence is moderate overall: eight sessions, one segment over-represented.</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046720" cy="274320"/>
          </a:xfrm>
          <a:prstGeom prst="rect">
            <a:avLst/>
          </a:prstGeom>
          <a:noFill/>
          <a:ln/>
        </p:spPr>
        <p:txBody>
          <a:bodyPr wrap="square" lIns="0" tIns="0" rIns="0" bIns="0" rtlCol="0" anchor="b"/>
          <a:lstStyle/>
          <a:p>
            <a:pPr indent="0" marL="0">
              <a:buNone/>
            </a:pPr>
            <a:r>
              <a:rPr lang="en-US" sz="1050" b="1" spc="200" kern="0" dirty="0">
                <a:solidFill>
                  <a:schemeClr val="accent4"/>
                </a:solidFill>
              </a:rPr>
              <a:t>WHAT TO DO</a:t>
            </a:r>
            <a:endParaRPr lang="en-US" sz="1050" dirty="0"/>
          </a:p>
        </p:txBody>
      </p:sp>
      <p:sp>
        <p:nvSpPr>
          <p:cNvPr id="3" name="Text 0"/>
          <p:cNvSpPr/>
          <p:nvPr>
            <p:ph idx="101" type="title" hasCustomPrompt="1"/>
          </p:nvPr>
        </p:nvSpPr>
        <p:spPr>
          <a:xfrm>
            <a:off x="548640" y="640080"/>
            <a:ext cx="8046720" cy="548640"/>
          </a:xfrm>
          <a:prstGeom prst="rect">
            <a:avLst/>
          </a:prstGeom>
          <a:noFill/>
          <a:ln/>
        </p:spPr>
        <p:txBody>
          <a:bodyPr wrap="square" lIns="0" tIns="0" rIns="0" bIns="0" rtlCol="0" anchor="t">
            <a:normAutofit/>
          </a:bodyPr>
          <a:lstStyle/>
          <a:p>
            <a:pPr algn="l" indent="0" marL="0">
              <a:buNone/>
            </a:pPr>
            <a:r>
              <a:rPr lang="en-US" sz="2600" b="1" dirty="0">
                <a:solidFill>
                  <a:schemeClr val="tx2"/>
                </a:solidFill>
              </a:rPr>
              <a:t>Recommendations</a:t>
            </a:r>
            <a:endParaRPr lang="en-US" sz="2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8046720" cy="914400"/>
        </p:xfrm>
        <a:graphic>
          <a:graphicData uri="http://schemas.openxmlformats.org/drawingml/2006/table">
            <a:tbl>
              <a:tblPr/>
              <a:tblGrid>
                <a:gridCol w="411480"/>
                <a:gridCol w="3520440"/>
                <a:gridCol w="1554480"/>
                <a:gridCol w="1005840"/>
                <a:gridCol w="1554480"/>
              </a:tblGrid>
              <a:tr h="0">
                <a:tc>
                  <a:txBody>
                    <a:bodyPr/>
                    <a:lstStyle/>
                    <a:p>
                      <a:pPr indent="0" marL="0">
                        <a:buNone/>
                      </a:pPr>
                      <a:r>
                        <a:rPr lang="en-US" sz="1100" b="1" spc="100" kern="0" dirty="0">
                          <a:solidFill>
                            <a:schemeClr val="bg1"/>
                          </a:solidFill>
                        </a:rPr>
                        <a:t>#</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100" b="1" spc="100" kern="0" dirty="0">
                          <a:solidFill>
                            <a:schemeClr val="bg1"/>
                          </a:solidFill>
                        </a:rPr>
                        <a:t>Action</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100" b="1" spc="100" kern="0" dirty="0">
                          <a:solidFill>
                            <a:schemeClr val="bg1"/>
                          </a:solidFill>
                        </a:rPr>
                        <a:t>Owner</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100" b="1" spc="100" kern="0" dirty="0">
                          <a:solidFill>
                            <a:schemeClr val="bg1"/>
                          </a:solidFill>
                        </a:rPr>
                        <a:t>Rests on</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100" b="1" spc="100" kern="0" dirty="0">
                          <a:solidFill>
                            <a:schemeClr val="bg1"/>
                          </a:solidFill>
                        </a:rPr>
                        <a:t>Moves</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chemeClr val="tx2"/>
                    </a:solidFill>
                  </a:tcPr>
                </a:tc>
              </a:tr>
              <a:tr h="0">
                <a:tc>
                  <a:txBody>
                    <a:bodyPr/>
                    <a:lstStyle/>
                    <a:p>
                      <a:pPr algn="ctr" indent="0" marL="0">
                        <a:buNone/>
                      </a:pPr>
                      <a:r>
                        <a:rPr lang="en-US" sz="1200" b="1" dirty="0">
                          <a:solidFill>
                            <a:schemeClr val="tx2"/>
                          </a:solidFill>
                        </a:rPr>
                        <a:t>1</a:t>
                      </a:r>
                      <a:endParaRPr lang="en-US" sz="12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chemeClr val="tx1"/>
                          </a:solidFill>
                        </a:rPr>
                        <a:t>Add a column-mapping check at import that warns when saved reports use unmapped columns</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chemeClr val="tx1"/>
                          </a:solidFill>
                        </a:rPr>
                        <a:t>Data Pipeline (Lena)</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chemeClr val="tx1"/>
                          </a:solidFill>
                        </a:rPr>
                        <a:t>Finding 1</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chemeClr val="tx1"/>
                          </a:solidFill>
                        </a:rPr>
                        <a:t>Weekly active sharers; export tickets</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FFFFFF"/>
                    </a:solidFill>
                  </a:tcPr>
                </a:tc>
              </a:tr>
              <a:tr h="0">
                <a:tc>
                  <a:txBody>
                    <a:bodyPr/>
                    <a:lstStyle/>
                    <a:p>
                      <a:pPr algn="ctr" indent="0" marL="0">
                        <a:buNone/>
                      </a:pPr>
                      <a:r>
                        <a:rPr lang="en-US" sz="1200" b="1" dirty="0">
                          <a:solidFill>
                            <a:schemeClr val="tx2"/>
                          </a:solidFill>
                        </a:rPr>
                        <a:t>2</a:t>
                      </a:r>
                      <a:endParaRPr lang="en-US" sz="12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EEF3EC"/>
                    </a:solidFill>
                  </a:tcPr>
                </a:tc>
                <a:tc>
                  <a:txBody>
                    <a:bodyPr/>
                    <a:lstStyle/>
                    <a:p>
                      <a:pPr indent="0" marL="0">
                        <a:buNone/>
                      </a:pPr>
                      <a:r>
                        <a:rPr lang="en-US" sz="1100" b="1" dirty="0">
                          <a:solidFill>
                            <a:schemeClr val="tx1"/>
                          </a:solidFill>
                        </a:rPr>
                        <a:t>Defer the dialog rebuild until the import check ships and is measured</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EEF3EC"/>
                    </a:solidFill>
                  </a:tcPr>
                </a:tc>
                <a:tc>
                  <a:txBody>
                    <a:bodyPr/>
                    <a:lstStyle/>
                    <a:p>
                      <a:pPr indent="0" marL="0">
                        <a:buNone/>
                      </a:pPr>
                      <a:r>
                        <a:rPr lang="en-US" sz="1100" dirty="0">
                          <a:solidFill>
                            <a:schemeClr val="tx1"/>
                          </a:solidFill>
                        </a:rPr>
                        <a:t>Sam</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EEF3EC"/>
                    </a:solidFill>
                  </a:tcPr>
                </a:tc>
                <a:tc>
                  <a:txBody>
                    <a:bodyPr/>
                    <a:lstStyle/>
                    <a:p>
                      <a:pPr indent="0" marL="0">
                        <a:buNone/>
                      </a:pPr>
                      <a:r>
                        <a:rPr lang="en-US" sz="1100" dirty="0">
                          <a:solidFill>
                            <a:schemeClr val="tx1"/>
                          </a:solidFill>
                        </a:rPr>
                        <a:t>Findings 1, 3</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EEF3EC"/>
                    </a:solidFill>
                  </a:tcPr>
                </a:tc>
                <a:tc>
                  <a:txBody>
                    <a:bodyPr/>
                    <a:lstStyle/>
                    <a:p>
                      <a:pPr indent="0" marL="0">
                        <a:buNone/>
                      </a:pPr>
                      <a:r>
                        <a:rPr lang="en-US" sz="1100" dirty="0">
                          <a:solidFill>
                            <a:schemeClr val="tx1"/>
                          </a:solidFill>
                        </a:rPr>
                        <a:t>Q1 capacity</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EEF3EC"/>
                    </a:solidFill>
                  </a:tcPr>
                </a:tc>
              </a:tr>
              <a:tr h="0">
                <a:tc>
                  <a:txBody>
                    <a:bodyPr/>
                    <a:lstStyle/>
                    <a:p>
                      <a:pPr algn="ctr" indent="0" marL="0">
                        <a:buNone/>
                      </a:pPr>
                      <a:r>
                        <a:rPr lang="en-US" sz="1200" b="1" dirty="0">
                          <a:solidFill>
                            <a:schemeClr val="tx2"/>
                          </a:solidFill>
                        </a:rPr>
                        <a:t>3</a:t>
                      </a:r>
                      <a:endParaRPr lang="en-US" sz="12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chemeClr val="tx1"/>
                          </a:solidFill>
                        </a:rPr>
                        <a:t>Count finance-team customers who need a fixed column order</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chemeClr val="tx1"/>
                          </a:solidFill>
                        </a:rPr>
                        <a:t>Support (Marco) with CS</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chemeClr val="tx1"/>
                          </a:solidFill>
                        </a:rPr>
                        <a:t>Finding 2</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chemeClr val="tx1"/>
                          </a:solidFill>
                        </a:rPr>
                        <a:t>Whether column order is Q1 or later</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FFFFFF"/>
                    </a:solidFill>
                  </a:tcPr>
                </a:tc>
              </a:tr>
              <a:tr h="0">
                <a:tc>
                  <a:txBody>
                    <a:bodyPr/>
                    <a:lstStyle/>
                    <a:p>
                      <a:pPr algn="ctr" indent="0" marL="0">
                        <a:buNone/>
                      </a:pPr>
                      <a:r>
                        <a:rPr lang="en-US" sz="1200" b="1" dirty="0">
                          <a:solidFill>
                            <a:schemeClr val="tx2"/>
                          </a:solidFill>
                        </a:rPr>
                        <a:t>4</a:t>
                      </a:r>
                      <a:endParaRPr lang="en-US" sz="12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EEF3EC"/>
                    </a:solidFill>
                  </a:tcPr>
                </a:tc>
                <a:tc>
                  <a:txBody>
                    <a:bodyPr/>
                    <a:lstStyle/>
                    <a:p>
                      <a:pPr indent="0" marL="0">
                        <a:buNone/>
                      </a:pPr>
                      <a:r>
                        <a:rPr lang="en-US" sz="1100" b="1" dirty="0">
                          <a:solidFill>
                            <a:schemeClr val="tx1"/>
                          </a:solidFill>
                        </a:rPr>
                        <a:t>Relabel “Include hidden fields” with a plain description</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EEF3EC"/>
                    </a:solidFill>
                  </a:tcPr>
                </a:tc>
                <a:tc>
                  <a:txBody>
                    <a:bodyPr/>
                    <a:lstStyle/>
                    <a:p>
                      <a:pPr indent="0" marL="0">
                        <a:buNone/>
                      </a:pPr>
                      <a:r>
                        <a:rPr lang="en-US" sz="1100" dirty="0">
                          <a:solidFill>
                            <a:schemeClr val="tx1"/>
                          </a:solidFill>
                        </a:rPr>
                        <a:t>Design (Aisha)</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EEF3EC"/>
                    </a:solidFill>
                  </a:tcPr>
                </a:tc>
                <a:tc>
                  <a:txBody>
                    <a:bodyPr/>
                    <a:lstStyle/>
                    <a:p>
                      <a:pPr indent="0" marL="0">
                        <a:buNone/>
                      </a:pPr>
                      <a:r>
                        <a:rPr lang="en-US" sz="1100" dirty="0">
                          <a:solidFill>
                            <a:schemeClr val="tx1"/>
                          </a:solidFill>
                        </a:rPr>
                        <a:t>Finding 4</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EEF3EC"/>
                    </a:solidFill>
                  </a:tcPr>
                </a:tc>
                <a:tc>
                  <a:txBody>
                    <a:bodyPr/>
                    <a:lstStyle/>
                    <a:p>
                      <a:pPr indent="0" marL="0">
                        <a:buNone/>
                      </a:pPr>
                      <a:r>
                        <a:rPr lang="en-US" sz="1100" dirty="0">
                          <a:solidFill>
                            <a:schemeClr val="tx1"/>
                          </a:solidFill>
                        </a:rPr>
                        <a:t>Export completion</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EEF3EC"/>
                    </a:solidFill>
                  </a:tcPr>
                </a:tc>
              </a:tr>
            </a:tbl>
          </a:graphicData>
        </a:graphic>
      </p:graphicFrame>
      <p:sp>
        <p:nvSpPr>
          <p:cNvPr id="5" name="Text 2"/>
          <p:cNvSpPr txBox="1"/>
          <p:nvPr/>
        </p:nvSpPr>
        <p:spPr>
          <a:xfrm>
            <a:off x="548640" y="3977640"/>
            <a:ext cx="8046720" cy="548640"/>
          </a:xfrm>
          <a:prstGeom prst="rect">
            <a:avLst/>
          </a:prstGeom>
          <a:noFill/>
          <a:ln/>
        </p:spPr>
        <p:txBody>
          <a:bodyPr wrap="square" lIns="0" tIns="0" rIns="0" bIns="0" rtlCol="0" anchor="t"/>
          <a:lstStyle/>
          <a:p>
            <a:pPr indent="0" marL="0">
              <a:buNone/>
            </a:pPr>
            <a:r>
              <a:rPr lang="en-US" sz="1200" b="1" dirty="0">
                <a:solidFill>
                  <a:schemeClr val="accent4"/>
                </a:solidFill>
              </a:rPr>
              <a:t>The uncomfortable one is row two. </a:t>
            </a:r>
            <a:pPr indent="0" marL="0">
              <a:buNone/>
            </a:pPr>
            <a:r>
              <a:rPr lang="en-US" sz="1200" dirty="0">
                <a:solidFill>
                  <a:schemeClr val="accent4"/>
                </a:solidFill>
              </a:rPr>
              <a:t>The study was commissioned to inform a dialog rebuild, and the evidence says the rebuild would miss the cause.</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046720" cy="274320"/>
          </a:xfrm>
          <a:prstGeom prst="rect">
            <a:avLst/>
          </a:prstGeom>
          <a:noFill/>
          <a:ln/>
        </p:spPr>
        <p:txBody>
          <a:bodyPr wrap="square" lIns="0" tIns="0" rIns="0" bIns="0" rtlCol="0" anchor="b"/>
          <a:lstStyle/>
          <a:p>
            <a:pPr indent="0" marL="0">
              <a:buNone/>
            </a:pPr>
            <a:r>
              <a:rPr lang="en-US" sz="1050" b="1" spc="200" kern="0" dirty="0">
                <a:solidFill>
                  <a:schemeClr val="accent4"/>
                </a:solidFill>
              </a:rPr>
              <a:t>WHAT HAPPENS NOW</a:t>
            </a:r>
            <a:endParaRPr lang="en-US" sz="1050" dirty="0"/>
          </a:p>
        </p:txBody>
      </p:sp>
      <p:sp>
        <p:nvSpPr>
          <p:cNvPr id="3" name="Text 0"/>
          <p:cNvSpPr/>
          <p:nvPr>
            <p:ph idx="101" type="title" hasCustomPrompt="1"/>
          </p:nvPr>
        </p:nvSpPr>
        <p:spPr>
          <a:xfrm>
            <a:off x="548640" y="640080"/>
            <a:ext cx="8046720" cy="548640"/>
          </a:xfrm>
          <a:prstGeom prst="rect">
            <a:avLst/>
          </a:prstGeom>
          <a:noFill/>
          <a:ln/>
        </p:spPr>
        <p:txBody>
          <a:bodyPr wrap="square" lIns="0" tIns="0" rIns="0" bIns="0" rtlCol="0" anchor="t">
            <a:normAutofit/>
          </a:bodyPr>
          <a:lstStyle/>
          <a:p>
            <a:pPr algn="l" indent="0" marL="0">
              <a:buNone/>
            </a:pPr>
            <a:r>
              <a:rPr lang="en-US" sz="2600" b="1" dirty="0">
                <a:solidFill>
                  <a:schemeClr val="tx2"/>
                </a:solidFill>
              </a:rPr>
              <a:t>Next steps</a:t>
            </a:r>
            <a:endParaRPr lang="en-US" sz="2600" dirty="0"/>
          </a:p>
        </p:txBody>
      </p:sp>
      <p:sp>
        <p:nvSpPr>
          <p:cNvPr id="4" name="Shape 2"/>
          <p:cNvSpPr/>
          <p:nvPr/>
        </p:nvSpPr>
        <p:spPr>
          <a:xfrm>
            <a:off x="713232" y="1627632"/>
            <a:ext cx="6172200" cy="0"/>
          </a:xfrm>
          <a:prstGeom prst="line">
            <a:avLst/>
          </a:prstGeom>
          <a:noFill/>
          <a:ln w="19050">
            <a:solidFill>
              <a:srgbClr val="A7BEAE"/>
            </a:solidFill>
            <a:prstDash val="solid"/>
          </a:ln>
        </p:spPr>
      </p:sp>
      <p:sp>
        <p:nvSpPr>
          <p:cNvPr id="5" name="Shape 3"/>
          <p:cNvSpPr/>
          <p:nvPr/>
        </p:nvSpPr>
        <p:spPr>
          <a:xfrm>
            <a:off x="548640" y="1463040"/>
            <a:ext cx="329184" cy="329184"/>
          </a:xfrm>
          <a:prstGeom prst="ellipse">
            <a:avLst/>
          </a:prstGeom>
          <a:solidFill>
            <a:schemeClr val="accent2"/>
          </a:solidFill>
          <a:ln/>
        </p:spPr>
      </p:sp>
      <p:sp>
        <p:nvSpPr>
          <p:cNvPr id="6" name="Text 4"/>
          <p:cNvSpPr txBox="1"/>
          <p:nvPr/>
        </p:nvSpPr>
        <p:spPr>
          <a:xfrm>
            <a:off x="548640" y="1463040"/>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1</a:t>
            </a:r>
            <a:endParaRPr lang="en-US" sz="1200" dirty="0"/>
          </a:p>
        </p:txBody>
      </p:sp>
      <p:sp>
        <p:nvSpPr>
          <p:cNvPr id="7" name="Shape 5"/>
          <p:cNvSpPr/>
          <p:nvPr/>
        </p:nvSpPr>
        <p:spPr>
          <a:xfrm>
            <a:off x="548640" y="1965960"/>
            <a:ext cx="1828800" cy="2377440"/>
          </a:xfrm>
          <a:prstGeom prst="roundRect">
            <a:avLst>
              <a:gd name="adj" fmla="val 5000"/>
            </a:avLst>
          </a:prstGeom>
          <a:solidFill>
            <a:schemeClr val="bg2"/>
          </a:solidFill>
          <a:ln w="12700">
            <a:solidFill>
              <a:schemeClr val="bg2"/>
            </a:solidFill>
            <a:prstDash val="solid"/>
          </a:ln>
        </p:spPr>
      </p:sp>
      <p:sp>
        <p:nvSpPr>
          <p:cNvPr id="8" name="Text 6"/>
          <p:cNvSpPr txBox="1"/>
          <p:nvPr/>
        </p:nvSpPr>
        <p:spPr>
          <a:xfrm>
            <a:off x="685800" y="2103120"/>
            <a:ext cx="1554480" cy="411480"/>
          </a:xfrm>
          <a:prstGeom prst="rect">
            <a:avLst/>
          </a:prstGeom>
          <a:noFill/>
          <a:ln/>
        </p:spPr>
        <p:txBody>
          <a:bodyPr wrap="square" lIns="0" tIns="0" rIns="0" bIns="0" rtlCol="0" anchor="t"/>
          <a:lstStyle/>
          <a:p>
            <a:pPr indent="0" marL="0">
              <a:buNone/>
            </a:pPr>
            <a:r>
              <a:rPr lang="en-US" sz="1800" b="1" dirty="0">
                <a:solidFill>
                  <a:schemeClr val="tx2"/>
                </a:solidFill>
              </a:rPr>
              <a:t>24 Oct</a:t>
            </a:r>
            <a:endParaRPr lang="en-US" sz="1800" dirty="0"/>
          </a:p>
        </p:txBody>
      </p:sp>
      <p:sp>
        <p:nvSpPr>
          <p:cNvPr id="9" name="Text 7"/>
          <p:cNvSpPr txBox="1"/>
          <p:nvPr/>
        </p:nvSpPr>
        <p:spPr>
          <a:xfrm>
            <a:off x="685800" y="2560320"/>
            <a:ext cx="1554480" cy="731520"/>
          </a:xfrm>
          <a:prstGeom prst="rect">
            <a:avLst/>
          </a:prstGeom>
          <a:noFill/>
          <a:ln/>
        </p:spPr>
        <p:txBody>
          <a:bodyPr wrap="square" lIns="0" tIns="0" rIns="0" bIns="0" rtlCol="0" anchor="t"/>
          <a:lstStyle/>
          <a:p>
            <a:pPr indent="0" marL="0">
              <a:buNone/>
            </a:pPr>
            <a:r>
              <a:rPr lang="en-US" sz="1300" b="1" dirty="0">
                <a:solidFill>
                  <a:schemeClr val="tx1"/>
                </a:solidFill>
              </a:rPr>
              <a:t>Marco returns the finance-team count</a:t>
            </a:r>
            <a:endParaRPr lang="en-US" sz="1300" dirty="0"/>
          </a:p>
        </p:txBody>
      </p:sp>
      <p:sp>
        <p:nvSpPr>
          <p:cNvPr id="10" name="Text 8"/>
          <p:cNvSpPr txBox="1"/>
          <p:nvPr/>
        </p:nvSpPr>
        <p:spPr>
          <a:xfrm>
            <a:off x="685800" y="3291840"/>
            <a:ext cx="1554480" cy="960120"/>
          </a:xfrm>
          <a:prstGeom prst="rect">
            <a:avLst/>
          </a:prstGeom>
          <a:noFill/>
          <a:ln/>
        </p:spPr>
        <p:txBody>
          <a:bodyPr wrap="square" lIns="0" tIns="0" rIns="0" bIns="0" rtlCol="0" anchor="t"/>
          <a:lstStyle/>
          <a:p>
            <a:pPr indent="0" marL="0">
              <a:buNone/>
            </a:pPr>
            <a:r>
              <a:rPr lang="en-US" sz="1100" dirty="0">
                <a:solidFill>
                  <a:schemeClr val="tx1"/>
                </a:solidFill>
              </a:rPr>
              <a:t>Sizes Finding 2 before the decision.</a:t>
            </a:r>
            <a:endParaRPr lang="en-US" sz="1100" dirty="0"/>
          </a:p>
        </p:txBody>
      </p:sp>
      <p:sp>
        <p:nvSpPr>
          <p:cNvPr id="11" name="Shape 9"/>
          <p:cNvSpPr/>
          <p:nvPr/>
        </p:nvSpPr>
        <p:spPr>
          <a:xfrm>
            <a:off x="2606040" y="1463040"/>
            <a:ext cx="329184" cy="329184"/>
          </a:xfrm>
          <a:prstGeom prst="ellipse">
            <a:avLst/>
          </a:prstGeom>
          <a:solidFill>
            <a:schemeClr val="accent2"/>
          </a:solidFill>
          <a:ln/>
        </p:spPr>
      </p:sp>
      <p:sp>
        <p:nvSpPr>
          <p:cNvPr id="12" name="Text 10"/>
          <p:cNvSpPr txBox="1"/>
          <p:nvPr/>
        </p:nvSpPr>
        <p:spPr>
          <a:xfrm>
            <a:off x="2606040" y="1463040"/>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2</a:t>
            </a:r>
            <a:endParaRPr lang="en-US" sz="1200" dirty="0"/>
          </a:p>
        </p:txBody>
      </p:sp>
      <p:sp>
        <p:nvSpPr>
          <p:cNvPr id="13" name="Shape 11"/>
          <p:cNvSpPr/>
          <p:nvPr/>
        </p:nvSpPr>
        <p:spPr>
          <a:xfrm>
            <a:off x="2606040" y="1965960"/>
            <a:ext cx="1828800" cy="2377440"/>
          </a:xfrm>
          <a:prstGeom prst="roundRect">
            <a:avLst>
              <a:gd name="adj" fmla="val 5000"/>
            </a:avLst>
          </a:prstGeom>
          <a:solidFill>
            <a:schemeClr val="bg2"/>
          </a:solidFill>
          <a:ln w="12700">
            <a:solidFill>
              <a:schemeClr val="bg2"/>
            </a:solidFill>
            <a:prstDash val="solid"/>
          </a:ln>
        </p:spPr>
      </p:sp>
      <p:sp>
        <p:nvSpPr>
          <p:cNvPr id="14" name="Text 12"/>
          <p:cNvSpPr txBox="1"/>
          <p:nvPr/>
        </p:nvSpPr>
        <p:spPr>
          <a:xfrm>
            <a:off x="2743200" y="2103120"/>
            <a:ext cx="1554480" cy="411480"/>
          </a:xfrm>
          <a:prstGeom prst="rect">
            <a:avLst/>
          </a:prstGeom>
          <a:noFill/>
          <a:ln/>
        </p:spPr>
        <p:txBody>
          <a:bodyPr wrap="square" lIns="0" tIns="0" rIns="0" bIns="0" rtlCol="0" anchor="t"/>
          <a:lstStyle/>
          <a:p>
            <a:pPr indent="0" marL="0">
              <a:buNone/>
            </a:pPr>
            <a:r>
              <a:rPr lang="en-US" sz="1800" b="1" dirty="0">
                <a:solidFill>
                  <a:schemeClr val="tx2"/>
                </a:solidFill>
              </a:rPr>
              <a:t>30 Oct</a:t>
            </a:r>
            <a:endParaRPr lang="en-US" sz="1800" dirty="0"/>
          </a:p>
        </p:txBody>
      </p:sp>
      <p:sp>
        <p:nvSpPr>
          <p:cNvPr id="15" name="Text 13"/>
          <p:cNvSpPr txBox="1"/>
          <p:nvPr/>
        </p:nvSpPr>
        <p:spPr>
          <a:xfrm>
            <a:off x="2743200" y="2560320"/>
            <a:ext cx="1554480" cy="731520"/>
          </a:xfrm>
          <a:prstGeom prst="rect">
            <a:avLst/>
          </a:prstGeom>
          <a:noFill/>
          <a:ln/>
        </p:spPr>
        <p:txBody>
          <a:bodyPr wrap="square" lIns="0" tIns="0" rIns="0" bIns="0" rtlCol="0" anchor="t"/>
          <a:lstStyle/>
          <a:p>
            <a:pPr indent="0" marL="0">
              <a:buNone/>
            </a:pPr>
            <a:r>
              <a:rPr lang="en-US" sz="1300" b="1" dirty="0">
                <a:solidFill>
                  <a:schemeClr val="tx1"/>
                </a:solidFill>
              </a:rPr>
              <a:t>Sam decides</a:t>
            </a:r>
            <a:endParaRPr lang="en-US" sz="1300" dirty="0"/>
          </a:p>
        </p:txBody>
      </p:sp>
      <p:sp>
        <p:nvSpPr>
          <p:cNvPr id="16" name="Text 14"/>
          <p:cNvSpPr txBox="1"/>
          <p:nvPr/>
        </p:nvSpPr>
        <p:spPr>
          <a:xfrm>
            <a:off x="2743200" y="3291840"/>
            <a:ext cx="1554480" cy="960120"/>
          </a:xfrm>
          <a:prstGeom prst="rect">
            <a:avLst/>
          </a:prstGeom>
          <a:noFill/>
          <a:ln/>
        </p:spPr>
        <p:txBody>
          <a:bodyPr wrap="square" lIns="0" tIns="0" rIns="0" bIns="0" rtlCol="0" anchor="t"/>
          <a:lstStyle/>
          <a:p>
            <a:pPr indent="0" marL="0">
              <a:buNone/>
            </a:pPr>
            <a:r>
              <a:rPr lang="en-US" sz="1100" dirty="0">
                <a:solidFill>
                  <a:schemeClr val="tx1"/>
                </a:solidFill>
              </a:rPr>
              <a:t>This deck and the report are the inputs.</a:t>
            </a:r>
            <a:endParaRPr lang="en-US" sz="1100" dirty="0"/>
          </a:p>
        </p:txBody>
      </p:sp>
      <p:sp>
        <p:nvSpPr>
          <p:cNvPr id="17" name="Shape 15"/>
          <p:cNvSpPr/>
          <p:nvPr/>
        </p:nvSpPr>
        <p:spPr>
          <a:xfrm>
            <a:off x="4663440" y="1463040"/>
            <a:ext cx="329184" cy="329184"/>
          </a:xfrm>
          <a:prstGeom prst="ellipse">
            <a:avLst/>
          </a:prstGeom>
          <a:solidFill>
            <a:schemeClr val="accent2"/>
          </a:solidFill>
          <a:ln/>
        </p:spPr>
      </p:sp>
      <p:sp>
        <p:nvSpPr>
          <p:cNvPr id="18" name="Text 16"/>
          <p:cNvSpPr txBox="1"/>
          <p:nvPr/>
        </p:nvSpPr>
        <p:spPr>
          <a:xfrm>
            <a:off x="4663440" y="1463040"/>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3</a:t>
            </a:r>
            <a:endParaRPr lang="en-US" sz="1200" dirty="0"/>
          </a:p>
        </p:txBody>
      </p:sp>
      <p:sp>
        <p:nvSpPr>
          <p:cNvPr id="19" name="Shape 17"/>
          <p:cNvSpPr/>
          <p:nvPr/>
        </p:nvSpPr>
        <p:spPr>
          <a:xfrm>
            <a:off x="4663440" y="1965960"/>
            <a:ext cx="1828800" cy="2377440"/>
          </a:xfrm>
          <a:prstGeom prst="roundRect">
            <a:avLst>
              <a:gd name="adj" fmla="val 5000"/>
            </a:avLst>
          </a:prstGeom>
          <a:solidFill>
            <a:schemeClr val="bg2"/>
          </a:solidFill>
          <a:ln w="12700">
            <a:solidFill>
              <a:schemeClr val="bg2"/>
            </a:solidFill>
            <a:prstDash val="solid"/>
          </a:ln>
        </p:spPr>
      </p:sp>
      <p:sp>
        <p:nvSpPr>
          <p:cNvPr id="20" name="Text 18"/>
          <p:cNvSpPr txBox="1"/>
          <p:nvPr/>
        </p:nvSpPr>
        <p:spPr>
          <a:xfrm>
            <a:off x="4800600" y="2103120"/>
            <a:ext cx="1554480" cy="411480"/>
          </a:xfrm>
          <a:prstGeom prst="rect">
            <a:avLst/>
          </a:prstGeom>
          <a:noFill/>
          <a:ln/>
        </p:spPr>
        <p:txBody>
          <a:bodyPr wrap="square" lIns="0" tIns="0" rIns="0" bIns="0" rtlCol="0" anchor="t"/>
          <a:lstStyle/>
          <a:p>
            <a:pPr indent="0" marL="0">
              <a:buNone/>
            </a:pPr>
            <a:r>
              <a:rPr lang="en-US" sz="1800" b="1" dirty="0">
                <a:solidFill>
                  <a:schemeClr val="tx2"/>
                </a:solidFill>
              </a:rPr>
              <a:t>November</a:t>
            </a:r>
            <a:endParaRPr lang="en-US" sz="1800" dirty="0"/>
          </a:p>
        </p:txBody>
      </p:sp>
      <p:sp>
        <p:nvSpPr>
          <p:cNvPr id="21" name="Text 19"/>
          <p:cNvSpPr txBox="1"/>
          <p:nvPr/>
        </p:nvSpPr>
        <p:spPr>
          <a:xfrm>
            <a:off x="4800600" y="2560320"/>
            <a:ext cx="1554480" cy="731520"/>
          </a:xfrm>
          <a:prstGeom prst="rect">
            <a:avLst/>
          </a:prstGeom>
          <a:noFill/>
          <a:ln/>
        </p:spPr>
        <p:txBody>
          <a:bodyPr wrap="square" lIns="0" tIns="0" rIns="0" bIns="0" rtlCol="0" anchor="t"/>
          <a:lstStyle/>
          <a:p>
            <a:pPr indent="0" marL="0">
              <a:buNone/>
            </a:pPr>
            <a:r>
              <a:rPr lang="en-US" sz="1300" b="1" dirty="0">
                <a:solidFill>
                  <a:schemeClr val="tx1"/>
                </a:solidFill>
              </a:rPr>
              <a:t>Three follow-up sessions</a:t>
            </a:r>
            <a:endParaRPr lang="en-US" sz="1300" dirty="0"/>
          </a:p>
        </p:txBody>
      </p:sp>
      <p:sp>
        <p:nvSpPr>
          <p:cNvPr id="22" name="Text 20"/>
          <p:cNvSpPr txBox="1"/>
          <p:nvPr/>
        </p:nvSpPr>
        <p:spPr>
          <a:xfrm>
            <a:off x="4800600" y="3291840"/>
            <a:ext cx="1554480" cy="960120"/>
          </a:xfrm>
          <a:prstGeom prst="rect">
            <a:avLst/>
          </a:prstGeom>
          <a:noFill/>
          <a:ln/>
        </p:spPr>
        <p:txBody>
          <a:bodyPr wrap="square" lIns="0" tIns="0" rIns="0" bIns="0" rtlCol="0" anchor="t"/>
          <a:lstStyle/>
          <a:p>
            <a:pPr indent="0" marL="0">
              <a:buNone/>
            </a:pPr>
            <a:r>
              <a:rPr lang="en-US" sz="1100" dirty="0">
                <a:solidFill>
                  <a:schemeClr val="tx1"/>
                </a:solidFill>
              </a:rPr>
              <a:t>With finance-team customers, if the import check is approved.</a:t>
            </a:r>
            <a:endParaRPr lang="en-US" sz="1100" dirty="0"/>
          </a:p>
        </p:txBody>
      </p:sp>
      <p:sp>
        <p:nvSpPr>
          <p:cNvPr id="23" name="Shape 21"/>
          <p:cNvSpPr/>
          <p:nvPr/>
        </p:nvSpPr>
        <p:spPr>
          <a:xfrm>
            <a:off x="6720840" y="1463040"/>
            <a:ext cx="329184" cy="329184"/>
          </a:xfrm>
          <a:prstGeom prst="ellipse">
            <a:avLst/>
          </a:prstGeom>
          <a:solidFill>
            <a:schemeClr val="accent2"/>
          </a:solidFill>
          <a:ln/>
        </p:spPr>
      </p:sp>
      <p:sp>
        <p:nvSpPr>
          <p:cNvPr id="24" name="Text 22"/>
          <p:cNvSpPr txBox="1"/>
          <p:nvPr/>
        </p:nvSpPr>
        <p:spPr>
          <a:xfrm>
            <a:off x="6720840" y="1463040"/>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4</a:t>
            </a:r>
            <a:endParaRPr lang="en-US" sz="1200" dirty="0"/>
          </a:p>
        </p:txBody>
      </p:sp>
      <p:sp>
        <p:nvSpPr>
          <p:cNvPr id="25" name="Shape 23"/>
          <p:cNvSpPr/>
          <p:nvPr/>
        </p:nvSpPr>
        <p:spPr>
          <a:xfrm>
            <a:off x="6720840" y="1965960"/>
            <a:ext cx="1828800" cy="2377440"/>
          </a:xfrm>
          <a:prstGeom prst="roundRect">
            <a:avLst>
              <a:gd name="adj" fmla="val 5000"/>
            </a:avLst>
          </a:prstGeom>
          <a:solidFill>
            <a:schemeClr val="bg2"/>
          </a:solidFill>
          <a:ln w="12700">
            <a:solidFill>
              <a:schemeClr val="bg2"/>
            </a:solidFill>
            <a:prstDash val="solid"/>
          </a:ln>
        </p:spPr>
      </p:sp>
      <p:sp>
        <p:nvSpPr>
          <p:cNvPr id="26" name="Text 24"/>
          <p:cNvSpPr txBox="1"/>
          <p:nvPr/>
        </p:nvSpPr>
        <p:spPr>
          <a:xfrm>
            <a:off x="6858000" y="2103120"/>
            <a:ext cx="1554480" cy="411480"/>
          </a:xfrm>
          <a:prstGeom prst="rect">
            <a:avLst/>
          </a:prstGeom>
          <a:noFill/>
          <a:ln/>
        </p:spPr>
        <p:txBody>
          <a:bodyPr wrap="square" lIns="0" tIns="0" rIns="0" bIns="0" rtlCol="0" anchor="t"/>
          <a:lstStyle/>
          <a:p>
            <a:pPr indent="0" marL="0">
              <a:buNone/>
            </a:pPr>
            <a:r>
              <a:rPr lang="en-US" sz="1800" b="1" dirty="0">
                <a:solidFill>
                  <a:schemeClr val="tx2"/>
                </a:solidFill>
              </a:rPr>
              <a:t>Backlog</a:t>
            </a:r>
            <a:endParaRPr lang="en-US" sz="1800" dirty="0"/>
          </a:p>
        </p:txBody>
      </p:sp>
      <p:sp>
        <p:nvSpPr>
          <p:cNvPr id="27" name="Text 25"/>
          <p:cNvSpPr txBox="1"/>
          <p:nvPr/>
        </p:nvSpPr>
        <p:spPr>
          <a:xfrm>
            <a:off x="6858000" y="2560320"/>
            <a:ext cx="1554480" cy="731520"/>
          </a:xfrm>
          <a:prstGeom prst="rect">
            <a:avLst/>
          </a:prstGeom>
          <a:noFill/>
          <a:ln/>
        </p:spPr>
        <p:txBody>
          <a:bodyPr wrap="square" lIns="0" tIns="0" rIns="0" bIns="0" rtlCol="0" anchor="t"/>
          <a:lstStyle/>
          <a:p>
            <a:pPr indent="0" marL="0">
              <a:buNone/>
            </a:pPr>
            <a:r>
              <a:rPr lang="en-US" sz="1300" b="1" dirty="0">
                <a:solidFill>
                  <a:schemeClr val="tx1"/>
                </a:solidFill>
              </a:rPr>
              <a:t>Open question</a:t>
            </a:r>
            <a:endParaRPr lang="en-US" sz="1300" dirty="0"/>
          </a:p>
        </p:txBody>
      </p:sp>
      <p:sp>
        <p:nvSpPr>
          <p:cNvPr id="28" name="Text 26"/>
          <p:cNvSpPr txBox="1"/>
          <p:nvPr/>
        </p:nvSpPr>
        <p:spPr>
          <a:xfrm>
            <a:off x="6858000" y="3291840"/>
            <a:ext cx="1554480" cy="960120"/>
          </a:xfrm>
          <a:prstGeom prst="rect">
            <a:avLst/>
          </a:prstGeom>
          <a:noFill/>
          <a:ln/>
        </p:spPr>
        <p:txBody>
          <a:bodyPr wrap="square" lIns="0" tIns="0" rIns="0" bIns="0" rtlCol="0" anchor="t"/>
          <a:lstStyle/>
          <a:p>
            <a:pPr indent="0" marL="0">
              <a:buNone/>
            </a:pPr>
            <a:r>
              <a:rPr lang="en-US" sz="1100" dirty="0">
                <a:solidFill>
                  <a:schemeClr val="tx1"/>
                </a:solidFill>
              </a:rPr>
              <a:t>Does the import gap also affect scheduled reports?</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046720" cy="274320"/>
          </a:xfrm>
          <a:prstGeom prst="rect">
            <a:avLst/>
          </a:prstGeom>
          <a:noFill/>
          <a:ln/>
        </p:spPr>
        <p:txBody>
          <a:bodyPr wrap="square" lIns="0" tIns="0" rIns="0" bIns="0" rtlCol="0" anchor="b"/>
          <a:lstStyle/>
          <a:p>
            <a:pPr indent="0" marL="0">
              <a:buNone/>
            </a:pPr>
            <a:r>
              <a:rPr lang="en-US" sz="1050" b="1" spc="200" kern="0" dirty="0">
                <a:solidFill>
                  <a:schemeClr val="accent4"/>
                </a:solidFill>
              </a:rPr>
              <a:t>READ WITH CARE</a:t>
            </a:r>
            <a:endParaRPr lang="en-US" sz="1050" dirty="0"/>
          </a:p>
        </p:txBody>
      </p:sp>
      <p:sp>
        <p:nvSpPr>
          <p:cNvPr id="3" name="Text 0"/>
          <p:cNvSpPr/>
          <p:nvPr>
            <p:ph idx="101" type="title" hasCustomPrompt="1"/>
          </p:nvPr>
        </p:nvSpPr>
        <p:spPr>
          <a:xfrm>
            <a:off x="548640" y="640080"/>
            <a:ext cx="8046720" cy="548640"/>
          </a:xfrm>
          <a:prstGeom prst="rect">
            <a:avLst/>
          </a:prstGeom>
          <a:noFill/>
          <a:ln/>
        </p:spPr>
        <p:txBody>
          <a:bodyPr wrap="square" lIns="0" tIns="0" rIns="0" bIns="0" rtlCol="0" anchor="t">
            <a:normAutofit/>
          </a:bodyPr>
          <a:lstStyle/>
          <a:p>
            <a:pPr algn="l" indent="0" marL="0">
              <a:buNone/>
            </a:pPr>
            <a:r>
              <a:rPr lang="en-US" sz="2600" b="1" dirty="0">
                <a:solidFill>
                  <a:schemeClr val="tx2"/>
                </a:solidFill>
              </a:rPr>
              <a:t>Limits of this study</a:t>
            </a:r>
            <a:endParaRPr lang="en-US" sz="2600" dirty="0"/>
          </a:p>
        </p:txBody>
      </p:sp>
      <p:sp>
        <p:nvSpPr>
          <p:cNvPr id="4" name="Text 2"/>
          <p:cNvSpPr txBox="1"/>
          <p:nvPr/>
        </p:nvSpPr>
        <p:spPr>
          <a:xfrm>
            <a:off x="548640" y="1371600"/>
            <a:ext cx="5120640" cy="31089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Eight participants, all onboarded by CS. Self-serve customers may differ.</a:t>
            </a:r>
            <a:endParaRPr lang="en-US" sz="1400" dirty="0"/>
          </a:p>
          <a:p>
            <a:pPr marL="342900" indent="-342900">
              <a:spcAft>
                <a:spcPts val="600"/>
              </a:spcAft>
              <a:buSzPct val="100000"/>
              <a:buChar char="•"/>
            </a:pPr>
            <a:r>
              <a:rPr lang="en-US" sz="1400" dirty="0">
                <a:solidFill>
                  <a:schemeClr val="tx1"/>
                </a:solidFill>
              </a:rPr>
              <a:t>Two finance-team users, so Finding 2 could be bigger or smaller than it looks.</a:t>
            </a:r>
            <a:endParaRPr lang="en-US" sz="1400" dirty="0"/>
          </a:p>
          <a:p>
            <a:pPr marL="342900" indent="-342900">
              <a:spcAft>
                <a:spcPts val="600"/>
              </a:spcAft>
              <a:buSzPct val="100000"/>
              <a:buChar char="•"/>
            </a:pPr>
            <a:r>
              <a:rPr lang="en-US" sz="1400" dirty="0">
                <a:solidFill>
                  <a:schemeClr val="tx1"/>
                </a:solidFill>
              </a:rPr>
              <a:t>We didn’t pull the export funnel before recruiting, so we can’t say what share of customers hit Finding 1. Skipped during planning, logged 3 October.</a:t>
            </a:r>
            <a:endParaRPr lang="en-US" sz="1400" dirty="0"/>
          </a:p>
        </p:txBody>
      </p:sp>
      <p:sp>
        <p:nvSpPr>
          <p:cNvPr id="5" name="Shape 3"/>
          <p:cNvSpPr/>
          <p:nvPr/>
        </p:nvSpPr>
        <p:spPr>
          <a:xfrm>
            <a:off x="6035040" y="1371600"/>
            <a:ext cx="2560320" cy="1737360"/>
          </a:xfrm>
          <a:prstGeom prst="roundRect">
            <a:avLst>
              <a:gd name="adj" fmla="val 5263"/>
            </a:avLst>
          </a:prstGeom>
          <a:solidFill>
            <a:schemeClr val="bg2"/>
          </a:solidFill>
          <a:ln w="12700">
            <a:solidFill>
              <a:schemeClr val="bg2"/>
            </a:solidFill>
            <a:prstDash val="solid"/>
          </a:ln>
        </p:spPr>
      </p:sp>
      <p:sp>
        <p:nvSpPr>
          <p:cNvPr id="6" name="Text 4"/>
          <p:cNvSpPr txBox="1"/>
          <p:nvPr/>
        </p:nvSpPr>
        <p:spPr>
          <a:xfrm>
            <a:off x="6217920" y="1371600"/>
            <a:ext cx="457200" cy="548640"/>
          </a:xfrm>
          <a:prstGeom prst="rect">
            <a:avLst/>
          </a:prstGeom>
          <a:noFill/>
          <a:ln/>
        </p:spPr>
        <p:txBody>
          <a:bodyPr wrap="square" lIns="0" tIns="0" rIns="0" bIns="0" rtlCol="0" anchor="t"/>
          <a:lstStyle/>
          <a:p>
            <a:pPr indent="0" marL="0">
              <a:buNone/>
            </a:pPr>
            <a:r>
              <a:rPr lang="en-US" sz="4000" b="1" dirty="0">
                <a:solidFill>
                  <a:schemeClr val="accent2"/>
                </a:solidFill>
              </a:rPr>
              <a:t>“</a:t>
            </a:r>
            <a:endParaRPr lang="en-US" sz="4000" dirty="0"/>
          </a:p>
        </p:txBody>
      </p:sp>
      <p:sp>
        <p:nvSpPr>
          <p:cNvPr id="7" name="Text 5"/>
          <p:cNvSpPr txBox="1"/>
          <p:nvPr/>
        </p:nvSpPr>
        <p:spPr>
          <a:xfrm>
            <a:off x="6217920" y="1874520"/>
            <a:ext cx="2194560" cy="1188720"/>
          </a:xfrm>
          <a:prstGeom prst="rect">
            <a:avLst/>
          </a:prstGeom>
          <a:noFill/>
          <a:ln/>
        </p:spPr>
        <p:txBody>
          <a:bodyPr wrap="square" lIns="0" tIns="0" rIns="0" bIns="0" rtlCol="0" anchor="t"/>
          <a:lstStyle/>
          <a:p>
            <a:pPr indent="0" marL="0">
              <a:buNone/>
            </a:pPr>
            <a:r>
              <a:rPr lang="en-US" sz="1200" i="1" dirty="0">
                <a:solidFill>
                  <a:schemeClr val="tx2"/>
                </a:solidFill>
              </a:rPr>
              <a:t>Magpie drafted this slide. The researcher chose to keep it in. It is in the report regardless.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1371600"/>
            <a:ext cx="8046720" cy="274320"/>
          </a:xfrm>
          <a:prstGeom prst="rect">
            <a:avLst/>
          </a:prstGeom>
          <a:noFill/>
          <a:ln/>
        </p:spPr>
        <p:txBody>
          <a:bodyPr wrap="square" lIns="0" tIns="0" rIns="0" bIns="0" rtlCol="0" anchor="b"/>
          <a:lstStyle/>
          <a:p>
            <a:pPr indent="0" marL="0">
              <a:buNone/>
            </a:pPr>
            <a:r>
              <a:rPr lang="en-US" sz="1050" b="1" spc="200" kern="0" dirty="0">
                <a:solidFill>
                  <a:schemeClr val="accent2"/>
                </a:solidFill>
              </a:rPr>
              <a:t>FOR THE DEEPER DIVE</a:t>
            </a:r>
            <a:endParaRPr lang="en-US" sz="1050" dirty="0"/>
          </a:p>
        </p:txBody>
      </p:sp>
      <p:sp>
        <p:nvSpPr>
          <p:cNvPr id="3" name="Text 0"/>
          <p:cNvSpPr/>
          <p:nvPr>
            <p:ph idx="101" type="title" hasCustomPrompt="1"/>
          </p:nvPr>
        </p:nvSpPr>
        <p:spPr>
          <a:xfrm>
            <a:off x="548640" y="1691640"/>
            <a:ext cx="8046720" cy="1188720"/>
          </a:xfrm>
          <a:prstGeom prst="rect">
            <a:avLst/>
          </a:prstGeom>
          <a:noFill/>
          <a:ln/>
        </p:spPr>
        <p:txBody>
          <a:bodyPr wrap="square" lIns="0" tIns="0" rIns="0" bIns="0" rtlCol="0" anchor="t"/>
          <a:lstStyle/>
          <a:p>
            <a:pPr algn="l" indent="0" marL="0">
              <a:buNone/>
            </a:pPr>
            <a:r>
              <a:rPr lang="en-US" sz="3400" b="1" dirty="0">
                <a:solidFill>
                  <a:schemeClr val="bg1"/>
                </a:solidFill>
              </a:rPr>
              <a:t>Appendix</a:t>
            </a:r>
            <a:endParaRPr lang="en-US" sz="3400" dirty="0"/>
          </a:p>
        </p:txBody>
      </p:sp>
      <p:sp>
        <p:nvSpPr>
          <p:cNvPr id="4" name="Text 0"/>
          <p:cNvSpPr/>
          <p:nvPr>
            <p:ph idx="102" type="body" hasCustomPrompt="1"/>
          </p:nvPr>
        </p:nvSpPr>
        <p:spPr>
          <a:xfrm>
            <a:off x="548640" y="2971800"/>
            <a:ext cx="8046720" cy="1463040"/>
          </a:xfrm>
          <a:prstGeom prst="rect">
            <a:avLst/>
          </a:prstGeom>
          <a:noFill/>
          <a:ln/>
        </p:spPr>
        <p:txBody>
          <a:bodyPr wrap="square" lIns="0" tIns="0" rIns="0" bIns="0" rtlCol="0" anchor="t"/>
          <a:lstStyle/>
          <a:p>
            <a:pPr marL="342900" indent="-342900">
              <a:buSzPct val="100000"/>
              <a:buChar char="•"/>
            </a:pPr>
            <a:r>
              <a:rPr lang="en-US" sz="1600" dirty="0">
                <a:solidFill>
                  <a:schemeClr val="bg2"/>
                </a:solidFill>
              </a:rPr>
              <a:t>Participant profile</a:t>
            </a:r>
            <a:endParaRPr lang="en-US" sz="1600" dirty="0"/>
          </a:p>
          <a:p>
            <a:pPr marL="342900" indent="-342900">
              <a:buSzPct val="100000"/>
              <a:buChar char="•"/>
            </a:pPr>
            <a:r>
              <a:rPr lang="en-US" sz="1600" dirty="0">
                <a:solidFill>
                  <a:schemeClr val="bg2"/>
                </a:solidFill>
              </a:rPr>
              <a:t>Full findings with coding frame and all quotes</a:t>
            </a:r>
            <a:endParaRPr lang="en-US" sz="1600" dirty="0"/>
          </a:p>
          <a:p>
            <a:pPr marL="342900" indent="-342900">
              <a:buSzPct val="100000"/>
              <a:buChar char="•"/>
            </a:pPr>
            <a:r>
              <a:rPr lang="en-US" sz="1600" dirty="0">
                <a:solidFill>
                  <a:schemeClr val="bg2"/>
                </a:solidFill>
              </a:rPr>
              <a:t>Guide and task script</a:t>
            </a:r>
            <a:endParaRPr lang="en-US" sz="1600" dirty="0"/>
          </a:p>
          <a:p>
            <a:pPr marL="342900" indent="-342900">
              <a:buSzPct val="100000"/>
              <a:buChar char="•"/>
            </a:pPr>
            <a:r>
              <a:rPr lang="en-US" sz="1600" dirty="0">
                <a:solidFill>
                  <a:schemeClr val="bg2"/>
                </a:solidFill>
              </a:rPr>
              <a:t>Independent review: 11 points, 8 accepted, 3 answered</a:t>
            </a:r>
            <a:endParaRPr lang="en-US" sz="1600" dirty="0"/>
          </a:p>
          <a:p>
            <a:pPr marL="342900" indent="-342900">
              <a:buSzPct val="100000"/>
              <a:buChar char="•"/>
            </a:pPr>
            <a:r>
              <a:rPr lang="en-US" sz="1600" dirty="0">
                <a:solidFill>
                  <a:schemeClr val="bg2"/>
                </a:solidFill>
              </a:rPr>
              <a:t>Links: study record, report, recordings (access-controlled)</a:t>
            </a:r>
            <a:endParaRPr lang="en-US" sz="1600" dirty="0"/>
          </a:p>
        </p:txBody>
      </p:sp>
    </p:spTree>
  </p:cSld>
  <p:clrMapOvr>
    <a:masterClrMapping/>
  </p:clrMapOvr>
</p:sld>
</file>

<file path=ppt/theme/theme1.xml><?xml version="1.0" encoding="utf-8"?>
<a:theme xmlns:a="http://schemas.openxmlformats.org/drawingml/2006/main" name="Magpie readout">
  <a:themeElements>
    <a:clrScheme name="Magpie readout">
      <a:dk1>
        <a:srgbClr val="1F2A24"/>
      </a:dk1>
      <a:lt1>
        <a:srgbClr val="FFFFFF"/>
      </a:lt1>
      <a:dk2>
        <a:srgbClr val="2C5F2D"/>
      </a:dk2>
      <a:lt2>
        <a:srgbClr val="EEF3EC"/>
      </a:lt2>
      <a:accent1>
        <a:srgbClr val="2C5F2D"/>
      </a:accent1>
      <a:accent2>
        <a:srgbClr val="97BC62"/>
      </a:accent2>
      <a:accent3>
        <a:srgbClr val="B85042"/>
      </a:accent3>
      <a:accent4>
        <a:srgbClr val="50808E"/>
      </a:accent4>
      <a:accent5>
        <a:srgbClr val="D9C97A"/>
      </a:accent5>
      <a:accent6>
        <a:srgbClr val="A7BEAE"/>
      </a:accent6>
      <a:hlink>
        <a:srgbClr val="2C5F2D"/>
      </a:hlink>
      <a:folHlink>
        <a:srgbClr val="50808E"/>
      </a:folHlink>
    </a:clrScheme>
    <a:fontScheme name="Magpie readou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mid-size customers abandon export</dc:title>
  <dc:subject>PptxGenJS Presentation</dc:subject>
  <dc:creator>Priya Nair</dc:creator>
  <cp:lastModifiedBy>Priya Nair</cp:lastModifiedBy>
  <cp:revision>1</cp:revision>
  <dcterms:created xsi:type="dcterms:W3CDTF">2026-10-27T01:04:39Z</dcterms:created>
  <dcterms:modified xsi:type="dcterms:W3CDTF">2026-10-27T01:04:39Z</dcterms:modified>
</cp:coreProperties>
</file>